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Helvetica World Bold" charset="1" panose="020B0800040000020004"/>
      <p:regular r:id="rId34"/>
    </p:embeddedFont>
    <p:embeddedFont>
      <p:font typeface="Noto Serif" charset="1" panose="02020600060500020200"/>
      <p:regular r:id="rId35"/>
    </p:embeddedFont>
    <p:embeddedFont>
      <p:font typeface="Noto Serif Italics" charset="1" panose="02020600060500090200"/>
      <p:regular r:id="rId36"/>
    </p:embeddedFont>
    <p:embeddedFont>
      <p:font typeface="Helvetica World" charset="1" panose="020B0500040000020004"/>
      <p:regular r:id="rId37"/>
    </p:embeddedFont>
    <p:embeddedFont>
      <p:font typeface="Noto Serif Bold" charset="1" panose="020208000605000202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notesSlides/notesSlide2.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3.xml" Type="http://schemas.openxmlformats.org/officeDocument/2006/relationships/notesSlide"/><Relationship Id="rId41" Target="notesSlides/notesSlide4.xml" Type="http://schemas.openxmlformats.org/officeDocument/2006/relationships/notesSlide"/><Relationship Id="rId42" Target="notesSlides/notesSlide5.xml" Type="http://schemas.openxmlformats.org/officeDocument/2006/relationships/notesSlide"/><Relationship Id="rId43" Target="notesSlides/notesSlide6.xml" Type="http://schemas.openxmlformats.org/officeDocument/2006/relationships/notesSlide"/><Relationship Id="rId44" Target="notesSlides/notesSlide7.xml" Type="http://schemas.openxmlformats.org/officeDocument/2006/relationships/notesSlide"/><Relationship Id="rId45" Target="notesSlides/notesSlide8.xml" Type="http://schemas.openxmlformats.org/officeDocument/2006/relationships/notesSlide"/><Relationship Id="rId46" Target="notesSlides/notesSlide9.xml" Type="http://schemas.openxmlformats.org/officeDocument/2006/relationships/notesSlide"/><Relationship Id="rId47" Target="notesSlides/notesSlide10.xml" Type="http://schemas.openxmlformats.org/officeDocument/2006/relationships/notesSlide"/><Relationship Id="rId48" Target="notesSlides/notesSlide11.xml" Type="http://schemas.openxmlformats.org/officeDocument/2006/relationships/notesSlide"/><Relationship Id="rId49" Target="notesSlides/notesSlide12.xml" Type="http://schemas.openxmlformats.org/officeDocument/2006/relationships/notesSlide"/><Relationship Id="rId5" Target="tableStyles.xml" Type="http://schemas.openxmlformats.org/officeDocument/2006/relationships/tableStyles"/><Relationship Id="rId50" Target="notesSlides/notesSlide13.xml" Type="http://schemas.openxmlformats.org/officeDocument/2006/relationships/notesSlide"/><Relationship Id="rId51" Target="notesSlides/notesSlide14.xml" Type="http://schemas.openxmlformats.org/officeDocument/2006/relationships/notesSlide"/><Relationship Id="rId52" Target="notesSlides/notesSlide15.xml" Type="http://schemas.openxmlformats.org/officeDocument/2006/relationships/notesSlide"/><Relationship Id="rId53" Target="notesSlides/notesSlide16.xml" Type="http://schemas.openxmlformats.org/officeDocument/2006/relationships/notesSlide"/><Relationship Id="rId54" Target="notesSlides/notesSlide17.xml" Type="http://schemas.openxmlformats.org/officeDocument/2006/relationships/notesSlide"/><Relationship Id="rId55" Target="notesSlides/notesSlide18.xml" Type="http://schemas.openxmlformats.org/officeDocument/2006/relationships/notesSlide"/><Relationship Id="rId56" Target="notesSlides/notesSlide19.xml" Type="http://schemas.openxmlformats.org/officeDocument/2006/relationships/notesSlide"/><Relationship Id="rId57" Target="notesSlides/notesSlide20.xml" Type="http://schemas.openxmlformats.org/officeDocument/2006/relationships/notesSlide"/><Relationship Id="rId58" Target="notesSlides/notesSlide21.xml" Type="http://schemas.openxmlformats.org/officeDocument/2006/relationships/notesSlide"/><Relationship Id="rId59" Target="notesSlides/notesSlide22.xml" Type="http://schemas.openxmlformats.org/officeDocument/2006/relationships/notesSlide"/><Relationship Id="rId6" Target="slides/slide1.xml" Type="http://schemas.openxmlformats.org/officeDocument/2006/relationships/slide"/><Relationship Id="rId60" Target="notesSlides/notesSlide23.xml" Type="http://schemas.openxmlformats.org/officeDocument/2006/relationships/notesSlide"/><Relationship Id="rId61" Target="notesSlides/notesSlide24.xml" Type="http://schemas.openxmlformats.org/officeDocument/2006/relationships/notesSlide"/><Relationship Id="rId62" Target="notesSlides/notesSlide25.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 detik] Selamat pagi, Bapak/Ibu. Kami Kelompok 7, Joseph dan Rafa. Hari ini kami memaparkan Checkpoint 1: reproduksi penelitian INDOMEME tentang deteksi ujaran kebencian pada meme berbahasa Indonesia, dengan pendekatan multimodal dan multitask. Kami akan tunjukkan apa yang berhasil, apa yang tidak, dan arah berikutnya.</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[35 detik] Ringkasnya, reproduksi berhasil dijalankan. Kami memakai 5.023 meme, delapan konfigurasi model, menghasilkan sepuluh evaluasi, dan diuji pada 1.005 sampel uji resmi. Macro-F1 tertinggi 0,8058 untuk hatefulness dan 0,8125 untuk appropriateness. Temuan intinya: menambah modalitas belum tentu otomatis meningkatkan kinerja. Mari kita lihat mengapa persoalan ini penting.</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[40 detik] Meme itu multimodal: teks, gambar, dan rujukan budaya bekerja bersama. Karena itu mendeteksi ujaran kebencian tidak sama dengan mendeteksi konten tidak pantas. Dalam data kami ada 431 meme yang bukan ujaran kebencian tetapi tetap tidak pantas. Dari sini muncul pertanyaan penelitian yang kami reproduksi.</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[45 detik] Kami mereproduksi dua fokus. RQ2: seberapa besar kontribusi modalitas, yaitu gambar saja, teks saja, dan fusi multimodal. RQ4: apakah multitask lebih baik daripada single-task. Alurnya sama untuk semua eksperimen: dataset, pra-pemrosesan, pelatihan, validasi, uji, lalu dibandingkan dengan paper. Ini reproduksi metode terpilih, bukan seluruh paper.</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[55 detik] Semua eksperimen memakai satu dataset INDOMEME dengan 5.023 meme. Pembagian resmi 4.018 latih dan 1.005 uji. Data latih dibagi lagi menjadi 3.214 fit dan 804 validasi. Kelasnya tidak seimbang: kelompok Not Hate dan Appropriate paling besar. Audit kami juga menemukan gambar identik, termasuk dua kelompok yang melintasi pembagian latih dan uji; ini kami catat sebagai keterbatasan.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[55 detik] Delapan konfigurasi dalam satu kerangka. Image-only memakai ViT; text-only memakai IndoBERTweet dengan input topik, caption, dan OCR; fusi menggabungkan kedua encoder lewat feature concatenation; multitask berbagi representasi dengan dua classification head. Pengaturan teknis sama: 256 token, gambar 224 kali 224, maksimal lima epoch, metrik utama Macro-F1.</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[75 detik] Ini slide terpenting. Grafik menunjukkan selisih Macro-F1 antara reproduksi dan paper dalam poin persentase untuk sepuluh evaluasi. Oranye berarti reproduksi lebih tinggi, gelap lebih rendah. Semua selisih berada dalam 1,69 poin persentase. Namun, kedekatan numerik ini tidak membuktikan ekuivalensi statistik karena kami hanya memakai satu random seed dan ada adaptasi protokol.</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[60 detik] Semua angka di sini adalah Macro-F1 pada data uji resmi. Untuk hatefulness, IndoBERTweet E041 tertinggi dengan 0,8058. Untuk appropriateness, fusi E060 tertinggi dengan 0,8125. Jadi model terbaik bergantung pada tugas. Perhatikan juga ViT sendirian jauh lebih rendah, sekitar 0,63 sampai 0,64. Pertanyaannya: apakah menambah visual selalu membantu?</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[60 detik] Ini insight utamanya. Pada hatefulness, fusi justru turun 0,15 poin: 19 prediksi membaik tetapi 22 memburuk. Pada appropriateness, fusi naik 1,41 poin: 33 membaik dan 22 memburuk. Jadi visual membantu appropriateness, tapi tidak hatefulness. Nuansanya: input teks sudah memuat caption turunan gambar dan topik, jadi ini menguji tambahan encoder citra, bukan teks tanpa informasi visual.</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[50 detik] Bedakan dua hal. Kandidat dipilih dari validasi: E059 untuk hatefulness dengan 0,8293 dan E042 untuk appropriateness dengan 0,7924. Skor uji tertinggi ternyata dimiliki model lain: E041 dan E060. Kami tidak memilih model berdasarkan data uji. Validasi menentukan kandidat; data uji menilai kinerjanya.</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[40 detik] Dua bukti tambahan. Pertama, multitask pada data uji tidak konsisten lebih baik dibanding single-task: E101 dan E110 sedikit di bawah atau mirip pasangan single-task mereka. Kedua, baseline klasik TF-IDF dengan regresi logistik mencapai 0,7873 dan 0,7561 pada validasi, di bawah IndoBERTweet. Kedua blok ini berbeda data evaluasi, jadi tidak boleh dibandingkan langsung.</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[40 detik] Keterbatasan kami jelas: hanya eksperimen terpilih, satu seed, adaptasi protokol, ketergantungan anotasi topik, risiko gambar duplikat, dan keterbatasan komputasi. Dari fondasi ini, Checkpoint 2 mengusulkan cross-attention fusion untuk memodelkan interaksi teks dan gambar lebih eksplisit daripada concatenation. Ini hipotesis, bukan hasil, dan tidak ada jaminan peningkatan.</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 detik] Kesimpulannya: reproduksi eksperimen terpilih selesai, kontribusi visual bergantung pada tugas, dan cross-attention menjadi peluang riset berikutnya. Reproduksi yang berhasil adalah fondasi; interaksi lintas-modal yang lebih baik adalah hipotesis selanjutnya. Terima kasih, kami siap menerima pertanyaan.</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Jelaskan bahwa ini reproduksi metode terpilih; tidak mencakup seluruh kombinasi arsitektur paper.</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Duplikat identik: 5 kelompok, 2 melintasi train–test (2 meme di data uji); near-duplicate belum diperiksa.</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E101 dan E110 menghasilkan prediksi dua tugas sekaligus, sehingga total 10 evaluasi.</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Fusi = concatenation fitur dua encoder; multitask = representasi bersama + dua head.</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Tabel 5 laporan menulis Adam, sedangkan teks bagian 4.4 menulis AdamW: perlu diverifikasi pada konfigurasi tersimpan.</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Selisih = reproduksi − paper, dalam poin persentase; bukan uji signifikansi.</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Seluruh nilai dari data uji resmi 1.005 meme; Macro-F1 adalah metrik utama.</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Matriks ini dari data uji resmi, bukan validasi (Gambar 4 laporan adalah matriks validasi).</a:t>
            </a:r>
          </a:p>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AUC bersifat tambahan; tidak dipakai memilih ulang model setelah evaluasi uji.</a:t>
            </a:r>
          </a:p>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Baseline hanya dievaluasi di validasi; belum ada evaluasi uji resmi.</a:t>
            </a:r>
          </a:p>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Penyesuaian batch menjaga batch efektif ≈8 tetapi tidak menjamin optimasi identik.</a:t>
            </a:r>
          </a:p>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Panduan tanya jawab (opsional): Seluruh isi slide adalah rencana; tidak ada hasil yang diklaim.</a:t>
            </a:r>
          </a:p>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2.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2.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815816" y="2324576"/>
            <a:ext cx="4129088" cy="3717608"/>
            <a:chOff x="0" y="0"/>
            <a:chExt cx="5505450" cy="4956810"/>
          </a:xfrm>
        </p:grpSpPr>
        <p:sp>
          <p:nvSpPr>
            <p:cNvPr name="Freeform 3" id="3"/>
            <p:cNvSpPr/>
            <p:nvPr/>
          </p:nvSpPr>
          <p:spPr>
            <a:xfrm flipH="false" flipV="false" rot="0">
              <a:off x="0" y="0"/>
              <a:ext cx="5505450" cy="4956810"/>
            </a:xfrm>
            <a:custGeom>
              <a:avLst/>
              <a:gdLst/>
              <a:ahLst/>
              <a:cxnLst/>
              <a:rect r="r" b="b" t="t" l="l"/>
              <a:pathLst>
                <a:path h="4956810" w="5505450">
                  <a:moveTo>
                    <a:pt x="0" y="220218"/>
                  </a:moveTo>
                  <a:cubicBezTo>
                    <a:pt x="0" y="98679"/>
                    <a:pt x="98679" y="0"/>
                    <a:pt x="220218" y="0"/>
                  </a:cubicBezTo>
                  <a:lnTo>
                    <a:pt x="5285232" y="0"/>
                  </a:lnTo>
                  <a:cubicBezTo>
                    <a:pt x="5406898" y="0"/>
                    <a:pt x="5505450" y="98679"/>
                    <a:pt x="5505450" y="220218"/>
                  </a:cubicBezTo>
                  <a:lnTo>
                    <a:pt x="5505450" y="4736592"/>
                  </a:lnTo>
                  <a:cubicBezTo>
                    <a:pt x="5505450" y="4858258"/>
                    <a:pt x="5406771" y="4956810"/>
                    <a:pt x="5285232" y="4956810"/>
                  </a:cubicBezTo>
                  <a:lnTo>
                    <a:pt x="220218" y="4956810"/>
                  </a:lnTo>
                  <a:cubicBezTo>
                    <a:pt x="98679" y="4956810"/>
                    <a:pt x="0" y="4858131"/>
                    <a:pt x="0" y="4736592"/>
                  </a:cubicBezTo>
                  <a:close/>
                </a:path>
              </a:pathLst>
            </a:custGeom>
            <a:solidFill>
              <a:srgbClr val="FFFFFF"/>
            </a:solidFill>
            <a:ln w="14288" cap="sq">
              <a:solidFill>
                <a:srgbClr val="000000"/>
              </a:solidFill>
              <a:prstDash val="solid"/>
              <a:miter/>
            </a:ln>
          </p:spPr>
        </p:sp>
      </p:grpSp>
      <p:grpSp>
        <p:nvGrpSpPr>
          <p:cNvPr name="Group 4" id="4"/>
          <p:cNvGrpSpPr/>
          <p:nvPr/>
        </p:nvGrpSpPr>
        <p:grpSpPr>
          <a:xfrm rot="0">
            <a:off x="815816" y="2324576"/>
            <a:ext cx="4129088" cy="453200"/>
            <a:chOff x="0" y="0"/>
            <a:chExt cx="5505450" cy="604266"/>
          </a:xfrm>
        </p:grpSpPr>
        <p:sp>
          <p:nvSpPr>
            <p:cNvPr name="Freeform 5" id="5"/>
            <p:cNvSpPr/>
            <p:nvPr/>
          </p:nvSpPr>
          <p:spPr>
            <a:xfrm flipH="false" flipV="false" rot="0">
              <a:off x="0" y="0"/>
              <a:ext cx="5505450" cy="604266"/>
            </a:xfrm>
            <a:custGeom>
              <a:avLst/>
              <a:gdLst/>
              <a:ahLst/>
              <a:cxnLst/>
              <a:rect r="r" b="b" t="t" l="l"/>
              <a:pathLst>
                <a:path h="604266" w="5505450">
                  <a:moveTo>
                    <a:pt x="0" y="226568"/>
                  </a:moveTo>
                  <a:cubicBezTo>
                    <a:pt x="0" y="101473"/>
                    <a:pt x="101473" y="0"/>
                    <a:pt x="226568" y="0"/>
                  </a:cubicBezTo>
                  <a:lnTo>
                    <a:pt x="5278882" y="0"/>
                  </a:lnTo>
                  <a:cubicBezTo>
                    <a:pt x="5403977" y="0"/>
                    <a:pt x="5505450" y="101473"/>
                    <a:pt x="5505450" y="226568"/>
                  </a:cubicBezTo>
                  <a:lnTo>
                    <a:pt x="5505450" y="377698"/>
                  </a:lnTo>
                  <a:cubicBezTo>
                    <a:pt x="5505450" y="502793"/>
                    <a:pt x="5403977" y="604266"/>
                    <a:pt x="527888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6" id="6"/>
          <p:cNvGrpSpPr/>
          <p:nvPr/>
        </p:nvGrpSpPr>
        <p:grpSpPr>
          <a:xfrm rot="0">
            <a:off x="827151" y="2541651"/>
            <a:ext cx="4106418" cy="238506"/>
            <a:chOff x="0" y="0"/>
            <a:chExt cx="5475224" cy="318008"/>
          </a:xfrm>
        </p:grpSpPr>
        <p:sp>
          <p:nvSpPr>
            <p:cNvPr name="Freeform 7" id="7"/>
            <p:cNvSpPr/>
            <p:nvPr/>
          </p:nvSpPr>
          <p:spPr>
            <a:xfrm flipH="false" flipV="false" rot="0">
              <a:off x="0" y="0"/>
              <a:ext cx="5475224" cy="318008"/>
            </a:xfrm>
            <a:custGeom>
              <a:avLst/>
              <a:gdLst/>
              <a:ahLst/>
              <a:cxnLst/>
              <a:rect r="r" b="b" t="t" l="l"/>
              <a:pathLst>
                <a:path h="318008" w="5475224">
                  <a:moveTo>
                    <a:pt x="0" y="0"/>
                  </a:moveTo>
                  <a:lnTo>
                    <a:pt x="5475224" y="0"/>
                  </a:lnTo>
                  <a:lnTo>
                    <a:pt x="5475224" y="318008"/>
                  </a:lnTo>
                  <a:lnTo>
                    <a:pt x="0" y="318008"/>
                  </a:lnTo>
                  <a:close/>
                </a:path>
              </a:pathLst>
            </a:custGeom>
            <a:solidFill>
              <a:srgbClr val="F5582E"/>
            </a:solidFill>
            <a:ln w="19050" cap="sq">
              <a:solidFill>
                <a:srgbClr val="F5582E"/>
              </a:solidFill>
              <a:prstDash val="solid"/>
              <a:miter/>
            </a:ln>
          </p:spPr>
        </p:sp>
      </p:grpSp>
      <p:sp>
        <p:nvSpPr>
          <p:cNvPr name="AutoShape 8" id="8"/>
          <p:cNvSpPr/>
          <p:nvPr/>
        </p:nvSpPr>
        <p:spPr>
          <a:xfrm rot="11880">
            <a:off x="815807" y="2765870"/>
            <a:ext cx="4129116" cy="0"/>
          </a:xfrm>
          <a:prstGeom prst="line">
            <a:avLst/>
          </a:prstGeom>
          <a:ln cap="rnd" w="9525">
            <a:solidFill>
              <a:srgbClr val="000000"/>
            </a:solidFill>
            <a:prstDash val="solid"/>
            <a:headEnd type="none" len="sm" w="sm"/>
            <a:tailEnd type="none" len="sm" w="sm"/>
          </a:ln>
        </p:spPr>
      </p:sp>
      <p:grpSp>
        <p:nvGrpSpPr>
          <p:cNvPr name="Group 9" id="9"/>
          <p:cNvGrpSpPr/>
          <p:nvPr/>
        </p:nvGrpSpPr>
        <p:grpSpPr>
          <a:xfrm rot="0">
            <a:off x="6491859" y="731139"/>
            <a:ext cx="5642610" cy="5093970"/>
            <a:chOff x="0" y="0"/>
            <a:chExt cx="7523480" cy="6791960"/>
          </a:xfrm>
        </p:grpSpPr>
        <p:sp>
          <p:nvSpPr>
            <p:cNvPr name="Freeform 10" id="10"/>
            <p:cNvSpPr/>
            <p:nvPr/>
          </p:nvSpPr>
          <p:spPr>
            <a:xfrm flipH="false" flipV="false" rot="0">
              <a:off x="0" y="0"/>
              <a:ext cx="7523480" cy="6791960"/>
            </a:xfrm>
            <a:custGeom>
              <a:avLst/>
              <a:gdLst/>
              <a:ahLst/>
              <a:cxnLst/>
              <a:rect r="r" b="b" t="t" l="l"/>
              <a:pathLst>
                <a:path h="6791960" w="7523480">
                  <a:moveTo>
                    <a:pt x="0" y="257048"/>
                  </a:moveTo>
                  <a:cubicBezTo>
                    <a:pt x="0" y="115062"/>
                    <a:pt x="115062" y="0"/>
                    <a:pt x="257048" y="0"/>
                  </a:cubicBezTo>
                  <a:lnTo>
                    <a:pt x="7266432" y="0"/>
                  </a:lnTo>
                  <a:cubicBezTo>
                    <a:pt x="7408418" y="0"/>
                    <a:pt x="7523480" y="115062"/>
                    <a:pt x="7523480" y="257048"/>
                  </a:cubicBezTo>
                  <a:lnTo>
                    <a:pt x="7523480" y="6534912"/>
                  </a:lnTo>
                  <a:cubicBezTo>
                    <a:pt x="7523480" y="6676898"/>
                    <a:pt x="7408418" y="6791960"/>
                    <a:pt x="7266432" y="6791960"/>
                  </a:cubicBezTo>
                  <a:lnTo>
                    <a:pt x="257048" y="6791960"/>
                  </a:lnTo>
                  <a:cubicBezTo>
                    <a:pt x="115062" y="6791960"/>
                    <a:pt x="0" y="6676898"/>
                    <a:pt x="0" y="6534912"/>
                  </a:cubicBezTo>
                  <a:close/>
                </a:path>
              </a:pathLst>
            </a:custGeom>
            <a:solidFill>
              <a:srgbClr val="F5582E"/>
            </a:solidFill>
            <a:ln w="19050" cap="sq">
              <a:solidFill>
                <a:srgbClr val="F5582E"/>
              </a:solidFill>
              <a:prstDash val="solid"/>
              <a:miter/>
            </a:ln>
          </p:spPr>
        </p:sp>
      </p:grpSp>
      <p:grpSp>
        <p:nvGrpSpPr>
          <p:cNvPr name="Group 11" id="11"/>
          <p:cNvGrpSpPr/>
          <p:nvPr/>
        </p:nvGrpSpPr>
        <p:grpSpPr>
          <a:xfrm rot="0">
            <a:off x="6302216" y="541496"/>
            <a:ext cx="5637847" cy="5089208"/>
            <a:chOff x="0" y="0"/>
            <a:chExt cx="7517130" cy="6785610"/>
          </a:xfrm>
        </p:grpSpPr>
        <p:sp>
          <p:nvSpPr>
            <p:cNvPr name="Freeform 12" id="12"/>
            <p:cNvSpPr/>
            <p:nvPr/>
          </p:nvSpPr>
          <p:spPr>
            <a:xfrm flipH="false" flipV="false" rot="0">
              <a:off x="0" y="0"/>
              <a:ext cx="7517130" cy="6785610"/>
            </a:xfrm>
            <a:custGeom>
              <a:avLst/>
              <a:gdLst/>
              <a:ahLst/>
              <a:cxnLst/>
              <a:rect r="r" b="b" t="t" l="l"/>
              <a:pathLst>
                <a:path h="6785610" w="7517130">
                  <a:moveTo>
                    <a:pt x="0" y="256794"/>
                  </a:moveTo>
                  <a:cubicBezTo>
                    <a:pt x="0" y="114935"/>
                    <a:pt x="114935" y="0"/>
                    <a:pt x="256794" y="0"/>
                  </a:cubicBezTo>
                  <a:lnTo>
                    <a:pt x="7260336" y="0"/>
                  </a:lnTo>
                  <a:cubicBezTo>
                    <a:pt x="7402195" y="0"/>
                    <a:pt x="7517130" y="114935"/>
                    <a:pt x="7517130" y="256794"/>
                  </a:cubicBezTo>
                  <a:lnTo>
                    <a:pt x="7517130" y="6528816"/>
                  </a:lnTo>
                  <a:cubicBezTo>
                    <a:pt x="7517130" y="6670675"/>
                    <a:pt x="7402195" y="6785610"/>
                    <a:pt x="7260336" y="6785610"/>
                  </a:cubicBezTo>
                  <a:lnTo>
                    <a:pt x="256794" y="6785610"/>
                  </a:lnTo>
                  <a:cubicBezTo>
                    <a:pt x="114935" y="6785610"/>
                    <a:pt x="0" y="6670675"/>
                    <a:pt x="0" y="6528816"/>
                  </a:cubicBezTo>
                  <a:close/>
                </a:path>
              </a:pathLst>
            </a:custGeom>
            <a:solidFill>
              <a:srgbClr val="E9E6E1"/>
            </a:solidFill>
            <a:ln w="14288" cap="sq">
              <a:solidFill>
                <a:srgbClr val="000000"/>
              </a:solidFill>
              <a:prstDash val="solid"/>
              <a:miter/>
            </a:ln>
          </p:spPr>
        </p:sp>
      </p:grpSp>
      <p:grpSp>
        <p:nvGrpSpPr>
          <p:cNvPr name="Group 13" id="13"/>
          <p:cNvGrpSpPr/>
          <p:nvPr/>
        </p:nvGrpSpPr>
        <p:grpSpPr>
          <a:xfrm rot="0">
            <a:off x="10011385" y="1757096"/>
            <a:ext cx="1253490" cy="1253490"/>
            <a:chOff x="0" y="0"/>
            <a:chExt cx="1671320" cy="1671320"/>
          </a:xfrm>
        </p:grpSpPr>
        <p:sp>
          <p:nvSpPr>
            <p:cNvPr name="Freeform 14" id="14"/>
            <p:cNvSpPr/>
            <p:nvPr/>
          </p:nvSpPr>
          <p:spPr>
            <a:xfrm flipH="false" flipV="false" rot="0">
              <a:off x="0" y="0"/>
              <a:ext cx="1671320" cy="1671320"/>
            </a:xfrm>
            <a:custGeom>
              <a:avLst/>
              <a:gdLst/>
              <a:ahLst/>
              <a:cxnLst/>
              <a:rect r="r" b="b" t="t" l="l"/>
              <a:pathLst>
                <a:path h="1671320" w="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F5582E"/>
            </a:solidFill>
            <a:ln w="19050" cap="sq">
              <a:solidFill>
                <a:srgbClr val="F5582E"/>
              </a:solidFill>
              <a:prstDash val="solid"/>
              <a:miter/>
            </a:ln>
          </p:spPr>
        </p:sp>
      </p:grpSp>
      <p:grpSp>
        <p:nvGrpSpPr>
          <p:cNvPr name="Group 15" id="15"/>
          <p:cNvGrpSpPr/>
          <p:nvPr/>
        </p:nvGrpSpPr>
        <p:grpSpPr>
          <a:xfrm rot="0">
            <a:off x="6302216" y="278913"/>
            <a:ext cx="5623560" cy="5361935"/>
            <a:chOff x="0" y="0"/>
            <a:chExt cx="1364027" cy="1300568"/>
          </a:xfrm>
        </p:grpSpPr>
        <p:sp>
          <p:nvSpPr>
            <p:cNvPr name="Freeform 16" id="16"/>
            <p:cNvSpPr/>
            <p:nvPr/>
          </p:nvSpPr>
          <p:spPr>
            <a:xfrm flipH="false" flipV="false" rot="0">
              <a:off x="0" y="0"/>
              <a:ext cx="1364027" cy="1300568"/>
            </a:xfrm>
            <a:custGeom>
              <a:avLst/>
              <a:gdLst/>
              <a:ahLst/>
              <a:cxnLst/>
              <a:rect r="r" b="b" t="t" l="l"/>
              <a:pathLst>
                <a:path h="1300568" w="1364027">
                  <a:moveTo>
                    <a:pt x="27534" y="0"/>
                  </a:moveTo>
                  <a:lnTo>
                    <a:pt x="1336493" y="0"/>
                  </a:lnTo>
                  <a:cubicBezTo>
                    <a:pt x="1351700" y="0"/>
                    <a:pt x="1364027" y="12327"/>
                    <a:pt x="1364027" y="27534"/>
                  </a:cubicBezTo>
                  <a:lnTo>
                    <a:pt x="1364027" y="1273035"/>
                  </a:lnTo>
                  <a:cubicBezTo>
                    <a:pt x="1364027" y="1288241"/>
                    <a:pt x="1351700" y="1300568"/>
                    <a:pt x="1336493" y="1300568"/>
                  </a:cubicBezTo>
                  <a:lnTo>
                    <a:pt x="27534" y="1300568"/>
                  </a:lnTo>
                  <a:cubicBezTo>
                    <a:pt x="20231" y="1300568"/>
                    <a:pt x="13228" y="1297667"/>
                    <a:pt x="8064" y="1292504"/>
                  </a:cubicBezTo>
                  <a:cubicBezTo>
                    <a:pt x="2901" y="1287340"/>
                    <a:pt x="0" y="1280337"/>
                    <a:pt x="0" y="1273035"/>
                  </a:cubicBezTo>
                  <a:lnTo>
                    <a:pt x="0" y="27534"/>
                  </a:lnTo>
                  <a:cubicBezTo>
                    <a:pt x="0" y="20231"/>
                    <a:pt x="2901" y="13228"/>
                    <a:pt x="8064" y="8064"/>
                  </a:cubicBezTo>
                  <a:cubicBezTo>
                    <a:pt x="13228" y="2901"/>
                    <a:pt x="20231" y="0"/>
                    <a:pt x="27534" y="0"/>
                  </a:cubicBezTo>
                  <a:close/>
                </a:path>
              </a:pathLst>
            </a:custGeom>
            <a:blipFill>
              <a:blip r:embed="rId3"/>
              <a:stretch>
                <a:fillRect l="0" t="-17966" r="0" b="0"/>
              </a:stretch>
            </a:blipFill>
            <a:ln w="9525" cap="sq">
              <a:solidFill>
                <a:srgbClr val="141223"/>
              </a:solidFill>
              <a:prstDash val="solid"/>
              <a:miter/>
            </a:ln>
          </p:spPr>
        </p:sp>
      </p:grpSp>
      <p:sp>
        <p:nvSpPr>
          <p:cNvPr name="AutoShape 17" id="17"/>
          <p:cNvSpPr/>
          <p:nvPr/>
        </p:nvSpPr>
        <p:spPr>
          <a:xfrm rot="15840">
            <a:off x="13294976" y="1161098"/>
            <a:ext cx="4133898" cy="0"/>
          </a:xfrm>
          <a:prstGeom prst="line">
            <a:avLst/>
          </a:prstGeom>
          <a:ln cap="rnd" w="9525">
            <a:solidFill>
              <a:srgbClr val="F5582E"/>
            </a:solidFill>
            <a:prstDash val="solid"/>
            <a:headEnd type="none" len="sm" w="sm"/>
            <a:tailEnd type="none" len="sm" w="sm"/>
          </a:ln>
        </p:spPr>
      </p:sp>
      <p:grpSp>
        <p:nvGrpSpPr>
          <p:cNvPr name="Group 18" id="18"/>
          <p:cNvGrpSpPr/>
          <p:nvPr/>
        </p:nvGrpSpPr>
        <p:grpSpPr>
          <a:xfrm rot="0">
            <a:off x="17354931" y="1101471"/>
            <a:ext cx="128778" cy="128778"/>
            <a:chOff x="0" y="0"/>
            <a:chExt cx="171704" cy="171704"/>
          </a:xfrm>
        </p:grpSpPr>
        <p:sp>
          <p:nvSpPr>
            <p:cNvPr name="Freeform 19" id="19"/>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F5582E"/>
            </a:solidFill>
            <a:ln w="19050" cap="sq">
              <a:solidFill>
                <a:srgbClr val="F5582E"/>
              </a:solidFill>
              <a:prstDash val="solid"/>
              <a:miter/>
            </a:ln>
          </p:spPr>
        </p:sp>
      </p:grpSp>
      <p:grpSp>
        <p:nvGrpSpPr>
          <p:cNvPr name="Group 20" id="20"/>
          <p:cNvGrpSpPr/>
          <p:nvPr/>
        </p:nvGrpSpPr>
        <p:grpSpPr>
          <a:xfrm rot="0">
            <a:off x="13297376" y="2598896"/>
            <a:ext cx="4129088" cy="3443288"/>
            <a:chOff x="0" y="0"/>
            <a:chExt cx="5505450" cy="4591050"/>
          </a:xfrm>
        </p:grpSpPr>
        <p:sp>
          <p:nvSpPr>
            <p:cNvPr name="Freeform 21" id="21"/>
            <p:cNvSpPr/>
            <p:nvPr/>
          </p:nvSpPr>
          <p:spPr>
            <a:xfrm flipH="false" flipV="false" rot="0">
              <a:off x="0" y="0"/>
              <a:ext cx="5505450" cy="4591050"/>
            </a:xfrm>
            <a:custGeom>
              <a:avLst/>
              <a:gdLst/>
              <a:ahLst/>
              <a:cxnLst/>
              <a:rect r="r" b="b" t="t" l="l"/>
              <a:pathLst>
                <a:path h="4591050" w="5505450">
                  <a:moveTo>
                    <a:pt x="0" y="220345"/>
                  </a:moveTo>
                  <a:cubicBezTo>
                    <a:pt x="0" y="98679"/>
                    <a:pt x="98679" y="0"/>
                    <a:pt x="220345" y="0"/>
                  </a:cubicBezTo>
                  <a:lnTo>
                    <a:pt x="5285105" y="0"/>
                  </a:lnTo>
                  <a:cubicBezTo>
                    <a:pt x="5406771" y="0"/>
                    <a:pt x="5505450" y="98679"/>
                    <a:pt x="5505450" y="220345"/>
                  </a:cubicBezTo>
                  <a:lnTo>
                    <a:pt x="5505450" y="4370705"/>
                  </a:lnTo>
                  <a:cubicBezTo>
                    <a:pt x="5505450" y="4492371"/>
                    <a:pt x="5406771" y="4591050"/>
                    <a:pt x="5285105" y="4591050"/>
                  </a:cubicBezTo>
                  <a:lnTo>
                    <a:pt x="220345" y="4591050"/>
                  </a:lnTo>
                  <a:cubicBezTo>
                    <a:pt x="98679" y="4591050"/>
                    <a:pt x="0" y="4492371"/>
                    <a:pt x="0" y="4370705"/>
                  </a:cubicBezTo>
                  <a:close/>
                </a:path>
              </a:pathLst>
            </a:custGeom>
            <a:solidFill>
              <a:srgbClr val="FFFFFF"/>
            </a:solidFill>
            <a:ln w="14288" cap="sq">
              <a:solidFill>
                <a:srgbClr val="000000"/>
              </a:solidFill>
              <a:prstDash val="solid"/>
              <a:miter/>
            </a:ln>
          </p:spPr>
        </p:sp>
      </p:grpSp>
      <p:grpSp>
        <p:nvGrpSpPr>
          <p:cNvPr name="Group 22" id="22"/>
          <p:cNvGrpSpPr/>
          <p:nvPr/>
        </p:nvGrpSpPr>
        <p:grpSpPr>
          <a:xfrm rot="0">
            <a:off x="13297376" y="2598896"/>
            <a:ext cx="4129088" cy="453200"/>
            <a:chOff x="0" y="0"/>
            <a:chExt cx="5505450" cy="604266"/>
          </a:xfrm>
        </p:grpSpPr>
        <p:sp>
          <p:nvSpPr>
            <p:cNvPr name="Freeform 23" id="23"/>
            <p:cNvSpPr/>
            <p:nvPr/>
          </p:nvSpPr>
          <p:spPr>
            <a:xfrm flipH="false" flipV="false" rot="0">
              <a:off x="0" y="0"/>
              <a:ext cx="5505450" cy="604266"/>
            </a:xfrm>
            <a:custGeom>
              <a:avLst/>
              <a:gdLst/>
              <a:ahLst/>
              <a:cxnLst/>
              <a:rect r="r" b="b" t="t" l="l"/>
              <a:pathLst>
                <a:path h="604266" w="5505450">
                  <a:moveTo>
                    <a:pt x="0" y="226568"/>
                  </a:moveTo>
                  <a:cubicBezTo>
                    <a:pt x="0" y="101473"/>
                    <a:pt x="101473" y="0"/>
                    <a:pt x="226568" y="0"/>
                  </a:cubicBezTo>
                  <a:lnTo>
                    <a:pt x="5278882" y="0"/>
                  </a:lnTo>
                  <a:cubicBezTo>
                    <a:pt x="5403977" y="0"/>
                    <a:pt x="5505450" y="101473"/>
                    <a:pt x="5505450" y="226568"/>
                  </a:cubicBezTo>
                  <a:lnTo>
                    <a:pt x="5505450" y="377698"/>
                  </a:lnTo>
                  <a:cubicBezTo>
                    <a:pt x="5505450" y="502793"/>
                    <a:pt x="5403977" y="604266"/>
                    <a:pt x="527888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24" id="24"/>
          <p:cNvGrpSpPr/>
          <p:nvPr/>
        </p:nvGrpSpPr>
        <p:grpSpPr>
          <a:xfrm rot="0">
            <a:off x="13308711" y="2815971"/>
            <a:ext cx="4106418" cy="238506"/>
            <a:chOff x="0" y="0"/>
            <a:chExt cx="5475224" cy="318008"/>
          </a:xfrm>
        </p:grpSpPr>
        <p:sp>
          <p:nvSpPr>
            <p:cNvPr name="Freeform 25" id="25"/>
            <p:cNvSpPr/>
            <p:nvPr/>
          </p:nvSpPr>
          <p:spPr>
            <a:xfrm flipH="false" flipV="false" rot="0">
              <a:off x="0" y="0"/>
              <a:ext cx="5475224" cy="318008"/>
            </a:xfrm>
            <a:custGeom>
              <a:avLst/>
              <a:gdLst/>
              <a:ahLst/>
              <a:cxnLst/>
              <a:rect r="r" b="b" t="t" l="l"/>
              <a:pathLst>
                <a:path h="318008" w="5475224">
                  <a:moveTo>
                    <a:pt x="0" y="0"/>
                  </a:moveTo>
                  <a:lnTo>
                    <a:pt x="5475224" y="0"/>
                  </a:lnTo>
                  <a:lnTo>
                    <a:pt x="5475224" y="318008"/>
                  </a:lnTo>
                  <a:lnTo>
                    <a:pt x="0" y="318008"/>
                  </a:lnTo>
                  <a:close/>
                </a:path>
              </a:pathLst>
            </a:custGeom>
            <a:solidFill>
              <a:srgbClr val="F5582E"/>
            </a:solidFill>
            <a:ln w="19050" cap="sq">
              <a:solidFill>
                <a:srgbClr val="F5582E"/>
              </a:solidFill>
              <a:prstDash val="solid"/>
              <a:miter/>
            </a:ln>
          </p:spPr>
        </p:sp>
      </p:grpSp>
      <p:sp>
        <p:nvSpPr>
          <p:cNvPr name="AutoShape 26" id="26"/>
          <p:cNvSpPr/>
          <p:nvPr/>
        </p:nvSpPr>
        <p:spPr>
          <a:xfrm rot="11880">
            <a:off x="13297367" y="3040190"/>
            <a:ext cx="4129116" cy="0"/>
          </a:xfrm>
          <a:prstGeom prst="line">
            <a:avLst/>
          </a:prstGeom>
          <a:ln cap="rnd" w="9525">
            <a:solidFill>
              <a:srgbClr val="000000"/>
            </a:solidFill>
            <a:prstDash val="solid"/>
            <a:headEnd type="none" len="sm" w="sm"/>
            <a:tailEnd type="none" len="sm" w="sm"/>
          </a:ln>
        </p:spPr>
      </p:sp>
      <p:grpSp>
        <p:nvGrpSpPr>
          <p:cNvPr name="Group 27" id="27"/>
          <p:cNvGrpSpPr/>
          <p:nvPr/>
        </p:nvGrpSpPr>
        <p:grpSpPr>
          <a:xfrm rot="0">
            <a:off x="822960" y="6652260"/>
            <a:ext cx="8037576" cy="2407196"/>
            <a:chOff x="0" y="0"/>
            <a:chExt cx="10716768" cy="3209594"/>
          </a:xfrm>
        </p:grpSpPr>
        <p:sp>
          <p:nvSpPr>
            <p:cNvPr name="Freeform 28" id="28"/>
            <p:cNvSpPr/>
            <p:nvPr/>
          </p:nvSpPr>
          <p:spPr>
            <a:xfrm flipH="false" flipV="false" rot="0">
              <a:off x="0" y="0"/>
              <a:ext cx="10716768" cy="3209594"/>
            </a:xfrm>
            <a:custGeom>
              <a:avLst/>
              <a:gdLst/>
              <a:ahLst/>
              <a:cxnLst/>
              <a:rect r="r" b="b" t="t" l="l"/>
              <a:pathLst>
                <a:path h="3209594" w="10716768">
                  <a:moveTo>
                    <a:pt x="0" y="0"/>
                  </a:moveTo>
                  <a:lnTo>
                    <a:pt x="10716768" y="0"/>
                  </a:lnTo>
                  <a:lnTo>
                    <a:pt x="10716768" y="3209594"/>
                  </a:lnTo>
                  <a:lnTo>
                    <a:pt x="0" y="3209594"/>
                  </a:lnTo>
                  <a:close/>
                </a:path>
              </a:pathLst>
            </a:custGeom>
            <a:blipFill>
              <a:blip r:embed="rId4">
                <a:alphaModFix amt="0"/>
              </a:blip>
              <a:stretch>
                <a:fillRect l="0" t="-91604" r="-106484" b="-77073"/>
              </a:stretch>
            </a:blipFill>
          </p:spPr>
        </p:sp>
        <p:sp>
          <p:nvSpPr>
            <p:cNvPr name="TextBox 29" id="29"/>
            <p:cNvSpPr txBox="true"/>
            <p:nvPr/>
          </p:nvSpPr>
          <p:spPr>
            <a:xfrm>
              <a:off x="0" y="0"/>
              <a:ext cx="10716768" cy="3209594"/>
            </a:xfrm>
            <a:prstGeom prst="rect">
              <a:avLst/>
            </a:prstGeom>
          </p:spPr>
          <p:txBody>
            <a:bodyPr anchor="ctr" rtlCol="false" tIns="0" lIns="0" bIns="0" rIns="0"/>
            <a:lstStyle/>
            <a:p>
              <a:pPr algn="l">
                <a:lnSpc>
                  <a:spcPts val="10800"/>
                </a:lnSpc>
              </a:pPr>
              <a:r>
                <a:rPr lang="en-US" sz="9000" b="true">
                  <a:solidFill>
                    <a:srgbClr val="F5582E"/>
                  </a:solidFill>
                  <a:latin typeface="Helvetica World Bold"/>
                  <a:ea typeface="Helvetica World Bold"/>
                  <a:cs typeface="Helvetica World Bold"/>
                  <a:sym typeface="Helvetica World Bold"/>
                </a:rPr>
                <a:t>REPRODUKSI</a:t>
              </a:r>
            </a:p>
          </p:txBody>
        </p:sp>
      </p:grpSp>
      <p:sp>
        <p:nvSpPr>
          <p:cNvPr name="TextBox 30" id="30"/>
          <p:cNvSpPr txBox="true"/>
          <p:nvPr/>
        </p:nvSpPr>
        <p:spPr>
          <a:xfrm rot="0">
            <a:off x="813435" y="8610238"/>
            <a:ext cx="12344400" cy="457200"/>
          </a:xfrm>
          <a:prstGeom prst="rect">
            <a:avLst/>
          </a:prstGeom>
        </p:spPr>
        <p:txBody>
          <a:bodyPr anchor="t" rtlCol="false" tIns="0" lIns="0" bIns="0" rIns="0">
            <a:spAutoFit/>
          </a:bodyPr>
          <a:lstStyle/>
          <a:p>
            <a:pPr algn="l">
              <a:lnSpc>
                <a:spcPts val="3600"/>
              </a:lnSpc>
            </a:pPr>
            <a:r>
              <a:rPr lang="en-US" sz="3000">
                <a:solidFill>
                  <a:srgbClr val="000000"/>
                </a:solidFill>
                <a:latin typeface="Noto Serif"/>
                <a:ea typeface="Noto Serif"/>
                <a:cs typeface="Noto Serif"/>
                <a:sym typeface="Noto Serif"/>
              </a:rPr>
              <a:t>Menguji Pendekatan Multimodal dan Multitask</a:t>
            </a:r>
          </a:p>
        </p:txBody>
      </p:sp>
      <p:grpSp>
        <p:nvGrpSpPr>
          <p:cNvPr name="Group 31" id="31"/>
          <p:cNvGrpSpPr/>
          <p:nvPr/>
        </p:nvGrpSpPr>
        <p:grpSpPr>
          <a:xfrm rot="0">
            <a:off x="8727491" y="6827158"/>
            <a:ext cx="7248754" cy="2057400"/>
            <a:chOff x="0" y="0"/>
            <a:chExt cx="9665005" cy="2743200"/>
          </a:xfrm>
        </p:grpSpPr>
        <p:sp>
          <p:nvSpPr>
            <p:cNvPr name="Freeform 32" id="32"/>
            <p:cNvSpPr/>
            <p:nvPr/>
          </p:nvSpPr>
          <p:spPr>
            <a:xfrm flipH="false" flipV="false" rot="0">
              <a:off x="0" y="0"/>
              <a:ext cx="9665005" cy="2743200"/>
            </a:xfrm>
            <a:custGeom>
              <a:avLst/>
              <a:gdLst/>
              <a:ahLst/>
              <a:cxnLst/>
              <a:rect r="r" b="b" t="t" l="l"/>
              <a:pathLst>
                <a:path h="2743200" w="9665005">
                  <a:moveTo>
                    <a:pt x="0" y="0"/>
                  </a:moveTo>
                  <a:lnTo>
                    <a:pt x="9665005" y="0"/>
                  </a:lnTo>
                  <a:lnTo>
                    <a:pt x="9665005" y="2743200"/>
                  </a:lnTo>
                  <a:lnTo>
                    <a:pt x="0" y="2743200"/>
                  </a:lnTo>
                  <a:close/>
                </a:path>
              </a:pathLst>
            </a:custGeom>
            <a:blipFill>
              <a:blip r:embed="rId4">
                <a:alphaModFix amt="0"/>
              </a:blip>
              <a:stretch>
                <a:fillRect l="0" t="-107179" r="-128954" b="-107179"/>
              </a:stretch>
            </a:blipFill>
          </p:spPr>
        </p:sp>
        <p:sp>
          <p:nvSpPr>
            <p:cNvPr name="TextBox 33" id="33"/>
            <p:cNvSpPr txBox="true"/>
            <p:nvPr/>
          </p:nvSpPr>
          <p:spPr>
            <a:xfrm>
              <a:off x="0" y="0"/>
              <a:ext cx="9665005" cy="2743200"/>
            </a:xfrm>
            <a:prstGeom prst="rect">
              <a:avLst/>
            </a:prstGeom>
          </p:spPr>
          <p:txBody>
            <a:bodyPr anchor="ctr" rtlCol="false" tIns="0" lIns="0" bIns="0" rIns="0"/>
            <a:lstStyle/>
            <a:p>
              <a:pPr algn="l">
                <a:lnSpc>
                  <a:spcPts val="10800"/>
                </a:lnSpc>
              </a:pPr>
              <a:r>
                <a:rPr lang="en-US" sz="9000" i="true">
                  <a:solidFill>
                    <a:srgbClr val="000000"/>
                  </a:solidFill>
                  <a:latin typeface="Noto Serif Italics"/>
                  <a:ea typeface="Noto Serif Italics"/>
                  <a:cs typeface="Noto Serif Italics"/>
                  <a:sym typeface="Noto Serif Italics"/>
                </a:rPr>
                <a:t>INDOMEME.</a:t>
              </a:r>
            </a:p>
          </p:txBody>
        </p:sp>
      </p:grpSp>
      <p:sp>
        <p:nvSpPr>
          <p:cNvPr name="Freeform 34" id="34"/>
          <p:cNvSpPr/>
          <p:nvPr/>
        </p:nvSpPr>
        <p:spPr>
          <a:xfrm flipH="false" flipV="false" rot="0">
            <a:off x="16469745" y="8050319"/>
            <a:ext cx="612635" cy="612635"/>
          </a:xfrm>
          <a:custGeom>
            <a:avLst/>
            <a:gdLst/>
            <a:ahLst/>
            <a:cxnLst/>
            <a:rect r="r" b="b" t="t" l="l"/>
            <a:pathLst>
              <a:path h="612635" w="612635">
                <a:moveTo>
                  <a:pt x="0" y="0"/>
                </a:moveTo>
                <a:lnTo>
                  <a:pt x="612635" y="0"/>
                </a:lnTo>
                <a:lnTo>
                  <a:pt x="612635" y="612635"/>
                </a:lnTo>
                <a:lnTo>
                  <a:pt x="0" y="6126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5" id="35"/>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1</a:t>
            </a:r>
          </a:p>
        </p:txBody>
      </p:sp>
      <p:sp>
        <p:nvSpPr>
          <p:cNvPr name="TextBox 36" id="36"/>
          <p:cNvSpPr txBox="true"/>
          <p:nvPr/>
        </p:nvSpPr>
        <p:spPr>
          <a:xfrm rot="0">
            <a:off x="1028700" y="3174345"/>
            <a:ext cx="3429000" cy="548640"/>
          </a:xfrm>
          <a:prstGeom prst="rect">
            <a:avLst/>
          </a:prstGeom>
        </p:spPr>
        <p:txBody>
          <a:bodyPr anchor="t" rtlCol="false" tIns="0" lIns="0" bIns="0" rIns="0">
            <a:spAutoFit/>
          </a:bodyPr>
          <a:lstStyle/>
          <a:p>
            <a:pPr algn="l">
              <a:lnSpc>
                <a:spcPts val="3600"/>
              </a:lnSpc>
            </a:pPr>
            <a:r>
              <a:rPr lang="en-US" sz="3000" b="true">
                <a:solidFill>
                  <a:srgbClr val="000000"/>
                </a:solidFill>
                <a:latin typeface="Helvetica World Bold"/>
                <a:ea typeface="Helvetica World Bold"/>
                <a:cs typeface="Helvetica World Bold"/>
                <a:sym typeface="Helvetica World Bold"/>
              </a:rPr>
              <a:t>Kelompok 7</a:t>
            </a:r>
          </a:p>
        </p:txBody>
      </p:sp>
      <p:sp>
        <p:nvSpPr>
          <p:cNvPr name="TextBox 37" id="37"/>
          <p:cNvSpPr txBox="true"/>
          <p:nvPr/>
        </p:nvSpPr>
        <p:spPr>
          <a:xfrm rot="0">
            <a:off x="1028700" y="3911600"/>
            <a:ext cx="3566160" cy="59055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Joseph Pratama Lase</a:t>
            </a:r>
          </a:p>
          <a:p>
            <a:pPr algn="l">
              <a:lnSpc>
                <a:spcPts val="2340"/>
              </a:lnSpc>
            </a:pPr>
            <a:r>
              <a:rPr lang="en-US" sz="1950">
                <a:solidFill>
                  <a:srgbClr val="000000"/>
                </a:solidFill>
                <a:latin typeface="Helvetica World"/>
                <a:ea typeface="Helvetica World"/>
                <a:cs typeface="Helvetica World"/>
                <a:sym typeface="Helvetica World"/>
              </a:rPr>
              <a:t>Rafa Maritza Hanasaputri</a:t>
            </a:r>
          </a:p>
        </p:txBody>
      </p:sp>
      <p:sp>
        <p:nvSpPr>
          <p:cNvPr name="TextBox 38" id="38"/>
          <p:cNvSpPr txBox="true"/>
          <p:nvPr/>
        </p:nvSpPr>
        <p:spPr>
          <a:xfrm rot="0">
            <a:off x="1028700" y="5143500"/>
            <a:ext cx="3429000" cy="411480"/>
          </a:xfrm>
          <a:prstGeom prst="rect">
            <a:avLst/>
          </a:prstGeom>
        </p:spPr>
        <p:txBody>
          <a:bodyPr anchor="t" rtlCol="false" tIns="0" lIns="0" bIns="0" rIns="0">
            <a:spAutoFit/>
          </a:bodyPr>
          <a:lstStyle/>
          <a:p>
            <a:pPr algn="l">
              <a:lnSpc>
                <a:spcPts val="2340"/>
              </a:lnSpc>
            </a:pPr>
            <a:r>
              <a:rPr lang="en-US" sz="1950" b="true">
                <a:solidFill>
                  <a:srgbClr val="F5582E"/>
                </a:solidFill>
                <a:latin typeface="Helvetica World Bold"/>
                <a:ea typeface="Helvetica World Bold"/>
                <a:cs typeface="Helvetica World Bold"/>
                <a:sym typeface="Helvetica World Bold"/>
              </a:rPr>
              <a:t>Checkpoint 1</a:t>
            </a:r>
          </a:p>
        </p:txBody>
      </p:sp>
      <p:sp>
        <p:nvSpPr>
          <p:cNvPr name="TextBox 39" id="39"/>
          <p:cNvSpPr txBox="true"/>
          <p:nvPr/>
        </p:nvSpPr>
        <p:spPr>
          <a:xfrm rot="0">
            <a:off x="6309360" y="6103620"/>
            <a:ext cx="562356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Teks + Gambar + Konteks Budaya</a:t>
            </a:r>
          </a:p>
        </p:txBody>
      </p:sp>
      <p:sp>
        <p:nvSpPr>
          <p:cNvPr name="TextBox 40" id="40"/>
          <p:cNvSpPr txBox="true"/>
          <p:nvPr/>
        </p:nvSpPr>
        <p:spPr>
          <a:xfrm rot="0">
            <a:off x="13304520" y="695325"/>
            <a:ext cx="4114800" cy="333375"/>
          </a:xfrm>
          <a:prstGeom prst="rect">
            <a:avLst/>
          </a:prstGeom>
        </p:spPr>
        <p:txBody>
          <a:bodyPr anchor="t" rtlCol="false" tIns="0" lIns="0" bIns="0" rIns="0">
            <a:spAutoFit/>
          </a:bodyPr>
          <a:lstStyle/>
          <a:p>
            <a:pPr algn="r">
              <a:lnSpc>
                <a:spcPts val="1980"/>
              </a:lnSpc>
            </a:pPr>
            <a:r>
              <a:rPr lang="en-US" sz="1650">
                <a:solidFill>
                  <a:srgbClr val="000000"/>
                </a:solidFill>
                <a:latin typeface="Helvetica World"/>
                <a:ea typeface="Helvetica World"/>
                <a:cs typeface="Helvetica World"/>
                <a:sym typeface="Helvetica World"/>
              </a:rPr>
              <a:t>Checkpoint 1 · Reproduksi Penelitian</a:t>
            </a:r>
          </a:p>
        </p:txBody>
      </p:sp>
      <p:sp>
        <p:nvSpPr>
          <p:cNvPr name="TextBox 41" id="41"/>
          <p:cNvSpPr txBox="true"/>
          <p:nvPr/>
        </p:nvSpPr>
        <p:spPr>
          <a:xfrm rot="0">
            <a:off x="13578840" y="3703320"/>
            <a:ext cx="3566160" cy="1168400"/>
          </a:xfrm>
          <a:prstGeom prst="rect">
            <a:avLst/>
          </a:prstGeom>
        </p:spPr>
        <p:txBody>
          <a:bodyPr anchor="t" rtlCol="false" tIns="0" lIns="0" bIns="0" rIns="0">
            <a:spAutoFit/>
          </a:bodyPr>
          <a:lstStyle/>
          <a:p>
            <a:pPr algn="ctr">
              <a:lnSpc>
                <a:spcPts val="2160"/>
              </a:lnSpc>
            </a:pPr>
            <a:r>
              <a:rPr lang="en-US" sz="1800" b="true">
                <a:solidFill>
                  <a:srgbClr val="141221"/>
                </a:solidFill>
                <a:latin typeface="Helvetica World Bold"/>
                <a:ea typeface="Helvetica World Bold"/>
                <a:cs typeface="Helvetica World Bold"/>
                <a:sym typeface="Helvetica World Bold"/>
              </a:rPr>
              <a:t>Decoding Hate in Memes: Multimodal and Multitask Approaches for Low-Resource Indonesian Social Media</a:t>
            </a:r>
          </a:p>
        </p:txBody>
      </p:sp>
      <p:sp>
        <p:nvSpPr>
          <p:cNvPr name="TextBox 42" id="42"/>
          <p:cNvSpPr txBox="true"/>
          <p:nvPr/>
        </p:nvSpPr>
        <p:spPr>
          <a:xfrm rot="0">
            <a:off x="13578840" y="5005070"/>
            <a:ext cx="3566160" cy="401955"/>
          </a:xfrm>
          <a:prstGeom prst="rect">
            <a:avLst/>
          </a:prstGeom>
        </p:spPr>
        <p:txBody>
          <a:bodyPr anchor="t" rtlCol="false" tIns="0" lIns="0" bIns="0" rIns="0">
            <a:spAutoFit/>
          </a:bodyPr>
          <a:lstStyle/>
          <a:p>
            <a:pPr algn="ctr">
              <a:lnSpc>
                <a:spcPts val="1980"/>
              </a:lnSpc>
            </a:pPr>
            <a:r>
              <a:rPr lang="en-US" sz="1650">
                <a:solidFill>
                  <a:srgbClr val="000000"/>
                </a:solidFill>
                <a:latin typeface="Helvetica World"/>
                <a:ea typeface="Helvetica World"/>
                <a:cs typeface="Helvetica World"/>
                <a:sym typeface="Helvetica World"/>
              </a:rPr>
              <a:t>Pamungkas et al. (2026)</a:t>
            </a:r>
          </a:p>
        </p:txBody>
      </p:sp>
      <p:grpSp>
        <p:nvGrpSpPr>
          <p:cNvPr name="Group 43" id="43"/>
          <p:cNvGrpSpPr/>
          <p:nvPr/>
        </p:nvGrpSpPr>
        <p:grpSpPr>
          <a:xfrm rot="0">
            <a:off x="17238209" y="5749780"/>
            <a:ext cx="353840" cy="353840"/>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1223"/>
            </a:solidFill>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2</a:t>
            </a:r>
          </a:p>
        </p:txBody>
      </p:sp>
      <p:sp>
        <p:nvSpPr>
          <p:cNvPr name="TextBox 3" id="3"/>
          <p:cNvSpPr txBox="true"/>
          <p:nvPr/>
        </p:nvSpPr>
        <p:spPr>
          <a:xfrm rot="0">
            <a:off x="822960" y="655320"/>
            <a:ext cx="16596360" cy="1556512"/>
          </a:xfrm>
          <a:prstGeom prst="rect">
            <a:avLst/>
          </a:prstGeom>
        </p:spPr>
        <p:txBody>
          <a:bodyPr anchor="t" rtlCol="false" tIns="0" lIns="0" bIns="0" rIns="0">
            <a:spAutoFit/>
          </a:bodyPr>
          <a:lstStyle/>
          <a:p>
            <a:pPr algn="l">
              <a:lnSpc>
                <a:spcPts val="6839"/>
              </a:lnSpc>
            </a:pPr>
            <a:r>
              <a:rPr lang="en-US" sz="6000" b="true">
                <a:solidFill>
                  <a:srgbClr val="F5582E"/>
                </a:solidFill>
                <a:latin typeface="Helvetica World Bold"/>
                <a:ea typeface="Helvetica World Bold"/>
                <a:cs typeface="Helvetica World Bold"/>
                <a:sym typeface="Helvetica World Bold"/>
              </a:rPr>
              <a:t>REPRODUKSI BERHASIL</a:t>
            </a:r>
          </a:p>
          <a:p>
            <a:pPr algn="l">
              <a:lnSpc>
                <a:spcPts val="4788"/>
              </a:lnSpc>
            </a:pPr>
            <a:r>
              <a:rPr lang="en-US" sz="4200" i="true">
                <a:solidFill>
                  <a:srgbClr val="000000"/>
                </a:solidFill>
                <a:latin typeface="Noto Serif Italics"/>
                <a:ea typeface="Noto Serif Italics"/>
                <a:cs typeface="Noto Serif Italics"/>
                <a:sym typeface="Noto Serif Italics"/>
              </a:rPr>
              <a:t>Namun, Model Lebih Kompleks Belum Tentu Lebih Baik.</a:t>
            </a:r>
          </a:p>
        </p:txBody>
      </p:sp>
      <p:grpSp>
        <p:nvGrpSpPr>
          <p:cNvPr name="Group 4" id="4"/>
          <p:cNvGrpSpPr/>
          <p:nvPr/>
        </p:nvGrpSpPr>
        <p:grpSpPr>
          <a:xfrm rot="0">
            <a:off x="822960" y="2743200"/>
            <a:ext cx="3977640" cy="1539515"/>
            <a:chOff x="0" y="0"/>
            <a:chExt cx="5303520" cy="2052687"/>
          </a:xfrm>
        </p:grpSpPr>
        <p:sp>
          <p:nvSpPr>
            <p:cNvPr name="Freeform 5" id="5"/>
            <p:cNvSpPr/>
            <p:nvPr/>
          </p:nvSpPr>
          <p:spPr>
            <a:xfrm flipH="false" flipV="false" rot="0">
              <a:off x="0" y="0"/>
              <a:ext cx="5303520" cy="2052687"/>
            </a:xfrm>
            <a:custGeom>
              <a:avLst/>
              <a:gdLst/>
              <a:ahLst/>
              <a:cxnLst/>
              <a:rect r="r" b="b" t="t" l="l"/>
              <a:pathLst>
                <a:path h="2052687" w="5303520">
                  <a:moveTo>
                    <a:pt x="0" y="0"/>
                  </a:moveTo>
                  <a:lnTo>
                    <a:pt x="5303520" y="0"/>
                  </a:lnTo>
                  <a:lnTo>
                    <a:pt x="5303520" y="2052687"/>
                  </a:lnTo>
                  <a:lnTo>
                    <a:pt x="0" y="2052687"/>
                  </a:lnTo>
                  <a:close/>
                </a:path>
              </a:pathLst>
            </a:custGeom>
            <a:blipFill>
              <a:blip r:embed="rId3">
                <a:alphaModFix amt="0"/>
              </a:blip>
              <a:stretch>
                <a:fillRect l="0" t="-1342" r="0" b="655"/>
              </a:stretch>
            </a:blipFill>
          </p:spPr>
        </p:sp>
        <p:sp>
          <p:nvSpPr>
            <p:cNvPr name="TextBox 6" id="6"/>
            <p:cNvSpPr txBox="true"/>
            <p:nvPr/>
          </p:nvSpPr>
          <p:spPr>
            <a:xfrm>
              <a:off x="0" y="0"/>
              <a:ext cx="5303520" cy="2052687"/>
            </a:xfrm>
            <a:prstGeom prst="rect">
              <a:avLst/>
            </a:prstGeom>
          </p:spPr>
          <p:txBody>
            <a:bodyPr anchor="ctr" rtlCol="false" tIns="0" lIns="0" bIns="0" rIns="0"/>
            <a:lstStyle/>
            <a:p>
              <a:pPr algn="l">
                <a:lnSpc>
                  <a:spcPts val="9360"/>
                </a:lnSpc>
              </a:pPr>
              <a:r>
                <a:rPr lang="en-US" sz="7800" b="true">
                  <a:solidFill>
                    <a:srgbClr val="F5582E"/>
                  </a:solidFill>
                  <a:latin typeface="Noto Serif Bold"/>
                  <a:ea typeface="Noto Serif Bold"/>
                  <a:cs typeface="Noto Serif Bold"/>
                  <a:sym typeface="Noto Serif Bold"/>
                </a:rPr>
                <a:t>5.023</a:t>
              </a:r>
            </a:p>
          </p:txBody>
        </p:sp>
      </p:grpSp>
      <p:sp>
        <p:nvSpPr>
          <p:cNvPr name="TextBox 7" id="7"/>
          <p:cNvSpPr txBox="true"/>
          <p:nvPr/>
        </p:nvSpPr>
        <p:spPr>
          <a:xfrm rot="0">
            <a:off x="822960" y="4311015"/>
            <a:ext cx="3977640" cy="489585"/>
          </a:xfrm>
          <a:prstGeom prst="rect">
            <a:avLst/>
          </a:prstGeom>
        </p:spPr>
        <p:txBody>
          <a:bodyPr anchor="t" rtlCol="false" tIns="0" lIns="0" bIns="0" rIns="0">
            <a:spAutoFit/>
          </a:bodyPr>
          <a:lstStyle/>
          <a:p>
            <a:pPr algn="l">
              <a:lnSpc>
                <a:spcPts val="2700"/>
              </a:lnSpc>
            </a:pPr>
            <a:r>
              <a:rPr lang="en-US" sz="2250">
                <a:solidFill>
                  <a:srgbClr val="000000"/>
                </a:solidFill>
                <a:latin typeface="Helvetica World"/>
                <a:ea typeface="Helvetica World"/>
                <a:cs typeface="Helvetica World"/>
                <a:sym typeface="Helvetica World"/>
              </a:rPr>
              <a:t>Meme</a:t>
            </a:r>
          </a:p>
        </p:txBody>
      </p:sp>
      <p:sp>
        <p:nvSpPr>
          <p:cNvPr name="AutoShape 8" id="8"/>
          <p:cNvSpPr/>
          <p:nvPr/>
        </p:nvSpPr>
        <p:spPr>
          <a:xfrm rot="18240">
            <a:off x="813406" y="5070158"/>
            <a:ext cx="3585258" cy="0"/>
          </a:xfrm>
          <a:prstGeom prst="line">
            <a:avLst/>
          </a:prstGeom>
          <a:ln cap="rnd" w="9525">
            <a:solidFill>
              <a:srgbClr val="F5582E"/>
            </a:solidFill>
            <a:prstDash val="solid"/>
            <a:headEnd type="none" len="sm" w="sm"/>
            <a:tailEnd type="none" len="sm" w="sm"/>
          </a:ln>
        </p:spPr>
      </p:sp>
      <p:grpSp>
        <p:nvGrpSpPr>
          <p:cNvPr name="Group 9" id="9"/>
          <p:cNvGrpSpPr/>
          <p:nvPr/>
        </p:nvGrpSpPr>
        <p:grpSpPr>
          <a:xfrm rot="0">
            <a:off x="4324731" y="5010531"/>
            <a:ext cx="128778" cy="128778"/>
            <a:chOff x="0" y="0"/>
            <a:chExt cx="171704" cy="171704"/>
          </a:xfrm>
        </p:grpSpPr>
        <p:sp>
          <p:nvSpPr>
            <p:cNvPr name="Freeform 10" id="10"/>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F5582E"/>
            </a:solidFill>
            <a:ln w="19050" cap="sq">
              <a:solidFill>
                <a:srgbClr val="F5582E"/>
              </a:solidFill>
              <a:prstDash val="solid"/>
              <a:miter/>
            </a:ln>
          </p:spPr>
        </p:sp>
      </p:grpSp>
      <p:grpSp>
        <p:nvGrpSpPr>
          <p:cNvPr name="Group 11" id="11"/>
          <p:cNvGrpSpPr/>
          <p:nvPr/>
        </p:nvGrpSpPr>
        <p:grpSpPr>
          <a:xfrm rot="0">
            <a:off x="5074920" y="2743200"/>
            <a:ext cx="3977640" cy="1539515"/>
            <a:chOff x="0" y="0"/>
            <a:chExt cx="5303520" cy="2052687"/>
          </a:xfrm>
        </p:grpSpPr>
        <p:sp>
          <p:nvSpPr>
            <p:cNvPr name="Freeform 12" id="12"/>
            <p:cNvSpPr/>
            <p:nvPr/>
          </p:nvSpPr>
          <p:spPr>
            <a:xfrm flipH="false" flipV="false" rot="0">
              <a:off x="0" y="0"/>
              <a:ext cx="5303520" cy="2052687"/>
            </a:xfrm>
            <a:custGeom>
              <a:avLst/>
              <a:gdLst/>
              <a:ahLst/>
              <a:cxnLst/>
              <a:rect r="r" b="b" t="t" l="l"/>
              <a:pathLst>
                <a:path h="2052687" w="5303520">
                  <a:moveTo>
                    <a:pt x="0" y="0"/>
                  </a:moveTo>
                  <a:lnTo>
                    <a:pt x="5303520" y="0"/>
                  </a:lnTo>
                  <a:lnTo>
                    <a:pt x="5303520" y="2052687"/>
                  </a:lnTo>
                  <a:lnTo>
                    <a:pt x="0" y="2052687"/>
                  </a:lnTo>
                  <a:close/>
                </a:path>
              </a:pathLst>
            </a:custGeom>
            <a:blipFill>
              <a:blip r:embed="rId3">
                <a:alphaModFix amt="0"/>
              </a:blip>
              <a:stretch>
                <a:fillRect l="0" t="-1342" r="0" b="655"/>
              </a:stretch>
            </a:blipFill>
          </p:spPr>
        </p:sp>
        <p:sp>
          <p:nvSpPr>
            <p:cNvPr name="TextBox 13" id="13"/>
            <p:cNvSpPr txBox="true"/>
            <p:nvPr/>
          </p:nvSpPr>
          <p:spPr>
            <a:xfrm>
              <a:off x="0" y="0"/>
              <a:ext cx="5303520" cy="2052687"/>
            </a:xfrm>
            <a:prstGeom prst="rect">
              <a:avLst/>
            </a:prstGeom>
          </p:spPr>
          <p:txBody>
            <a:bodyPr anchor="ctr" rtlCol="false" tIns="0" lIns="0" bIns="0" rIns="0"/>
            <a:lstStyle/>
            <a:p>
              <a:pPr algn="l">
                <a:lnSpc>
                  <a:spcPts val="9360"/>
                </a:lnSpc>
              </a:pPr>
              <a:r>
                <a:rPr lang="en-US" sz="7800" b="true">
                  <a:solidFill>
                    <a:srgbClr val="F5582E"/>
                  </a:solidFill>
                  <a:latin typeface="Noto Serif Bold"/>
                  <a:ea typeface="Noto Serif Bold"/>
                  <a:cs typeface="Noto Serif Bold"/>
                  <a:sym typeface="Noto Serif Bold"/>
                </a:rPr>
                <a:t>8</a:t>
              </a:r>
            </a:p>
          </p:txBody>
        </p:sp>
      </p:grpSp>
      <p:sp>
        <p:nvSpPr>
          <p:cNvPr name="TextBox 14" id="14"/>
          <p:cNvSpPr txBox="true"/>
          <p:nvPr/>
        </p:nvSpPr>
        <p:spPr>
          <a:xfrm rot="0">
            <a:off x="5074920" y="4311015"/>
            <a:ext cx="3977640" cy="489585"/>
          </a:xfrm>
          <a:prstGeom prst="rect">
            <a:avLst/>
          </a:prstGeom>
        </p:spPr>
        <p:txBody>
          <a:bodyPr anchor="t" rtlCol="false" tIns="0" lIns="0" bIns="0" rIns="0">
            <a:spAutoFit/>
          </a:bodyPr>
          <a:lstStyle/>
          <a:p>
            <a:pPr algn="l">
              <a:lnSpc>
                <a:spcPts val="2700"/>
              </a:lnSpc>
            </a:pPr>
            <a:r>
              <a:rPr lang="en-US" sz="2250">
                <a:solidFill>
                  <a:srgbClr val="000000"/>
                </a:solidFill>
                <a:latin typeface="Helvetica World"/>
                <a:ea typeface="Helvetica World"/>
                <a:cs typeface="Helvetica World"/>
                <a:sym typeface="Helvetica World"/>
              </a:rPr>
              <a:t>Konfigurasi Model</a:t>
            </a:r>
          </a:p>
        </p:txBody>
      </p:sp>
      <p:sp>
        <p:nvSpPr>
          <p:cNvPr name="AutoShape 15" id="15"/>
          <p:cNvSpPr/>
          <p:nvPr/>
        </p:nvSpPr>
        <p:spPr>
          <a:xfrm rot="18240">
            <a:off x="5065366" y="5070158"/>
            <a:ext cx="3585258" cy="0"/>
          </a:xfrm>
          <a:prstGeom prst="line">
            <a:avLst/>
          </a:prstGeom>
          <a:ln cap="rnd" w="9525">
            <a:solidFill>
              <a:srgbClr val="F5582E"/>
            </a:solidFill>
            <a:prstDash val="solid"/>
            <a:headEnd type="none" len="sm" w="sm"/>
            <a:tailEnd type="none" len="sm" w="sm"/>
          </a:ln>
        </p:spPr>
      </p:sp>
      <p:grpSp>
        <p:nvGrpSpPr>
          <p:cNvPr name="Group 16" id="16"/>
          <p:cNvGrpSpPr/>
          <p:nvPr/>
        </p:nvGrpSpPr>
        <p:grpSpPr>
          <a:xfrm rot="0">
            <a:off x="8576691" y="5010531"/>
            <a:ext cx="128778" cy="128778"/>
            <a:chOff x="0" y="0"/>
            <a:chExt cx="171704" cy="171704"/>
          </a:xfrm>
        </p:grpSpPr>
        <p:sp>
          <p:nvSpPr>
            <p:cNvPr name="Freeform 17" id="17"/>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F5582E"/>
            </a:solidFill>
            <a:ln w="19050" cap="sq">
              <a:solidFill>
                <a:srgbClr val="F5582E"/>
              </a:solidFill>
              <a:prstDash val="solid"/>
              <a:miter/>
            </a:ln>
          </p:spPr>
        </p:sp>
      </p:grpSp>
      <p:grpSp>
        <p:nvGrpSpPr>
          <p:cNvPr name="Group 18" id="18"/>
          <p:cNvGrpSpPr/>
          <p:nvPr/>
        </p:nvGrpSpPr>
        <p:grpSpPr>
          <a:xfrm rot="0">
            <a:off x="9326880" y="2743200"/>
            <a:ext cx="3977640" cy="1539515"/>
            <a:chOff x="0" y="0"/>
            <a:chExt cx="5303520" cy="2052687"/>
          </a:xfrm>
        </p:grpSpPr>
        <p:sp>
          <p:nvSpPr>
            <p:cNvPr name="Freeform 19" id="19"/>
            <p:cNvSpPr/>
            <p:nvPr/>
          </p:nvSpPr>
          <p:spPr>
            <a:xfrm flipH="false" flipV="false" rot="0">
              <a:off x="0" y="0"/>
              <a:ext cx="5303520" cy="2052687"/>
            </a:xfrm>
            <a:custGeom>
              <a:avLst/>
              <a:gdLst/>
              <a:ahLst/>
              <a:cxnLst/>
              <a:rect r="r" b="b" t="t" l="l"/>
              <a:pathLst>
                <a:path h="2052687" w="5303520">
                  <a:moveTo>
                    <a:pt x="0" y="0"/>
                  </a:moveTo>
                  <a:lnTo>
                    <a:pt x="5303520" y="0"/>
                  </a:lnTo>
                  <a:lnTo>
                    <a:pt x="5303520" y="2052687"/>
                  </a:lnTo>
                  <a:lnTo>
                    <a:pt x="0" y="2052687"/>
                  </a:lnTo>
                  <a:close/>
                </a:path>
              </a:pathLst>
            </a:custGeom>
            <a:blipFill>
              <a:blip r:embed="rId3">
                <a:alphaModFix amt="0"/>
              </a:blip>
              <a:stretch>
                <a:fillRect l="0" t="-1342" r="0" b="655"/>
              </a:stretch>
            </a:blipFill>
          </p:spPr>
        </p:sp>
        <p:sp>
          <p:nvSpPr>
            <p:cNvPr name="TextBox 20" id="20"/>
            <p:cNvSpPr txBox="true"/>
            <p:nvPr/>
          </p:nvSpPr>
          <p:spPr>
            <a:xfrm>
              <a:off x="0" y="0"/>
              <a:ext cx="5303520" cy="2052687"/>
            </a:xfrm>
            <a:prstGeom prst="rect">
              <a:avLst/>
            </a:prstGeom>
          </p:spPr>
          <p:txBody>
            <a:bodyPr anchor="ctr" rtlCol="false" tIns="0" lIns="0" bIns="0" rIns="0"/>
            <a:lstStyle/>
            <a:p>
              <a:pPr algn="l">
                <a:lnSpc>
                  <a:spcPts val="9360"/>
                </a:lnSpc>
              </a:pPr>
              <a:r>
                <a:rPr lang="en-US" sz="7800" b="true">
                  <a:solidFill>
                    <a:srgbClr val="F5582E"/>
                  </a:solidFill>
                  <a:latin typeface="Noto Serif Bold"/>
                  <a:ea typeface="Noto Serif Bold"/>
                  <a:cs typeface="Noto Serif Bold"/>
                  <a:sym typeface="Noto Serif Bold"/>
                </a:rPr>
                <a:t>10</a:t>
              </a:r>
            </a:p>
          </p:txBody>
        </p:sp>
      </p:grpSp>
      <p:sp>
        <p:nvSpPr>
          <p:cNvPr name="TextBox 21" id="21"/>
          <p:cNvSpPr txBox="true"/>
          <p:nvPr/>
        </p:nvSpPr>
        <p:spPr>
          <a:xfrm rot="0">
            <a:off x="9326880" y="4311015"/>
            <a:ext cx="3977640" cy="489585"/>
          </a:xfrm>
          <a:prstGeom prst="rect">
            <a:avLst/>
          </a:prstGeom>
        </p:spPr>
        <p:txBody>
          <a:bodyPr anchor="t" rtlCol="false" tIns="0" lIns="0" bIns="0" rIns="0">
            <a:spAutoFit/>
          </a:bodyPr>
          <a:lstStyle/>
          <a:p>
            <a:pPr algn="l">
              <a:lnSpc>
                <a:spcPts val="2700"/>
              </a:lnSpc>
            </a:pPr>
            <a:r>
              <a:rPr lang="en-US" sz="2250">
                <a:solidFill>
                  <a:srgbClr val="000000"/>
                </a:solidFill>
                <a:latin typeface="Helvetica World"/>
                <a:ea typeface="Helvetica World"/>
                <a:cs typeface="Helvetica World"/>
                <a:sym typeface="Helvetica World"/>
              </a:rPr>
              <a:t>Evaluasi Tugas</a:t>
            </a:r>
          </a:p>
        </p:txBody>
      </p:sp>
      <p:sp>
        <p:nvSpPr>
          <p:cNvPr name="AutoShape 22" id="22"/>
          <p:cNvSpPr/>
          <p:nvPr/>
        </p:nvSpPr>
        <p:spPr>
          <a:xfrm rot="18240">
            <a:off x="9317326" y="5070158"/>
            <a:ext cx="3585258" cy="0"/>
          </a:xfrm>
          <a:prstGeom prst="line">
            <a:avLst/>
          </a:prstGeom>
          <a:ln cap="rnd" w="9525">
            <a:solidFill>
              <a:srgbClr val="F5582E"/>
            </a:solidFill>
            <a:prstDash val="solid"/>
            <a:headEnd type="none" len="sm" w="sm"/>
            <a:tailEnd type="none" len="sm" w="sm"/>
          </a:ln>
        </p:spPr>
      </p:sp>
      <p:grpSp>
        <p:nvGrpSpPr>
          <p:cNvPr name="Group 23" id="23"/>
          <p:cNvGrpSpPr/>
          <p:nvPr/>
        </p:nvGrpSpPr>
        <p:grpSpPr>
          <a:xfrm rot="0">
            <a:off x="12828651" y="5010531"/>
            <a:ext cx="128778" cy="128778"/>
            <a:chOff x="0" y="0"/>
            <a:chExt cx="171704" cy="171704"/>
          </a:xfrm>
        </p:grpSpPr>
        <p:sp>
          <p:nvSpPr>
            <p:cNvPr name="Freeform 24" id="24"/>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F5582E"/>
            </a:solidFill>
            <a:ln w="19050" cap="sq">
              <a:solidFill>
                <a:srgbClr val="F5582E"/>
              </a:solidFill>
              <a:prstDash val="solid"/>
              <a:miter/>
            </a:ln>
          </p:spPr>
        </p:sp>
      </p:grpSp>
      <p:grpSp>
        <p:nvGrpSpPr>
          <p:cNvPr name="Group 25" id="25"/>
          <p:cNvGrpSpPr/>
          <p:nvPr/>
        </p:nvGrpSpPr>
        <p:grpSpPr>
          <a:xfrm rot="0">
            <a:off x="13578840" y="2743200"/>
            <a:ext cx="3977640" cy="1539515"/>
            <a:chOff x="0" y="0"/>
            <a:chExt cx="5303520" cy="2052687"/>
          </a:xfrm>
        </p:grpSpPr>
        <p:sp>
          <p:nvSpPr>
            <p:cNvPr name="Freeform 26" id="26"/>
            <p:cNvSpPr/>
            <p:nvPr/>
          </p:nvSpPr>
          <p:spPr>
            <a:xfrm flipH="false" flipV="false" rot="0">
              <a:off x="0" y="0"/>
              <a:ext cx="5303520" cy="2052687"/>
            </a:xfrm>
            <a:custGeom>
              <a:avLst/>
              <a:gdLst/>
              <a:ahLst/>
              <a:cxnLst/>
              <a:rect r="r" b="b" t="t" l="l"/>
              <a:pathLst>
                <a:path h="2052687" w="5303520">
                  <a:moveTo>
                    <a:pt x="0" y="0"/>
                  </a:moveTo>
                  <a:lnTo>
                    <a:pt x="5303520" y="0"/>
                  </a:lnTo>
                  <a:lnTo>
                    <a:pt x="5303520" y="2052687"/>
                  </a:lnTo>
                  <a:lnTo>
                    <a:pt x="0" y="2052687"/>
                  </a:lnTo>
                  <a:close/>
                </a:path>
              </a:pathLst>
            </a:custGeom>
            <a:blipFill>
              <a:blip r:embed="rId3">
                <a:alphaModFix amt="0"/>
              </a:blip>
              <a:stretch>
                <a:fillRect l="0" t="-1342" r="0" b="655"/>
              </a:stretch>
            </a:blipFill>
          </p:spPr>
        </p:sp>
        <p:sp>
          <p:nvSpPr>
            <p:cNvPr name="TextBox 27" id="27"/>
            <p:cNvSpPr txBox="true"/>
            <p:nvPr/>
          </p:nvSpPr>
          <p:spPr>
            <a:xfrm>
              <a:off x="0" y="0"/>
              <a:ext cx="5303520" cy="2052687"/>
            </a:xfrm>
            <a:prstGeom prst="rect">
              <a:avLst/>
            </a:prstGeom>
          </p:spPr>
          <p:txBody>
            <a:bodyPr anchor="ctr" rtlCol="false" tIns="0" lIns="0" bIns="0" rIns="0"/>
            <a:lstStyle/>
            <a:p>
              <a:pPr algn="l">
                <a:lnSpc>
                  <a:spcPts val="9360"/>
                </a:lnSpc>
              </a:pPr>
              <a:r>
                <a:rPr lang="en-US" sz="7800" b="true">
                  <a:solidFill>
                    <a:srgbClr val="F5582E"/>
                  </a:solidFill>
                  <a:latin typeface="Noto Serif Bold"/>
                  <a:ea typeface="Noto Serif Bold"/>
                  <a:cs typeface="Noto Serif Bold"/>
                  <a:sym typeface="Noto Serif Bold"/>
                </a:rPr>
                <a:t>1.005</a:t>
              </a:r>
            </a:p>
          </p:txBody>
        </p:sp>
      </p:grpSp>
      <p:sp>
        <p:nvSpPr>
          <p:cNvPr name="TextBox 28" id="28"/>
          <p:cNvSpPr txBox="true"/>
          <p:nvPr/>
        </p:nvSpPr>
        <p:spPr>
          <a:xfrm rot="0">
            <a:off x="13578840" y="4311015"/>
            <a:ext cx="3977640" cy="489585"/>
          </a:xfrm>
          <a:prstGeom prst="rect">
            <a:avLst/>
          </a:prstGeom>
        </p:spPr>
        <p:txBody>
          <a:bodyPr anchor="t" rtlCol="false" tIns="0" lIns="0" bIns="0" rIns="0">
            <a:spAutoFit/>
          </a:bodyPr>
          <a:lstStyle/>
          <a:p>
            <a:pPr algn="l">
              <a:lnSpc>
                <a:spcPts val="2700"/>
              </a:lnSpc>
            </a:pPr>
            <a:r>
              <a:rPr lang="en-US" sz="2250">
                <a:solidFill>
                  <a:srgbClr val="000000"/>
                </a:solidFill>
                <a:latin typeface="Helvetica World"/>
                <a:ea typeface="Helvetica World"/>
                <a:cs typeface="Helvetica World"/>
                <a:sym typeface="Helvetica World"/>
              </a:rPr>
              <a:t>Sampel Uji Resmi</a:t>
            </a:r>
          </a:p>
        </p:txBody>
      </p:sp>
      <p:sp>
        <p:nvSpPr>
          <p:cNvPr name="AutoShape 29" id="29"/>
          <p:cNvSpPr/>
          <p:nvPr/>
        </p:nvSpPr>
        <p:spPr>
          <a:xfrm rot="18240">
            <a:off x="13569286" y="5070158"/>
            <a:ext cx="3585258" cy="0"/>
          </a:xfrm>
          <a:prstGeom prst="line">
            <a:avLst/>
          </a:prstGeom>
          <a:ln cap="rnd" w="9525">
            <a:solidFill>
              <a:srgbClr val="F5582E"/>
            </a:solidFill>
            <a:prstDash val="solid"/>
            <a:headEnd type="none" len="sm" w="sm"/>
            <a:tailEnd type="none" len="sm" w="sm"/>
          </a:ln>
        </p:spPr>
      </p:sp>
      <p:grpSp>
        <p:nvGrpSpPr>
          <p:cNvPr name="Group 30" id="30"/>
          <p:cNvGrpSpPr/>
          <p:nvPr/>
        </p:nvGrpSpPr>
        <p:grpSpPr>
          <a:xfrm rot="0">
            <a:off x="17080611" y="5010531"/>
            <a:ext cx="128778" cy="128778"/>
            <a:chOff x="0" y="0"/>
            <a:chExt cx="171704" cy="171704"/>
          </a:xfrm>
        </p:grpSpPr>
        <p:sp>
          <p:nvSpPr>
            <p:cNvPr name="Freeform 31" id="31"/>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F5582E"/>
            </a:solidFill>
            <a:ln w="19050" cap="sq">
              <a:solidFill>
                <a:srgbClr val="F5582E"/>
              </a:solidFill>
              <a:prstDash val="solid"/>
              <a:miter/>
            </a:ln>
          </p:spPr>
        </p:sp>
      </p:grpSp>
      <p:grpSp>
        <p:nvGrpSpPr>
          <p:cNvPr name="Group 32" id="32"/>
          <p:cNvGrpSpPr/>
          <p:nvPr/>
        </p:nvGrpSpPr>
        <p:grpSpPr>
          <a:xfrm rot="0">
            <a:off x="815816" y="5479256"/>
            <a:ext cx="8106728" cy="2208848"/>
            <a:chOff x="0" y="0"/>
            <a:chExt cx="10808970" cy="2945130"/>
          </a:xfrm>
        </p:grpSpPr>
        <p:sp>
          <p:nvSpPr>
            <p:cNvPr name="Freeform 33" id="33"/>
            <p:cNvSpPr/>
            <p:nvPr/>
          </p:nvSpPr>
          <p:spPr>
            <a:xfrm flipH="false" flipV="false" rot="0">
              <a:off x="0" y="0"/>
              <a:ext cx="10808970" cy="2945130"/>
            </a:xfrm>
            <a:custGeom>
              <a:avLst/>
              <a:gdLst/>
              <a:ahLst/>
              <a:cxnLst/>
              <a:rect r="r" b="b" t="t" l="l"/>
              <a:pathLst>
                <a:path h="2945130" w="10808970">
                  <a:moveTo>
                    <a:pt x="0" y="220853"/>
                  </a:moveTo>
                  <a:cubicBezTo>
                    <a:pt x="0" y="98933"/>
                    <a:pt x="98933" y="0"/>
                    <a:pt x="220853" y="0"/>
                  </a:cubicBezTo>
                  <a:lnTo>
                    <a:pt x="10588117" y="0"/>
                  </a:lnTo>
                  <a:cubicBezTo>
                    <a:pt x="10710164" y="0"/>
                    <a:pt x="10808970" y="98933"/>
                    <a:pt x="10808970" y="220853"/>
                  </a:cubicBezTo>
                  <a:lnTo>
                    <a:pt x="10808970" y="2724277"/>
                  </a:lnTo>
                  <a:cubicBezTo>
                    <a:pt x="10808970" y="2846324"/>
                    <a:pt x="10710037" y="2945130"/>
                    <a:pt x="10588117" y="2945130"/>
                  </a:cubicBezTo>
                  <a:lnTo>
                    <a:pt x="220853" y="2945130"/>
                  </a:lnTo>
                  <a:cubicBezTo>
                    <a:pt x="98933" y="2945130"/>
                    <a:pt x="0" y="2846197"/>
                    <a:pt x="0" y="2724277"/>
                  </a:cubicBezTo>
                  <a:close/>
                </a:path>
              </a:pathLst>
            </a:custGeom>
            <a:solidFill>
              <a:srgbClr val="FFFFFF"/>
            </a:solidFill>
            <a:ln w="14288" cap="sq">
              <a:solidFill>
                <a:srgbClr val="000000"/>
              </a:solidFill>
              <a:prstDash val="solid"/>
              <a:miter/>
            </a:ln>
          </p:spPr>
        </p:sp>
      </p:grpSp>
      <p:grpSp>
        <p:nvGrpSpPr>
          <p:cNvPr name="Group 34" id="34"/>
          <p:cNvGrpSpPr/>
          <p:nvPr/>
        </p:nvGrpSpPr>
        <p:grpSpPr>
          <a:xfrm rot="0">
            <a:off x="1234440" y="5692140"/>
            <a:ext cx="3703320" cy="1783080"/>
            <a:chOff x="0" y="0"/>
            <a:chExt cx="4937760" cy="2377440"/>
          </a:xfrm>
        </p:grpSpPr>
        <p:sp>
          <p:nvSpPr>
            <p:cNvPr name="Freeform 35" id="35"/>
            <p:cNvSpPr/>
            <p:nvPr/>
          </p:nvSpPr>
          <p:spPr>
            <a:xfrm flipH="false" flipV="false" rot="0">
              <a:off x="0" y="0"/>
              <a:ext cx="4937760" cy="2377440"/>
            </a:xfrm>
            <a:custGeom>
              <a:avLst/>
              <a:gdLst/>
              <a:ahLst/>
              <a:cxnLst/>
              <a:rect r="r" b="b" t="t" l="l"/>
              <a:pathLst>
                <a:path h="2377440" w="4937760">
                  <a:moveTo>
                    <a:pt x="0" y="0"/>
                  </a:moveTo>
                  <a:lnTo>
                    <a:pt x="4937760" y="0"/>
                  </a:lnTo>
                  <a:lnTo>
                    <a:pt x="4937760" y="2377440"/>
                  </a:lnTo>
                  <a:lnTo>
                    <a:pt x="0" y="2377440"/>
                  </a:lnTo>
                  <a:close/>
                </a:path>
              </a:pathLst>
            </a:custGeom>
            <a:blipFill>
              <a:blip r:embed="rId3">
                <a:alphaModFix amt="0"/>
              </a:blip>
              <a:stretch>
                <a:fillRect l="-11775" t="0" r="-11775" b="0"/>
              </a:stretch>
            </a:blipFill>
          </p:spPr>
        </p:sp>
        <p:sp>
          <p:nvSpPr>
            <p:cNvPr name="TextBox 36" id="36"/>
            <p:cNvSpPr txBox="true"/>
            <p:nvPr/>
          </p:nvSpPr>
          <p:spPr>
            <a:xfrm>
              <a:off x="0" y="0"/>
              <a:ext cx="4937760" cy="2377440"/>
            </a:xfrm>
            <a:prstGeom prst="rect">
              <a:avLst/>
            </a:prstGeom>
          </p:spPr>
          <p:txBody>
            <a:bodyPr anchor="ctr" rtlCol="false" tIns="0" lIns="0" bIns="0" rIns="0"/>
            <a:lstStyle/>
            <a:p>
              <a:pPr algn="l">
                <a:lnSpc>
                  <a:spcPts val="8640"/>
                </a:lnSpc>
              </a:pPr>
              <a:r>
                <a:rPr lang="en-US" sz="7200" b="true">
                  <a:solidFill>
                    <a:srgbClr val="F5582E"/>
                  </a:solidFill>
                  <a:latin typeface="Helvetica World Bold"/>
                  <a:ea typeface="Helvetica World Bold"/>
                  <a:cs typeface="Helvetica World Bold"/>
                  <a:sym typeface="Helvetica World Bold"/>
                </a:rPr>
                <a:t>0,8058</a:t>
              </a:r>
            </a:p>
          </p:txBody>
        </p:sp>
      </p:grpSp>
      <p:sp>
        <p:nvSpPr>
          <p:cNvPr name="TextBox 37" id="37"/>
          <p:cNvSpPr txBox="true"/>
          <p:nvPr/>
        </p:nvSpPr>
        <p:spPr>
          <a:xfrm rot="0">
            <a:off x="4937760" y="5897880"/>
            <a:ext cx="3703320" cy="960120"/>
          </a:xfrm>
          <a:prstGeom prst="rect">
            <a:avLst/>
          </a:prstGeom>
        </p:spPr>
        <p:txBody>
          <a:bodyPr anchor="t" rtlCol="false" tIns="0" lIns="0" bIns="0" rIns="0">
            <a:spAutoFit/>
          </a:bodyPr>
          <a:lstStyle/>
          <a:p>
            <a:pPr algn="l">
              <a:lnSpc>
                <a:spcPts val="2520"/>
              </a:lnSpc>
            </a:pPr>
            <a:r>
              <a:rPr lang="en-US" sz="2100" b="true">
                <a:solidFill>
                  <a:srgbClr val="000000"/>
                </a:solidFill>
                <a:latin typeface="Helvetica World Bold"/>
                <a:ea typeface="Helvetica World Bold"/>
                <a:cs typeface="Helvetica World Bold"/>
                <a:sym typeface="Helvetica World Bold"/>
              </a:rPr>
              <a:t>Macro-F1 Hatefulness tertinggi (uji)</a:t>
            </a:r>
          </a:p>
        </p:txBody>
      </p:sp>
      <p:sp>
        <p:nvSpPr>
          <p:cNvPr name="TextBox 38" id="38"/>
          <p:cNvSpPr txBox="true"/>
          <p:nvPr/>
        </p:nvSpPr>
        <p:spPr>
          <a:xfrm rot="0">
            <a:off x="4937760" y="6936105"/>
            <a:ext cx="3703320" cy="257175"/>
          </a:xfrm>
          <a:prstGeom prst="rect">
            <a:avLst/>
          </a:prstGeom>
        </p:spPr>
        <p:txBody>
          <a:bodyPr anchor="t" rtlCol="false" tIns="0" lIns="0" bIns="0" rIns="0">
            <a:spAutoFit/>
          </a:bodyPr>
          <a:lstStyle/>
          <a:p>
            <a:pPr algn="l">
              <a:lnSpc>
                <a:spcPts val="2160"/>
              </a:lnSpc>
            </a:pPr>
            <a:r>
              <a:rPr lang="en-US" sz="1800">
                <a:solidFill>
                  <a:srgbClr val="595959"/>
                </a:solidFill>
                <a:latin typeface="Noto Serif"/>
                <a:ea typeface="Noto Serif"/>
                <a:cs typeface="Noto Serif"/>
                <a:sym typeface="Noto Serif"/>
              </a:rPr>
              <a:t>E041 · IndoBERTweet</a:t>
            </a:r>
          </a:p>
        </p:txBody>
      </p:sp>
      <p:grpSp>
        <p:nvGrpSpPr>
          <p:cNvPr name="Group 39" id="39"/>
          <p:cNvGrpSpPr/>
          <p:nvPr/>
        </p:nvGrpSpPr>
        <p:grpSpPr>
          <a:xfrm rot="0">
            <a:off x="9319736" y="5479256"/>
            <a:ext cx="8106728" cy="2208848"/>
            <a:chOff x="0" y="0"/>
            <a:chExt cx="10808970" cy="2945130"/>
          </a:xfrm>
        </p:grpSpPr>
        <p:sp>
          <p:nvSpPr>
            <p:cNvPr name="Freeform 40" id="40"/>
            <p:cNvSpPr/>
            <p:nvPr/>
          </p:nvSpPr>
          <p:spPr>
            <a:xfrm flipH="false" flipV="false" rot="0">
              <a:off x="0" y="0"/>
              <a:ext cx="10808970" cy="2945130"/>
            </a:xfrm>
            <a:custGeom>
              <a:avLst/>
              <a:gdLst/>
              <a:ahLst/>
              <a:cxnLst/>
              <a:rect r="r" b="b" t="t" l="l"/>
              <a:pathLst>
                <a:path h="2945130" w="10808970">
                  <a:moveTo>
                    <a:pt x="0" y="220853"/>
                  </a:moveTo>
                  <a:cubicBezTo>
                    <a:pt x="0" y="98933"/>
                    <a:pt x="98933" y="0"/>
                    <a:pt x="220853" y="0"/>
                  </a:cubicBezTo>
                  <a:lnTo>
                    <a:pt x="10588117" y="0"/>
                  </a:lnTo>
                  <a:cubicBezTo>
                    <a:pt x="10710164" y="0"/>
                    <a:pt x="10808970" y="98933"/>
                    <a:pt x="10808970" y="220853"/>
                  </a:cubicBezTo>
                  <a:lnTo>
                    <a:pt x="10808970" y="2724277"/>
                  </a:lnTo>
                  <a:cubicBezTo>
                    <a:pt x="10808970" y="2846324"/>
                    <a:pt x="10710037" y="2945130"/>
                    <a:pt x="10588117" y="2945130"/>
                  </a:cubicBezTo>
                  <a:lnTo>
                    <a:pt x="220853" y="2945130"/>
                  </a:lnTo>
                  <a:cubicBezTo>
                    <a:pt x="98933" y="2945130"/>
                    <a:pt x="0" y="2846197"/>
                    <a:pt x="0" y="2724277"/>
                  </a:cubicBezTo>
                  <a:close/>
                </a:path>
              </a:pathLst>
            </a:custGeom>
            <a:solidFill>
              <a:srgbClr val="FFFFFF"/>
            </a:solidFill>
            <a:ln w="14288" cap="sq">
              <a:solidFill>
                <a:srgbClr val="000000"/>
              </a:solidFill>
              <a:prstDash val="solid"/>
              <a:miter/>
            </a:ln>
          </p:spPr>
        </p:sp>
      </p:grpSp>
      <p:grpSp>
        <p:nvGrpSpPr>
          <p:cNvPr name="Group 41" id="41"/>
          <p:cNvGrpSpPr/>
          <p:nvPr/>
        </p:nvGrpSpPr>
        <p:grpSpPr>
          <a:xfrm rot="0">
            <a:off x="9738360" y="5692140"/>
            <a:ext cx="3703320" cy="1783080"/>
            <a:chOff x="0" y="0"/>
            <a:chExt cx="4937760" cy="2377440"/>
          </a:xfrm>
        </p:grpSpPr>
        <p:sp>
          <p:nvSpPr>
            <p:cNvPr name="Freeform 42" id="42"/>
            <p:cNvSpPr/>
            <p:nvPr/>
          </p:nvSpPr>
          <p:spPr>
            <a:xfrm flipH="false" flipV="false" rot="0">
              <a:off x="0" y="0"/>
              <a:ext cx="4937760" cy="2377440"/>
            </a:xfrm>
            <a:custGeom>
              <a:avLst/>
              <a:gdLst/>
              <a:ahLst/>
              <a:cxnLst/>
              <a:rect r="r" b="b" t="t" l="l"/>
              <a:pathLst>
                <a:path h="2377440" w="4937760">
                  <a:moveTo>
                    <a:pt x="0" y="0"/>
                  </a:moveTo>
                  <a:lnTo>
                    <a:pt x="4937760" y="0"/>
                  </a:lnTo>
                  <a:lnTo>
                    <a:pt x="4937760" y="2377440"/>
                  </a:lnTo>
                  <a:lnTo>
                    <a:pt x="0" y="2377440"/>
                  </a:lnTo>
                  <a:close/>
                </a:path>
              </a:pathLst>
            </a:custGeom>
            <a:blipFill>
              <a:blip r:embed="rId3">
                <a:alphaModFix amt="0"/>
              </a:blip>
              <a:stretch>
                <a:fillRect l="-11775" t="0" r="-11775" b="0"/>
              </a:stretch>
            </a:blipFill>
          </p:spPr>
        </p:sp>
        <p:sp>
          <p:nvSpPr>
            <p:cNvPr name="TextBox 43" id="43"/>
            <p:cNvSpPr txBox="true"/>
            <p:nvPr/>
          </p:nvSpPr>
          <p:spPr>
            <a:xfrm>
              <a:off x="0" y="0"/>
              <a:ext cx="4937760" cy="2377440"/>
            </a:xfrm>
            <a:prstGeom prst="rect">
              <a:avLst/>
            </a:prstGeom>
          </p:spPr>
          <p:txBody>
            <a:bodyPr anchor="ctr" rtlCol="false" tIns="0" lIns="0" bIns="0" rIns="0"/>
            <a:lstStyle/>
            <a:p>
              <a:pPr algn="l">
                <a:lnSpc>
                  <a:spcPts val="8640"/>
                </a:lnSpc>
              </a:pPr>
              <a:r>
                <a:rPr lang="en-US" sz="7200" b="true">
                  <a:solidFill>
                    <a:srgbClr val="F5582E"/>
                  </a:solidFill>
                  <a:latin typeface="Helvetica World Bold"/>
                  <a:ea typeface="Helvetica World Bold"/>
                  <a:cs typeface="Helvetica World Bold"/>
                  <a:sym typeface="Helvetica World Bold"/>
                </a:rPr>
                <a:t>0,8125</a:t>
              </a:r>
            </a:p>
          </p:txBody>
        </p:sp>
      </p:grpSp>
      <p:sp>
        <p:nvSpPr>
          <p:cNvPr name="TextBox 44" id="44"/>
          <p:cNvSpPr txBox="true"/>
          <p:nvPr/>
        </p:nvSpPr>
        <p:spPr>
          <a:xfrm rot="0">
            <a:off x="13441680" y="5897880"/>
            <a:ext cx="3703320" cy="960120"/>
          </a:xfrm>
          <a:prstGeom prst="rect">
            <a:avLst/>
          </a:prstGeom>
        </p:spPr>
        <p:txBody>
          <a:bodyPr anchor="t" rtlCol="false" tIns="0" lIns="0" bIns="0" rIns="0">
            <a:spAutoFit/>
          </a:bodyPr>
          <a:lstStyle/>
          <a:p>
            <a:pPr algn="l">
              <a:lnSpc>
                <a:spcPts val="2520"/>
              </a:lnSpc>
            </a:pPr>
            <a:r>
              <a:rPr lang="en-US" sz="2100" b="true">
                <a:solidFill>
                  <a:srgbClr val="000000"/>
                </a:solidFill>
                <a:latin typeface="Helvetica World Bold"/>
                <a:ea typeface="Helvetica World Bold"/>
                <a:cs typeface="Helvetica World Bold"/>
                <a:sym typeface="Helvetica World Bold"/>
              </a:rPr>
              <a:t>Macro-F1 Appropriateness tertinggi (uji)</a:t>
            </a:r>
          </a:p>
        </p:txBody>
      </p:sp>
      <p:sp>
        <p:nvSpPr>
          <p:cNvPr name="TextBox 45" id="45"/>
          <p:cNvSpPr txBox="true"/>
          <p:nvPr/>
        </p:nvSpPr>
        <p:spPr>
          <a:xfrm rot="0">
            <a:off x="13441680" y="6936105"/>
            <a:ext cx="3703320" cy="257175"/>
          </a:xfrm>
          <a:prstGeom prst="rect">
            <a:avLst/>
          </a:prstGeom>
        </p:spPr>
        <p:txBody>
          <a:bodyPr anchor="t" rtlCol="false" tIns="0" lIns="0" bIns="0" rIns="0">
            <a:spAutoFit/>
          </a:bodyPr>
          <a:lstStyle/>
          <a:p>
            <a:pPr algn="l">
              <a:lnSpc>
                <a:spcPts val="2160"/>
              </a:lnSpc>
            </a:pPr>
            <a:r>
              <a:rPr lang="en-US" sz="1800">
                <a:solidFill>
                  <a:srgbClr val="595959"/>
                </a:solidFill>
                <a:latin typeface="Noto Serif"/>
                <a:ea typeface="Noto Serif"/>
                <a:cs typeface="Noto Serif"/>
                <a:sym typeface="Noto Serif"/>
              </a:rPr>
              <a:t>E060 · IndoBERTweet + ViT</a:t>
            </a:r>
          </a:p>
        </p:txBody>
      </p:sp>
      <p:sp>
        <p:nvSpPr>
          <p:cNvPr name="TextBox 46" id="46"/>
          <p:cNvSpPr txBox="true"/>
          <p:nvPr/>
        </p:nvSpPr>
        <p:spPr>
          <a:xfrm rot="0">
            <a:off x="822960" y="8161020"/>
            <a:ext cx="16596360" cy="1097280"/>
          </a:xfrm>
          <a:prstGeom prst="rect">
            <a:avLst/>
          </a:prstGeom>
        </p:spPr>
        <p:txBody>
          <a:bodyPr anchor="t" rtlCol="false" tIns="0" lIns="0" bIns="0" rIns="0">
            <a:spAutoFit/>
          </a:bodyPr>
          <a:lstStyle/>
          <a:p>
            <a:pPr algn="l">
              <a:lnSpc>
                <a:spcPts val="4320"/>
              </a:lnSpc>
            </a:pPr>
            <a:r>
              <a:rPr lang="en-US" sz="3600" i="true">
                <a:solidFill>
                  <a:srgbClr val="000000"/>
                </a:solidFill>
                <a:latin typeface="Noto Serif Italics"/>
                <a:ea typeface="Noto Serif Italics"/>
                <a:cs typeface="Noto Serif Italics"/>
                <a:sym typeface="Noto Serif Italics"/>
              </a:rPr>
              <a:t>“Lebih banyak modalitas tidak otomatis menjamin klasifikasi yang lebih baik.”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3</a:t>
            </a:r>
          </a:p>
        </p:txBody>
      </p:sp>
      <p:sp>
        <p:nvSpPr>
          <p:cNvPr name="TextBox 3" id="3"/>
          <p:cNvSpPr txBox="true"/>
          <p:nvPr/>
        </p:nvSpPr>
        <p:spPr>
          <a:xfrm rot="0">
            <a:off x="822960" y="655320"/>
            <a:ext cx="16596360" cy="1844040"/>
          </a:xfrm>
          <a:prstGeom prst="rect">
            <a:avLst/>
          </a:prstGeom>
        </p:spPr>
        <p:txBody>
          <a:bodyPr anchor="t" rtlCol="false" tIns="0" lIns="0" bIns="0" rIns="0">
            <a:spAutoFit/>
          </a:bodyPr>
          <a:lstStyle/>
          <a:p>
            <a:pPr algn="l">
              <a:lnSpc>
                <a:spcPts val="6839"/>
              </a:lnSpc>
            </a:pPr>
            <a:r>
              <a:rPr lang="en-US" sz="6000" b="true">
                <a:solidFill>
                  <a:srgbClr val="F5582E"/>
                </a:solidFill>
                <a:latin typeface="Helvetica World Bold"/>
                <a:ea typeface="Helvetica World Bold"/>
                <a:cs typeface="Helvetica World Bold"/>
                <a:sym typeface="Helvetica World Bold"/>
              </a:rPr>
              <a:t>MEMAHAMI MEME</a:t>
            </a:r>
          </a:p>
          <a:p>
            <a:pPr algn="l">
              <a:lnSpc>
                <a:spcPts val="6155"/>
              </a:lnSpc>
            </a:pPr>
            <a:r>
              <a:rPr lang="en-US" sz="5400" i="true">
                <a:solidFill>
                  <a:srgbClr val="000000"/>
                </a:solidFill>
                <a:latin typeface="Noto Serif Italics"/>
                <a:ea typeface="Noto Serif Italics"/>
                <a:cs typeface="Noto Serif Italics"/>
                <a:sym typeface="Noto Serif Italics"/>
              </a:rPr>
              <a:t>Memerlukan Konteks.</a:t>
            </a:r>
          </a:p>
        </p:txBody>
      </p:sp>
      <p:grpSp>
        <p:nvGrpSpPr>
          <p:cNvPr name="Group 4" id="4"/>
          <p:cNvGrpSpPr/>
          <p:nvPr/>
        </p:nvGrpSpPr>
        <p:grpSpPr>
          <a:xfrm rot="0">
            <a:off x="815816" y="3284696"/>
            <a:ext cx="3443288" cy="2208848"/>
            <a:chOff x="0" y="0"/>
            <a:chExt cx="4591050" cy="2945130"/>
          </a:xfrm>
        </p:grpSpPr>
        <p:sp>
          <p:nvSpPr>
            <p:cNvPr name="Freeform 5" id="5"/>
            <p:cNvSpPr/>
            <p:nvPr/>
          </p:nvSpPr>
          <p:spPr>
            <a:xfrm flipH="false" flipV="false" rot="0">
              <a:off x="0" y="0"/>
              <a:ext cx="4591050" cy="2945130"/>
            </a:xfrm>
            <a:custGeom>
              <a:avLst/>
              <a:gdLst/>
              <a:ahLst/>
              <a:cxnLst/>
              <a:rect r="r" b="b" t="t" l="l"/>
              <a:pathLst>
                <a:path h="2945130" w="4591050">
                  <a:moveTo>
                    <a:pt x="0" y="220853"/>
                  </a:moveTo>
                  <a:cubicBezTo>
                    <a:pt x="0" y="98933"/>
                    <a:pt x="98933" y="0"/>
                    <a:pt x="220853" y="0"/>
                  </a:cubicBezTo>
                  <a:lnTo>
                    <a:pt x="4370197" y="0"/>
                  </a:lnTo>
                  <a:cubicBezTo>
                    <a:pt x="4492244" y="0"/>
                    <a:pt x="4591050" y="98933"/>
                    <a:pt x="4591050" y="220853"/>
                  </a:cubicBezTo>
                  <a:lnTo>
                    <a:pt x="4591050" y="2724277"/>
                  </a:lnTo>
                  <a:cubicBezTo>
                    <a:pt x="4591050" y="2846324"/>
                    <a:pt x="4492117" y="2945130"/>
                    <a:pt x="4370197" y="2945130"/>
                  </a:cubicBezTo>
                  <a:lnTo>
                    <a:pt x="220853" y="2945130"/>
                  </a:lnTo>
                  <a:cubicBezTo>
                    <a:pt x="98933" y="2945130"/>
                    <a:pt x="0" y="2846197"/>
                    <a:pt x="0" y="2724277"/>
                  </a:cubicBezTo>
                  <a:close/>
                </a:path>
              </a:pathLst>
            </a:custGeom>
            <a:solidFill>
              <a:srgbClr val="FFFFFF"/>
            </a:solidFill>
            <a:ln w="14288" cap="sq">
              <a:solidFill>
                <a:srgbClr val="000000"/>
              </a:solidFill>
              <a:prstDash val="solid"/>
              <a:miter/>
            </a:ln>
          </p:spPr>
        </p:sp>
      </p:grpSp>
      <p:sp>
        <p:nvSpPr>
          <p:cNvPr name="TextBox 6" id="6"/>
          <p:cNvSpPr txBox="true"/>
          <p:nvPr/>
        </p:nvSpPr>
        <p:spPr>
          <a:xfrm rot="0">
            <a:off x="1097280" y="3566160"/>
            <a:ext cx="2880360" cy="54864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TEKS</a:t>
            </a:r>
          </a:p>
        </p:txBody>
      </p:sp>
      <p:sp>
        <p:nvSpPr>
          <p:cNvPr name="TextBox 7" id="7"/>
          <p:cNvSpPr txBox="true"/>
          <p:nvPr/>
        </p:nvSpPr>
        <p:spPr>
          <a:xfrm rot="0">
            <a:off x="1097280" y="4320540"/>
            <a:ext cx="2880360" cy="10972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Kalimat pada gambar (OCR) dan keterangan</a:t>
            </a:r>
          </a:p>
        </p:txBody>
      </p:sp>
      <p:sp>
        <p:nvSpPr>
          <p:cNvPr name="TextBox 8" id="8"/>
          <p:cNvSpPr txBox="true"/>
          <p:nvPr/>
        </p:nvSpPr>
        <p:spPr>
          <a:xfrm rot="0">
            <a:off x="4251960" y="3840480"/>
            <a:ext cx="685800" cy="822960"/>
          </a:xfrm>
          <a:prstGeom prst="rect">
            <a:avLst/>
          </a:prstGeom>
        </p:spPr>
        <p:txBody>
          <a:bodyPr anchor="t" rtlCol="false" tIns="0" lIns="0" bIns="0" rIns="0">
            <a:spAutoFit/>
          </a:bodyPr>
          <a:lstStyle/>
          <a:p>
            <a:pPr algn="ctr">
              <a:lnSpc>
                <a:spcPts val="5759"/>
              </a:lnSpc>
            </a:pPr>
            <a:r>
              <a:rPr lang="en-US" sz="4800" b="true">
                <a:solidFill>
                  <a:srgbClr val="000000"/>
                </a:solidFill>
                <a:latin typeface="Helvetica World Bold"/>
                <a:ea typeface="Helvetica World Bold"/>
                <a:cs typeface="Helvetica World Bold"/>
                <a:sym typeface="Helvetica World Bold"/>
              </a:rPr>
              <a:t>+</a:t>
            </a:r>
          </a:p>
        </p:txBody>
      </p:sp>
      <p:grpSp>
        <p:nvGrpSpPr>
          <p:cNvPr name="Group 9" id="9"/>
          <p:cNvGrpSpPr/>
          <p:nvPr/>
        </p:nvGrpSpPr>
        <p:grpSpPr>
          <a:xfrm rot="0">
            <a:off x="4930616" y="3284696"/>
            <a:ext cx="3443288" cy="2208848"/>
            <a:chOff x="0" y="0"/>
            <a:chExt cx="4591050" cy="2945130"/>
          </a:xfrm>
        </p:grpSpPr>
        <p:sp>
          <p:nvSpPr>
            <p:cNvPr name="Freeform 10" id="10"/>
            <p:cNvSpPr/>
            <p:nvPr/>
          </p:nvSpPr>
          <p:spPr>
            <a:xfrm flipH="false" flipV="false" rot="0">
              <a:off x="0" y="0"/>
              <a:ext cx="4591050" cy="2945130"/>
            </a:xfrm>
            <a:custGeom>
              <a:avLst/>
              <a:gdLst/>
              <a:ahLst/>
              <a:cxnLst/>
              <a:rect r="r" b="b" t="t" l="l"/>
              <a:pathLst>
                <a:path h="2945130" w="4591050">
                  <a:moveTo>
                    <a:pt x="0" y="220853"/>
                  </a:moveTo>
                  <a:cubicBezTo>
                    <a:pt x="0" y="98933"/>
                    <a:pt x="98933" y="0"/>
                    <a:pt x="220853" y="0"/>
                  </a:cubicBezTo>
                  <a:lnTo>
                    <a:pt x="4370197" y="0"/>
                  </a:lnTo>
                  <a:cubicBezTo>
                    <a:pt x="4492244" y="0"/>
                    <a:pt x="4591050" y="98933"/>
                    <a:pt x="4591050" y="220853"/>
                  </a:cubicBezTo>
                  <a:lnTo>
                    <a:pt x="4591050" y="2724277"/>
                  </a:lnTo>
                  <a:cubicBezTo>
                    <a:pt x="4591050" y="2846324"/>
                    <a:pt x="4492117" y="2945130"/>
                    <a:pt x="4370197" y="2945130"/>
                  </a:cubicBezTo>
                  <a:lnTo>
                    <a:pt x="220853" y="2945130"/>
                  </a:lnTo>
                  <a:cubicBezTo>
                    <a:pt x="98933" y="2945130"/>
                    <a:pt x="0" y="2846197"/>
                    <a:pt x="0" y="2724277"/>
                  </a:cubicBezTo>
                  <a:close/>
                </a:path>
              </a:pathLst>
            </a:custGeom>
            <a:solidFill>
              <a:srgbClr val="FFFFFF"/>
            </a:solidFill>
            <a:ln w="14288" cap="sq">
              <a:solidFill>
                <a:srgbClr val="000000"/>
              </a:solidFill>
              <a:prstDash val="solid"/>
              <a:miter/>
            </a:ln>
          </p:spPr>
        </p:sp>
      </p:grpSp>
      <p:sp>
        <p:nvSpPr>
          <p:cNvPr name="TextBox 11" id="11"/>
          <p:cNvSpPr txBox="true"/>
          <p:nvPr/>
        </p:nvSpPr>
        <p:spPr>
          <a:xfrm rot="0">
            <a:off x="5212080" y="3566160"/>
            <a:ext cx="2880360" cy="54864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GAMBAR</a:t>
            </a:r>
          </a:p>
        </p:txBody>
      </p:sp>
      <p:sp>
        <p:nvSpPr>
          <p:cNvPr name="TextBox 12" id="12"/>
          <p:cNvSpPr txBox="true"/>
          <p:nvPr/>
        </p:nvSpPr>
        <p:spPr>
          <a:xfrm rot="0">
            <a:off x="5212080" y="4320540"/>
            <a:ext cx="2880360" cy="10972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Elemen visual, ekspresi, dan simbol</a:t>
            </a:r>
          </a:p>
        </p:txBody>
      </p:sp>
      <p:sp>
        <p:nvSpPr>
          <p:cNvPr name="TextBox 13" id="13"/>
          <p:cNvSpPr txBox="true"/>
          <p:nvPr/>
        </p:nvSpPr>
        <p:spPr>
          <a:xfrm rot="0">
            <a:off x="8366760" y="3840480"/>
            <a:ext cx="685800" cy="822960"/>
          </a:xfrm>
          <a:prstGeom prst="rect">
            <a:avLst/>
          </a:prstGeom>
        </p:spPr>
        <p:txBody>
          <a:bodyPr anchor="t" rtlCol="false" tIns="0" lIns="0" bIns="0" rIns="0">
            <a:spAutoFit/>
          </a:bodyPr>
          <a:lstStyle/>
          <a:p>
            <a:pPr algn="ctr">
              <a:lnSpc>
                <a:spcPts val="5759"/>
              </a:lnSpc>
            </a:pPr>
            <a:r>
              <a:rPr lang="en-US" sz="4800" b="true">
                <a:solidFill>
                  <a:srgbClr val="000000"/>
                </a:solidFill>
                <a:latin typeface="Helvetica World Bold"/>
                <a:ea typeface="Helvetica World Bold"/>
                <a:cs typeface="Helvetica World Bold"/>
                <a:sym typeface="Helvetica World Bold"/>
              </a:rPr>
              <a:t>+</a:t>
            </a:r>
          </a:p>
        </p:txBody>
      </p:sp>
      <p:grpSp>
        <p:nvGrpSpPr>
          <p:cNvPr name="Group 14" id="14"/>
          <p:cNvGrpSpPr/>
          <p:nvPr/>
        </p:nvGrpSpPr>
        <p:grpSpPr>
          <a:xfrm rot="0">
            <a:off x="9045416" y="3284696"/>
            <a:ext cx="3443288" cy="2208848"/>
            <a:chOff x="0" y="0"/>
            <a:chExt cx="4591050" cy="2945130"/>
          </a:xfrm>
        </p:grpSpPr>
        <p:sp>
          <p:nvSpPr>
            <p:cNvPr name="Freeform 15" id="15"/>
            <p:cNvSpPr/>
            <p:nvPr/>
          </p:nvSpPr>
          <p:spPr>
            <a:xfrm flipH="false" flipV="false" rot="0">
              <a:off x="0" y="0"/>
              <a:ext cx="4591050" cy="2945130"/>
            </a:xfrm>
            <a:custGeom>
              <a:avLst/>
              <a:gdLst/>
              <a:ahLst/>
              <a:cxnLst/>
              <a:rect r="r" b="b" t="t" l="l"/>
              <a:pathLst>
                <a:path h="2945130" w="4591050">
                  <a:moveTo>
                    <a:pt x="0" y="220853"/>
                  </a:moveTo>
                  <a:cubicBezTo>
                    <a:pt x="0" y="98933"/>
                    <a:pt x="98933" y="0"/>
                    <a:pt x="220853" y="0"/>
                  </a:cubicBezTo>
                  <a:lnTo>
                    <a:pt x="4370197" y="0"/>
                  </a:lnTo>
                  <a:cubicBezTo>
                    <a:pt x="4492244" y="0"/>
                    <a:pt x="4591050" y="98933"/>
                    <a:pt x="4591050" y="220853"/>
                  </a:cubicBezTo>
                  <a:lnTo>
                    <a:pt x="4591050" y="2724277"/>
                  </a:lnTo>
                  <a:cubicBezTo>
                    <a:pt x="4591050" y="2846324"/>
                    <a:pt x="4492117" y="2945130"/>
                    <a:pt x="4370197" y="2945130"/>
                  </a:cubicBezTo>
                  <a:lnTo>
                    <a:pt x="220853" y="2945130"/>
                  </a:lnTo>
                  <a:cubicBezTo>
                    <a:pt x="98933" y="2945130"/>
                    <a:pt x="0" y="2846197"/>
                    <a:pt x="0" y="2724277"/>
                  </a:cubicBezTo>
                  <a:close/>
                </a:path>
              </a:pathLst>
            </a:custGeom>
            <a:solidFill>
              <a:srgbClr val="FFFFFF"/>
            </a:solidFill>
            <a:ln w="14288" cap="sq">
              <a:solidFill>
                <a:srgbClr val="000000"/>
              </a:solidFill>
              <a:prstDash val="solid"/>
              <a:miter/>
            </a:ln>
          </p:spPr>
        </p:sp>
      </p:grpSp>
      <p:sp>
        <p:nvSpPr>
          <p:cNvPr name="TextBox 16" id="16"/>
          <p:cNvSpPr txBox="true"/>
          <p:nvPr/>
        </p:nvSpPr>
        <p:spPr>
          <a:xfrm rot="0">
            <a:off x="9326880" y="3566160"/>
            <a:ext cx="2880360" cy="54864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KONTEKS BUDAYA</a:t>
            </a:r>
          </a:p>
        </p:txBody>
      </p:sp>
      <p:sp>
        <p:nvSpPr>
          <p:cNvPr name="TextBox 17" id="17"/>
          <p:cNvSpPr txBox="true"/>
          <p:nvPr/>
        </p:nvSpPr>
        <p:spPr>
          <a:xfrm rot="0">
            <a:off x="9326880" y="4320540"/>
            <a:ext cx="2880360" cy="10972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Rujukan lokal dan topik sosial</a:t>
            </a:r>
          </a:p>
        </p:txBody>
      </p:sp>
      <p:sp>
        <p:nvSpPr>
          <p:cNvPr name="AutoShape 18" id="18"/>
          <p:cNvSpPr/>
          <p:nvPr/>
        </p:nvSpPr>
        <p:spPr>
          <a:xfrm flipV="true">
            <a:off x="12488704" y="4389120"/>
            <a:ext cx="1082992" cy="45046"/>
          </a:xfrm>
          <a:prstGeom prst="line">
            <a:avLst/>
          </a:prstGeom>
          <a:ln cap="rnd" w="76200">
            <a:solidFill>
              <a:srgbClr val="F5582E"/>
            </a:solidFill>
            <a:prstDash val="solid"/>
            <a:headEnd type="none" len="sm" w="sm"/>
            <a:tailEnd type="triangle" len="med" w="lg"/>
          </a:ln>
        </p:spPr>
      </p:sp>
      <p:grpSp>
        <p:nvGrpSpPr>
          <p:cNvPr name="Group 19" id="19"/>
          <p:cNvGrpSpPr/>
          <p:nvPr/>
        </p:nvGrpSpPr>
        <p:grpSpPr>
          <a:xfrm rot="0">
            <a:off x="13571696" y="3284696"/>
            <a:ext cx="3854767" cy="2208848"/>
            <a:chOff x="0" y="0"/>
            <a:chExt cx="5139690" cy="2945130"/>
          </a:xfrm>
        </p:grpSpPr>
        <p:sp>
          <p:nvSpPr>
            <p:cNvPr name="Freeform 20" id="20"/>
            <p:cNvSpPr/>
            <p:nvPr/>
          </p:nvSpPr>
          <p:spPr>
            <a:xfrm flipH="false" flipV="false" rot="0">
              <a:off x="0" y="0"/>
              <a:ext cx="5139690" cy="2945130"/>
            </a:xfrm>
            <a:custGeom>
              <a:avLst/>
              <a:gdLst/>
              <a:ahLst/>
              <a:cxnLst/>
              <a:rect r="r" b="b" t="t" l="l"/>
              <a:pathLst>
                <a:path h="2945130" w="5139690">
                  <a:moveTo>
                    <a:pt x="0" y="220853"/>
                  </a:moveTo>
                  <a:cubicBezTo>
                    <a:pt x="0" y="98933"/>
                    <a:pt x="98933" y="0"/>
                    <a:pt x="220853" y="0"/>
                  </a:cubicBezTo>
                  <a:lnTo>
                    <a:pt x="4918837" y="0"/>
                  </a:lnTo>
                  <a:cubicBezTo>
                    <a:pt x="5040884" y="0"/>
                    <a:pt x="5139690" y="98933"/>
                    <a:pt x="5139690" y="220853"/>
                  </a:cubicBezTo>
                  <a:lnTo>
                    <a:pt x="5139690" y="2724277"/>
                  </a:lnTo>
                  <a:cubicBezTo>
                    <a:pt x="5139690" y="2846324"/>
                    <a:pt x="5040757" y="2945130"/>
                    <a:pt x="4918837" y="2945130"/>
                  </a:cubicBezTo>
                  <a:lnTo>
                    <a:pt x="220853" y="2945130"/>
                  </a:lnTo>
                  <a:cubicBezTo>
                    <a:pt x="98933" y="2945130"/>
                    <a:pt x="0" y="2846197"/>
                    <a:pt x="0" y="2724277"/>
                  </a:cubicBezTo>
                  <a:close/>
                </a:path>
              </a:pathLst>
            </a:custGeom>
            <a:solidFill>
              <a:srgbClr val="141221"/>
            </a:solidFill>
            <a:ln w="14288" cap="sq">
              <a:solidFill>
                <a:srgbClr val="000000"/>
              </a:solidFill>
              <a:prstDash val="solid"/>
              <a:miter/>
            </a:ln>
          </p:spPr>
        </p:sp>
      </p:grpSp>
      <p:grpSp>
        <p:nvGrpSpPr>
          <p:cNvPr name="Group 21" id="21"/>
          <p:cNvGrpSpPr/>
          <p:nvPr/>
        </p:nvGrpSpPr>
        <p:grpSpPr>
          <a:xfrm rot="0">
            <a:off x="13716000" y="3291840"/>
            <a:ext cx="3566160" cy="2194560"/>
            <a:chOff x="0" y="0"/>
            <a:chExt cx="4754880" cy="2926080"/>
          </a:xfrm>
        </p:grpSpPr>
        <p:sp>
          <p:nvSpPr>
            <p:cNvPr name="Freeform 22" id="22"/>
            <p:cNvSpPr/>
            <p:nvPr/>
          </p:nvSpPr>
          <p:spPr>
            <a:xfrm flipH="false" flipV="false" rot="0">
              <a:off x="0" y="0"/>
              <a:ext cx="4754880" cy="2926080"/>
            </a:xfrm>
            <a:custGeom>
              <a:avLst/>
              <a:gdLst/>
              <a:ahLst/>
              <a:cxnLst/>
              <a:rect r="r" b="b" t="t" l="l"/>
              <a:pathLst>
                <a:path h="2926080" w="4754880">
                  <a:moveTo>
                    <a:pt x="0" y="0"/>
                  </a:moveTo>
                  <a:lnTo>
                    <a:pt x="4754880" y="0"/>
                  </a:lnTo>
                  <a:lnTo>
                    <a:pt x="4754880" y="2926080"/>
                  </a:lnTo>
                  <a:lnTo>
                    <a:pt x="0" y="2926080"/>
                  </a:lnTo>
                  <a:close/>
                </a:path>
              </a:pathLst>
            </a:custGeom>
            <a:blipFill>
              <a:blip r:embed="rId3">
                <a:alphaModFix amt="0"/>
              </a:blip>
              <a:stretch>
                <a:fillRect l="-28956" t="0" r="-28956" b="0"/>
              </a:stretch>
            </a:blipFill>
          </p:spPr>
        </p:sp>
        <p:sp>
          <p:nvSpPr>
            <p:cNvPr name="TextBox 23" id="23"/>
            <p:cNvSpPr txBox="true"/>
            <p:nvPr/>
          </p:nvSpPr>
          <p:spPr>
            <a:xfrm>
              <a:off x="0" y="-9525"/>
              <a:ext cx="4754880" cy="2935605"/>
            </a:xfrm>
            <a:prstGeom prst="rect">
              <a:avLst/>
            </a:prstGeom>
          </p:spPr>
          <p:txBody>
            <a:bodyPr anchor="ctr" rtlCol="false" tIns="0" lIns="0" bIns="0" rIns="0"/>
            <a:lstStyle/>
            <a:p>
              <a:pPr algn="ctr">
                <a:lnSpc>
                  <a:spcPts val="2700"/>
                </a:lnSpc>
              </a:pPr>
              <a:r>
                <a:rPr lang="en-US" sz="2250" b="true">
                  <a:solidFill>
                    <a:srgbClr val="FFFFFF"/>
                  </a:solidFill>
                  <a:latin typeface="Helvetica World Bold"/>
                  <a:ea typeface="Helvetica World Bold"/>
                  <a:cs typeface="Helvetica World Bold"/>
                  <a:sym typeface="Helvetica World Bold"/>
                </a:rPr>
                <a:t>HATEFULNESS</a:t>
              </a:r>
            </a:p>
            <a:p>
              <a:pPr algn="ctr">
                <a:lnSpc>
                  <a:spcPts val="2700"/>
                </a:lnSpc>
              </a:pPr>
              <a:r>
                <a:rPr lang="en-US" sz="2250" b="true">
                  <a:solidFill>
                    <a:srgbClr val="FFFFFF"/>
                  </a:solidFill>
                  <a:latin typeface="Helvetica World Bold"/>
                  <a:ea typeface="Helvetica World Bold"/>
                  <a:cs typeface="Helvetica World Bold"/>
                  <a:sym typeface="Helvetica World Bold"/>
                </a:rPr>
                <a:t>/ APPROPRIATENESS</a:t>
              </a:r>
            </a:p>
          </p:txBody>
        </p:sp>
      </p:grpSp>
      <p:grpSp>
        <p:nvGrpSpPr>
          <p:cNvPr name="Group 24" id="24"/>
          <p:cNvGrpSpPr/>
          <p:nvPr/>
        </p:nvGrpSpPr>
        <p:grpSpPr>
          <a:xfrm rot="0">
            <a:off x="815816" y="6027896"/>
            <a:ext cx="8106728" cy="3168967"/>
            <a:chOff x="0" y="0"/>
            <a:chExt cx="10808970" cy="4225290"/>
          </a:xfrm>
        </p:grpSpPr>
        <p:sp>
          <p:nvSpPr>
            <p:cNvPr name="Freeform 25" id="25"/>
            <p:cNvSpPr/>
            <p:nvPr/>
          </p:nvSpPr>
          <p:spPr>
            <a:xfrm flipH="false" flipV="false" rot="0">
              <a:off x="0" y="0"/>
              <a:ext cx="10808970" cy="4225290"/>
            </a:xfrm>
            <a:custGeom>
              <a:avLst/>
              <a:gdLst/>
              <a:ahLst/>
              <a:cxnLst/>
              <a:rect r="r" b="b" t="t" l="l"/>
              <a:pathLst>
                <a:path h="4225290" w="10808970">
                  <a:moveTo>
                    <a:pt x="0" y="220472"/>
                  </a:moveTo>
                  <a:cubicBezTo>
                    <a:pt x="0" y="98679"/>
                    <a:pt x="98679" y="0"/>
                    <a:pt x="220472" y="0"/>
                  </a:cubicBezTo>
                  <a:lnTo>
                    <a:pt x="10588498" y="0"/>
                  </a:lnTo>
                  <a:cubicBezTo>
                    <a:pt x="10710291" y="0"/>
                    <a:pt x="10808970" y="98679"/>
                    <a:pt x="10808970" y="220472"/>
                  </a:cubicBezTo>
                  <a:lnTo>
                    <a:pt x="10808970" y="4004818"/>
                  </a:lnTo>
                  <a:cubicBezTo>
                    <a:pt x="10808970" y="4126611"/>
                    <a:pt x="10710291" y="4225290"/>
                    <a:pt x="10588498" y="4225290"/>
                  </a:cubicBezTo>
                  <a:lnTo>
                    <a:pt x="220472" y="4225290"/>
                  </a:lnTo>
                  <a:cubicBezTo>
                    <a:pt x="98679" y="4225290"/>
                    <a:pt x="0" y="4126611"/>
                    <a:pt x="0" y="4004818"/>
                  </a:cubicBezTo>
                  <a:close/>
                </a:path>
              </a:pathLst>
            </a:custGeom>
            <a:solidFill>
              <a:srgbClr val="FFFFFF"/>
            </a:solidFill>
            <a:ln w="14288" cap="sq">
              <a:solidFill>
                <a:srgbClr val="000000"/>
              </a:solidFill>
              <a:prstDash val="solid"/>
              <a:miter/>
            </a:ln>
          </p:spPr>
        </p:sp>
      </p:grpSp>
      <p:grpSp>
        <p:nvGrpSpPr>
          <p:cNvPr name="Group 26" id="26"/>
          <p:cNvGrpSpPr/>
          <p:nvPr/>
        </p:nvGrpSpPr>
        <p:grpSpPr>
          <a:xfrm rot="0">
            <a:off x="815816" y="6027896"/>
            <a:ext cx="8106728" cy="453200"/>
            <a:chOff x="0" y="0"/>
            <a:chExt cx="10808970" cy="604266"/>
          </a:xfrm>
        </p:grpSpPr>
        <p:sp>
          <p:nvSpPr>
            <p:cNvPr name="Freeform 27" id="27"/>
            <p:cNvSpPr/>
            <p:nvPr/>
          </p:nvSpPr>
          <p:spPr>
            <a:xfrm flipH="false" flipV="false" rot="0">
              <a:off x="0" y="0"/>
              <a:ext cx="10808970" cy="604266"/>
            </a:xfrm>
            <a:custGeom>
              <a:avLst/>
              <a:gdLst/>
              <a:ahLst/>
              <a:cxnLst/>
              <a:rect r="r" b="b" t="t" l="l"/>
              <a:pathLst>
                <a:path h="604266" w="10808970">
                  <a:moveTo>
                    <a:pt x="0" y="226568"/>
                  </a:moveTo>
                  <a:cubicBezTo>
                    <a:pt x="0" y="101473"/>
                    <a:pt x="101473" y="0"/>
                    <a:pt x="226568" y="0"/>
                  </a:cubicBezTo>
                  <a:lnTo>
                    <a:pt x="10582402" y="0"/>
                  </a:lnTo>
                  <a:cubicBezTo>
                    <a:pt x="10707497" y="0"/>
                    <a:pt x="10808970" y="101473"/>
                    <a:pt x="10808970" y="226568"/>
                  </a:cubicBezTo>
                  <a:lnTo>
                    <a:pt x="10808970" y="377698"/>
                  </a:lnTo>
                  <a:cubicBezTo>
                    <a:pt x="10808970" y="502793"/>
                    <a:pt x="10707497" y="604266"/>
                    <a:pt x="105824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28" id="28"/>
          <p:cNvGrpSpPr/>
          <p:nvPr/>
        </p:nvGrpSpPr>
        <p:grpSpPr>
          <a:xfrm rot="0">
            <a:off x="827151" y="6244971"/>
            <a:ext cx="8084058" cy="238506"/>
            <a:chOff x="0" y="0"/>
            <a:chExt cx="10778744" cy="318008"/>
          </a:xfrm>
        </p:grpSpPr>
        <p:sp>
          <p:nvSpPr>
            <p:cNvPr name="Freeform 29" id="29"/>
            <p:cNvSpPr/>
            <p:nvPr/>
          </p:nvSpPr>
          <p:spPr>
            <a:xfrm flipH="false" flipV="false" rot="0">
              <a:off x="0" y="0"/>
              <a:ext cx="10778744" cy="318008"/>
            </a:xfrm>
            <a:custGeom>
              <a:avLst/>
              <a:gdLst/>
              <a:ahLst/>
              <a:cxnLst/>
              <a:rect r="r" b="b" t="t" l="l"/>
              <a:pathLst>
                <a:path h="318008" w="10778744">
                  <a:moveTo>
                    <a:pt x="0" y="0"/>
                  </a:moveTo>
                  <a:lnTo>
                    <a:pt x="10778744" y="0"/>
                  </a:lnTo>
                  <a:lnTo>
                    <a:pt x="10778744" y="318008"/>
                  </a:lnTo>
                  <a:lnTo>
                    <a:pt x="0" y="318008"/>
                  </a:lnTo>
                  <a:close/>
                </a:path>
              </a:pathLst>
            </a:custGeom>
            <a:solidFill>
              <a:srgbClr val="F5582E"/>
            </a:solidFill>
            <a:ln w="19050" cap="sq">
              <a:solidFill>
                <a:srgbClr val="F5582E"/>
              </a:solidFill>
              <a:prstDash val="solid"/>
              <a:miter/>
            </a:ln>
          </p:spPr>
        </p:sp>
      </p:grpSp>
      <p:sp>
        <p:nvSpPr>
          <p:cNvPr name="AutoShape 30" id="30"/>
          <p:cNvSpPr/>
          <p:nvPr/>
        </p:nvSpPr>
        <p:spPr>
          <a:xfrm rot="6060">
            <a:off x="815807" y="6469190"/>
            <a:ext cx="8106737" cy="0"/>
          </a:xfrm>
          <a:prstGeom prst="line">
            <a:avLst/>
          </a:prstGeom>
          <a:ln cap="rnd" w="9525">
            <a:solidFill>
              <a:srgbClr val="000000"/>
            </a:solidFill>
            <a:prstDash val="solid"/>
            <a:headEnd type="none" len="sm" w="sm"/>
            <a:tailEnd type="none" len="sm" w="sm"/>
          </a:ln>
        </p:spPr>
      </p:sp>
      <p:sp>
        <p:nvSpPr>
          <p:cNvPr name="TextBox 31" id="31"/>
          <p:cNvSpPr txBox="true"/>
          <p:nvPr/>
        </p:nvSpPr>
        <p:spPr>
          <a:xfrm rot="0">
            <a:off x="1165860" y="6711315"/>
            <a:ext cx="7406640" cy="2204085"/>
          </a:xfrm>
          <a:prstGeom prst="rect">
            <a:avLst/>
          </a:prstGeom>
        </p:spPr>
        <p:txBody>
          <a:bodyPr anchor="t" rtlCol="false" tIns="0" lIns="0" bIns="0" rIns="0">
            <a:spAutoFit/>
          </a:bodyPr>
          <a:lstStyle/>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Meme memadukan teks, visual, dan rujukan budaya.</a:t>
            </a:r>
          </a:p>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Hatefulness berbeda dari appropriateness: konten tidak pantas belum tentu ujaran kebencian.</a:t>
            </a:r>
          </a:p>
        </p:txBody>
      </p:sp>
      <p:grpSp>
        <p:nvGrpSpPr>
          <p:cNvPr name="Group 32" id="32"/>
          <p:cNvGrpSpPr/>
          <p:nvPr/>
        </p:nvGrpSpPr>
        <p:grpSpPr>
          <a:xfrm rot="0">
            <a:off x="9619107" y="6190107"/>
            <a:ext cx="7974330" cy="3173730"/>
            <a:chOff x="0" y="0"/>
            <a:chExt cx="10632440" cy="4231640"/>
          </a:xfrm>
        </p:grpSpPr>
        <p:sp>
          <p:nvSpPr>
            <p:cNvPr name="Freeform 33" id="33"/>
            <p:cNvSpPr/>
            <p:nvPr/>
          </p:nvSpPr>
          <p:spPr>
            <a:xfrm flipH="false" flipV="false" rot="0">
              <a:off x="0" y="0"/>
              <a:ext cx="10632440" cy="4231640"/>
            </a:xfrm>
            <a:custGeom>
              <a:avLst/>
              <a:gdLst/>
              <a:ahLst/>
              <a:cxnLst/>
              <a:rect r="r" b="b" t="t" l="l"/>
              <a:pathLst>
                <a:path h="4231640" w="10632440">
                  <a:moveTo>
                    <a:pt x="0" y="220726"/>
                  </a:moveTo>
                  <a:cubicBezTo>
                    <a:pt x="0" y="98806"/>
                    <a:pt x="98806" y="0"/>
                    <a:pt x="220726" y="0"/>
                  </a:cubicBezTo>
                  <a:lnTo>
                    <a:pt x="10411714" y="0"/>
                  </a:lnTo>
                  <a:cubicBezTo>
                    <a:pt x="10533634" y="0"/>
                    <a:pt x="10632440" y="98806"/>
                    <a:pt x="10632440" y="220726"/>
                  </a:cubicBezTo>
                  <a:lnTo>
                    <a:pt x="10632440" y="4010914"/>
                  </a:lnTo>
                  <a:cubicBezTo>
                    <a:pt x="10632440" y="4132834"/>
                    <a:pt x="10533634" y="4231640"/>
                    <a:pt x="10411714" y="4231640"/>
                  </a:cubicBezTo>
                  <a:lnTo>
                    <a:pt x="220726" y="4231640"/>
                  </a:lnTo>
                  <a:cubicBezTo>
                    <a:pt x="98806" y="4231640"/>
                    <a:pt x="0" y="4132834"/>
                    <a:pt x="0" y="4010914"/>
                  </a:cubicBezTo>
                  <a:close/>
                </a:path>
              </a:pathLst>
            </a:custGeom>
            <a:solidFill>
              <a:srgbClr val="F5582E"/>
            </a:solidFill>
            <a:ln w="19050" cap="sq">
              <a:solidFill>
                <a:srgbClr val="F5582E"/>
              </a:solidFill>
              <a:prstDash val="solid"/>
              <a:miter/>
            </a:ln>
          </p:spPr>
        </p:sp>
      </p:grpSp>
      <p:grpSp>
        <p:nvGrpSpPr>
          <p:cNvPr name="Group 34" id="34"/>
          <p:cNvGrpSpPr/>
          <p:nvPr/>
        </p:nvGrpSpPr>
        <p:grpSpPr>
          <a:xfrm rot="0">
            <a:off x="9456896" y="6027896"/>
            <a:ext cx="7969568" cy="3168967"/>
            <a:chOff x="0" y="0"/>
            <a:chExt cx="10626090" cy="4225290"/>
          </a:xfrm>
        </p:grpSpPr>
        <p:sp>
          <p:nvSpPr>
            <p:cNvPr name="Freeform 35" id="35"/>
            <p:cNvSpPr/>
            <p:nvPr/>
          </p:nvSpPr>
          <p:spPr>
            <a:xfrm flipH="false" flipV="false" rot="0">
              <a:off x="0" y="0"/>
              <a:ext cx="10626090" cy="4225290"/>
            </a:xfrm>
            <a:custGeom>
              <a:avLst/>
              <a:gdLst/>
              <a:ahLst/>
              <a:cxnLst/>
              <a:rect r="r" b="b" t="t" l="l"/>
              <a:pathLst>
                <a:path h="4225290" w="10626090">
                  <a:moveTo>
                    <a:pt x="0" y="220472"/>
                  </a:moveTo>
                  <a:cubicBezTo>
                    <a:pt x="0" y="98679"/>
                    <a:pt x="98679" y="0"/>
                    <a:pt x="220472" y="0"/>
                  </a:cubicBezTo>
                  <a:lnTo>
                    <a:pt x="10405618" y="0"/>
                  </a:lnTo>
                  <a:cubicBezTo>
                    <a:pt x="10527412" y="0"/>
                    <a:pt x="10626090" y="98679"/>
                    <a:pt x="10626090" y="220472"/>
                  </a:cubicBezTo>
                  <a:lnTo>
                    <a:pt x="10626090" y="4004818"/>
                  </a:lnTo>
                  <a:cubicBezTo>
                    <a:pt x="10626090" y="4126611"/>
                    <a:pt x="10527412" y="4225290"/>
                    <a:pt x="10405618" y="4225290"/>
                  </a:cubicBezTo>
                  <a:lnTo>
                    <a:pt x="220472" y="4225290"/>
                  </a:lnTo>
                  <a:cubicBezTo>
                    <a:pt x="98679" y="4225290"/>
                    <a:pt x="0" y="4126611"/>
                    <a:pt x="0" y="4004818"/>
                  </a:cubicBezTo>
                  <a:close/>
                </a:path>
              </a:pathLst>
            </a:custGeom>
            <a:solidFill>
              <a:srgbClr val="FFFFFF"/>
            </a:solidFill>
            <a:ln w="14288" cap="sq">
              <a:solidFill>
                <a:srgbClr val="000000"/>
              </a:solidFill>
              <a:prstDash val="solid"/>
              <a:miter/>
            </a:ln>
          </p:spPr>
        </p:sp>
      </p:grpSp>
      <p:grpSp>
        <p:nvGrpSpPr>
          <p:cNvPr name="Group 36" id="36"/>
          <p:cNvGrpSpPr/>
          <p:nvPr/>
        </p:nvGrpSpPr>
        <p:grpSpPr>
          <a:xfrm rot="0">
            <a:off x="9875520" y="6172200"/>
            <a:ext cx="3566160" cy="2880360"/>
            <a:chOff x="0" y="0"/>
            <a:chExt cx="4754880" cy="3840480"/>
          </a:xfrm>
        </p:grpSpPr>
        <p:sp>
          <p:nvSpPr>
            <p:cNvPr name="Freeform 37" id="37"/>
            <p:cNvSpPr/>
            <p:nvPr/>
          </p:nvSpPr>
          <p:spPr>
            <a:xfrm flipH="false" flipV="false" rot="0">
              <a:off x="0" y="0"/>
              <a:ext cx="4754880" cy="3840480"/>
            </a:xfrm>
            <a:custGeom>
              <a:avLst/>
              <a:gdLst/>
              <a:ahLst/>
              <a:cxnLst/>
              <a:rect r="r" b="b" t="t" l="l"/>
              <a:pathLst>
                <a:path h="3840480" w="4754880">
                  <a:moveTo>
                    <a:pt x="0" y="0"/>
                  </a:moveTo>
                  <a:lnTo>
                    <a:pt x="4754880" y="0"/>
                  </a:lnTo>
                  <a:lnTo>
                    <a:pt x="4754880" y="3840480"/>
                  </a:lnTo>
                  <a:lnTo>
                    <a:pt x="0" y="3840480"/>
                  </a:lnTo>
                  <a:close/>
                </a:path>
              </a:pathLst>
            </a:custGeom>
            <a:blipFill>
              <a:blip r:embed="rId3">
                <a:alphaModFix amt="0"/>
              </a:blip>
              <a:stretch>
                <a:fillRect l="-53629" t="0" r="-53629" b="0"/>
              </a:stretch>
            </a:blipFill>
          </p:spPr>
        </p:sp>
        <p:sp>
          <p:nvSpPr>
            <p:cNvPr name="TextBox 38" id="38"/>
            <p:cNvSpPr txBox="true"/>
            <p:nvPr/>
          </p:nvSpPr>
          <p:spPr>
            <a:xfrm>
              <a:off x="0" y="0"/>
              <a:ext cx="4754880" cy="3840480"/>
            </a:xfrm>
            <a:prstGeom prst="rect">
              <a:avLst/>
            </a:prstGeom>
          </p:spPr>
          <p:txBody>
            <a:bodyPr anchor="ctr" rtlCol="false" tIns="0" lIns="0" bIns="0" rIns="0"/>
            <a:lstStyle/>
            <a:p>
              <a:pPr algn="l">
                <a:lnSpc>
                  <a:spcPts val="14400"/>
                </a:lnSpc>
              </a:pPr>
              <a:r>
                <a:rPr lang="en-US" sz="12000" b="true">
                  <a:solidFill>
                    <a:srgbClr val="F5582E"/>
                  </a:solidFill>
                  <a:latin typeface="Noto Serif Bold"/>
                  <a:ea typeface="Noto Serif Bold"/>
                  <a:cs typeface="Noto Serif Bold"/>
                  <a:sym typeface="Noto Serif Bold"/>
                </a:rPr>
                <a:t>431</a:t>
              </a:r>
            </a:p>
          </p:txBody>
        </p:sp>
      </p:grpSp>
      <p:sp>
        <p:nvSpPr>
          <p:cNvPr name="TextBox 39" id="39"/>
          <p:cNvSpPr txBox="true"/>
          <p:nvPr/>
        </p:nvSpPr>
        <p:spPr>
          <a:xfrm rot="0">
            <a:off x="13441680" y="6711315"/>
            <a:ext cx="3703320" cy="1655445"/>
          </a:xfrm>
          <a:prstGeom prst="rect">
            <a:avLst/>
          </a:prstGeom>
        </p:spPr>
        <p:txBody>
          <a:bodyPr anchor="t" rtlCol="false" tIns="0" lIns="0" bIns="0" rIns="0">
            <a:spAutoFit/>
          </a:bodyPr>
          <a:lstStyle/>
          <a:p>
            <a:pPr algn="l">
              <a:lnSpc>
                <a:spcPts val="2700"/>
              </a:lnSpc>
            </a:pPr>
            <a:r>
              <a:rPr lang="en-US" sz="2250" b="true">
                <a:solidFill>
                  <a:srgbClr val="000000"/>
                </a:solidFill>
                <a:latin typeface="Helvetica World Bold"/>
                <a:ea typeface="Helvetica World Bold"/>
                <a:cs typeface="Helvetica World Bold"/>
                <a:sym typeface="Helvetica World Bold"/>
              </a:rPr>
              <a:t>meme berlabel Not Hate tetapi Inappropriate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4</a:t>
            </a:r>
          </a:p>
        </p:txBody>
      </p:sp>
      <p:sp>
        <p:nvSpPr>
          <p:cNvPr name="TextBox 3" id="3"/>
          <p:cNvSpPr txBox="true"/>
          <p:nvPr/>
        </p:nvSpPr>
        <p:spPr>
          <a:xfrm rot="0">
            <a:off x="822960" y="645795"/>
            <a:ext cx="16596360" cy="1804035"/>
          </a:xfrm>
          <a:prstGeom prst="rect">
            <a:avLst/>
          </a:prstGeom>
        </p:spPr>
        <p:txBody>
          <a:bodyPr anchor="t" rtlCol="false" tIns="0" lIns="0" bIns="0" rIns="0">
            <a:spAutoFit/>
          </a:bodyPr>
          <a:lstStyle/>
          <a:p>
            <a:pPr algn="l">
              <a:lnSpc>
                <a:spcPts val="6497"/>
              </a:lnSpc>
            </a:pPr>
            <a:r>
              <a:rPr lang="en-US" sz="5700" b="true">
                <a:solidFill>
                  <a:srgbClr val="F5582E"/>
                </a:solidFill>
                <a:latin typeface="Helvetica World Bold"/>
                <a:ea typeface="Helvetica World Bold"/>
                <a:cs typeface="Helvetica World Bold"/>
                <a:sym typeface="Helvetica World Bold"/>
              </a:rPr>
              <a:t>APA YANG KAMI REPRODUKSI?</a:t>
            </a:r>
          </a:p>
          <a:p>
            <a:pPr algn="l">
              <a:lnSpc>
                <a:spcPts val="6155"/>
              </a:lnSpc>
            </a:pPr>
            <a:r>
              <a:rPr lang="en-US" sz="5400" i="true">
                <a:solidFill>
                  <a:srgbClr val="000000"/>
                </a:solidFill>
                <a:latin typeface="Noto Serif Italics"/>
                <a:ea typeface="Noto Serif Italics"/>
                <a:cs typeface="Noto Serif Italics"/>
                <a:sym typeface="Noto Serif Italics"/>
              </a:rPr>
              <a:t>Dua Fokus Eksperimen.</a:t>
            </a:r>
          </a:p>
        </p:txBody>
      </p:sp>
      <p:grpSp>
        <p:nvGrpSpPr>
          <p:cNvPr name="Group 4" id="4"/>
          <p:cNvGrpSpPr/>
          <p:nvPr/>
        </p:nvGrpSpPr>
        <p:grpSpPr>
          <a:xfrm rot="0">
            <a:off x="815816" y="3010376"/>
            <a:ext cx="8106728" cy="3717608"/>
            <a:chOff x="0" y="0"/>
            <a:chExt cx="10808970" cy="4956810"/>
          </a:xfrm>
        </p:grpSpPr>
        <p:sp>
          <p:nvSpPr>
            <p:cNvPr name="Freeform 5" id="5"/>
            <p:cNvSpPr/>
            <p:nvPr/>
          </p:nvSpPr>
          <p:spPr>
            <a:xfrm flipH="false" flipV="false" rot="0">
              <a:off x="0" y="0"/>
              <a:ext cx="10808970" cy="4956810"/>
            </a:xfrm>
            <a:custGeom>
              <a:avLst/>
              <a:gdLst/>
              <a:ahLst/>
              <a:cxnLst/>
              <a:rect r="r" b="b" t="t" l="l"/>
              <a:pathLst>
                <a:path h="4956810" w="10808970">
                  <a:moveTo>
                    <a:pt x="0" y="220218"/>
                  </a:moveTo>
                  <a:cubicBezTo>
                    <a:pt x="0" y="98679"/>
                    <a:pt x="98679" y="0"/>
                    <a:pt x="220218" y="0"/>
                  </a:cubicBezTo>
                  <a:lnTo>
                    <a:pt x="10588752" y="0"/>
                  </a:lnTo>
                  <a:cubicBezTo>
                    <a:pt x="10710418" y="0"/>
                    <a:pt x="10808970" y="98679"/>
                    <a:pt x="10808970" y="220218"/>
                  </a:cubicBezTo>
                  <a:lnTo>
                    <a:pt x="10808970" y="4736592"/>
                  </a:lnTo>
                  <a:cubicBezTo>
                    <a:pt x="10808970" y="4858258"/>
                    <a:pt x="10710291" y="4956810"/>
                    <a:pt x="10588752" y="4956810"/>
                  </a:cubicBezTo>
                  <a:lnTo>
                    <a:pt x="220218" y="4956810"/>
                  </a:lnTo>
                  <a:cubicBezTo>
                    <a:pt x="98679" y="4956810"/>
                    <a:pt x="0" y="4858131"/>
                    <a:pt x="0" y="4736592"/>
                  </a:cubicBezTo>
                  <a:close/>
                </a:path>
              </a:pathLst>
            </a:custGeom>
            <a:solidFill>
              <a:srgbClr val="FFFFFF"/>
            </a:solidFill>
            <a:ln w="14288" cap="sq">
              <a:solidFill>
                <a:srgbClr val="000000"/>
              </a:solidFill>
              <a:prstDash val="solid"/>
              <a:miter/>
            </a:ln>
          </p:spPr>
        </p:sp>
      </p:grpSp>
      <p:grpSp>
        <p:nvGrpSpPr>
          <p:cNvPr name="Group 6" id="6"/>
          <p:cNvGrpSpPr/>
          <p:nvPr/>
        </p:nvGrpSpPr>
        <p:grpSpPr>
          <a:xfrm rot="0">
            <a:off x="815816" y="3010376"/>
            <a:ext cx="8106728" cy="453200"/>
            <a:chOff x="0" y="0"/>
            <a:chExt cx="10808970" cy="604266"/>
          </a:xfrm>
        </p:grpSpPr>
        <p:sp>
          <p:nvSpPr>
            <p:cNvPr name="Freeform 7" id="7"/>
            <p:cNvSpPr/>
            <p:nvPr/>
          </p:nvSpPr>
          <p:spPr>
            <a:xfrm flipH="false" flipV="false" rot="0">
              <a:off x="0" y="0"/>
              <a:ext cx="10808970" cy="604266"/>
            </a:xfrm>
            <a:custGeom>
              <a:avLst/>
              <a:gdLst/>
              <a:ahLst/>
              <a:cxnLst/>
              <a:rect r="r" b="b" t="t" l="l"/>
              <a:pathLst>
                <a:path h="604266" w="10808970">
                  <a:moveTo>
                    <a:pt x="0" y="226568"/>
                  </a:moveTo>
                  <a:cubicBezTo>
                    <a:pt x="0" y="101473"/>
                    <a:pt x="101473" y="0"/>
                    <a:pt x="226568" y="0"/>
                  </a:cubicBezTo>
                  <a:lnTo>
                    <a:pt x="10582402" y="0"/>
                  </a:lnTo>
                  <a:cubicBezTo>
                    <a:pt x="10707497" y="0"/>
                    <a:pt x="10808970" y="101473"/>
                    <a:pt x="10808970" y="226568"/>
                  </a:cubicBezTo>
                  <a:lnTo>
                    <a:pt x="10808970" y="377698"/>
                  </a:lnTo>
                  <a:cubicBezTo>
                    <a:pt x="10808970" y="502793"/>
                    <a:pt x="10707497" y="604266"/>
                    <a:pt x="105824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8" id="8"/>
          <p:cNvGrpSpPr/>
          <p:nvPr/>
        </p:nvGrpSpPr>
        <p:grpSpPr>
          <a:xfrm rot="0">
            <a:off x="827151" y="3227451"/>
            <a:ext cx="8084058" cy="238506"/>
            <a:chOff x="0" y="0"/>
            <a:chExt cx="10778744" cy="318008"/>
          </a:xfrm>
        </p:grpSpPr>
        <p:sp>
          <p:nvSpPr>
            <p:cNvPr name="Freeform 9" id="9"/>
            <p:cNvSpPr/>
            <p:nvPr/>
          </p:nvSpPr>
          <p:spPr>
            <a:xfrm flipH="false" flipV="false" rot="0">
              <a:off x="0" y="0"/>
              <a:ext cx="10778744" cy="318008"/>
            </a:xfrm>
            <a:custGeom>
              <a:avLst/>
              <a:gdLst/>
              <a:ahLst/>
              <a:cxnLst/>
              <a:rect r="r" b="b" t="t" l="l"/>
              <a:pathLst>
                <a:path h="318008" w="10778744">
                  <a:moveTo>
                    <a:pt x="0" y="0"/>
                  </a:moveTo>
                  <a:lnTo>
                    <a:pt x="10778744" y="0"/>
                  </a:lnTo>
                  <a:lnTo>
                    <a:pt x="10778744" y="318008"/>
                  </a:lnTo>
                  <a:lnTo>
                    <a:pt x="0" y="318008"/>
                  </a:lnTo>
                  <a:close/>
                </a:path>
              </a:pathLst>
            </a:custGeom>
            <a:solidFill>
              <a:srgbClr val="F5582E"/>
            </a:solidFill>
            <a:ln w="19050" cap="sq">
              <a:solidFill>
                <a:srgbClr val="F5582E"/>
              </a:solidFill>
              <a:prstDash val="solid"/>
              <a:miter/>
            </a:ln>
          </p:spPr>
        </p:sp>
      </p:grpSp>
      <p:sp>
        <p:nvSpPr>
          <p:cNvPr name="AutoShape 10" id="10"/>
          <p:cNvSpPr/>
          <p:nvPr/>
        </p:nvSpPr>
        <p:spPr>
          <a:xfrm rot="6060">
            <a:off x="815807" y="3451669"/>
            <a:ext cx="8106737" cy="0"/>
          </a:xfrm>
          <a:prstGeom prst="line">
            <a:avLst/>
          </a:prstGeom>
          <a:ln cap="rnd" w="9525">
            <a:solidFill>
              <a:srgbClr val="000000"/>
            </a:solidFill>
            <a:prstDash val="solid"/>
            <a:headEnd type="none" len="sm" w="sm"/>
            <a:tailEnd type="none" len="sm" w="sm"/>
          </a:ln>
        </p:spPr>
      </p:sp>
      <p:grpSp>
        <p:nvGrpSpPr>
          <p:cNvPr name="Group 11" id="11"/>
          <p:cNvGrpSpPr/>
          <p:nvPr/>
        </p:nvGrpSpPr>
        <p:grpSpPr>
          <a:xfrm rot="0">
            <a:off x="9319736" y="3010376"/>
            <a:ext cx="8106728" cy="3717608"/>
            <a:chOff x="0" y="0"/>
            <a:chExt cx="10808970" cy="4956810"/>
          </a:xfrm>
        </p:grpSpPr>
        <p:sp>
          <p:nvSpPr>
            <p:cNvPr name="Freeform 12" id="12"/>
            <p:cNvSpPr/>
            <p:nvPr/>
          </p:nvSpPr>
          <p:spPr>
            <a:xfrm flipH="false" flipV="false" rot="0">
              <a:off x="0" y="0"/>
              <a:ext cx="10808970" cy="4956810"/>
            </a:xfrm>
            <a:custGeom>
              <a:avLst/>
              <a:gdLst/>
              <a:ahLst/>
              <a:cxnLst/>
              <a:rect r="r" b="b" t="t" l="l"/>
              <a:pathLst>
                <a:path h="4956810" w="10808970">
                  <a:moveTo>
                    <a:pt x="0" y="220218"/>
                  </a:moveTo>
                  <a:cubicBezTo>
                    <a:pt x="0" y="98679"/>
                    <a:pt x="98679" y="0"/>
                    <a:pt x="220218" y="0"/>
                  </a:cubicBezTo>
                  <a:lnTo>
                    <a:pt x="10588752" y="0"/>
                  </a:lnTo>
                  <a:cubicBezTo>
                    <a:pt x="10710418" y="0"/>
                    <a:pt x="10808970" y="98679"/>
                    <a:pt x="10808970" y="220218"/>
                  </a:cubicBezTo>
                  <a:lnTo>
                    <a:pt x="10808970" y="4736592"/>
                  </a:lnTo>
                  <a:cubicBezTo>
                    <a:pt x="10808970" y="4858258"/>
                    <a:pt x="10710291" y="4956810"/>
                    <a:pt x="10588752" y="4956810"/>
                  </a:cubicBezTo>
                  <a:lnTo>
                    <a:pt x="220218" y="4956810"/>
                  </a:lnTo>
                  <a:cubicBezTo>
                    <a:pt x="98679" y="4956810"/>
                    <a:pt x="0" y="4858131"/>
                    <a:pt x="0" y="4736592"/>
                  </a:cubicBezTo>
                  <a:close/>
                </a:path>
              </a:pathLst>
            </a:custGeom>
            <a:solidFill>
              <a:srgbClr val="FFFFFF"/>
            </a:solidFill>
            <a:ln w="14288" cap="sq">
              <a:solidFill>
                <a:srgbClr val="000000"/>
              </a:solidFill>
              <a:prstDash val="solid"/>
              <a:miter/>
            </a:ln>
          </p:spPr>
        </p:sp>
      </p:grpSp>
      <p:grpSp>
        <p:nvGrpSpPr>
          <p:cNvPr name="Group 13" id="13"/>
          <p:cNvGrpSpPr/>
          <p:nvPr/>
        </p:nvGrpSpPr>
        <p:grpSpPr>
          <a:xfrm rot="0">
            <a:off x="9319736" y="3010376"/>
            <a:ext cx="8106728" cy="453200"/>
            <a:chOff x="0" y="0"/>
            <a:chExt cx="10808970" cy="604266"/>
          </a:xfrm>
        </p:grpSpPr>
        <p:sp>
          <p:nvSpPr>
            <p:cNvPr name="Freeform 14" id="14"/>
            <p:cNvSpPr/>
            <p:nvPr/>
          </p:nvSpPr>
          <p:spPr>
            <a:xfrm flipH="false" flipV="false" rot="0">
              <a:off x="0" y="0"/>
              <a:ext cx="10808970" cy="604266"/>
            </a:xfrm>
            <a:custGeom>
              <a:avLst/>
              <a:gdLst/>
              <a:ahLst/>
              <a:cxnLst/>
              <a:rect r="r" b="b" t="t" l="l"/>
              <a:pathLst>
                <a:path h="604266" w="10808970">
                  <a:moveTo>
                    <a:pt x="0" y="226568"/>
                  </a:moveTo>
                  <a:cubicBezTo>
                    <a:pt x="0" y="101473"/>
                    <a:pt x="101473" y="0"/>
                    <a:pt x="226568" y="0"/>
                  </a:cubicBezTo>
                  <a:lnTo>
                    <a:pt x="10582402" y="0"/>
                  </a:lnTo>
                  <a:cubicBezTo>
                    <a:pt x="10707497" y="0"/>
                    <a:pt x="10808970" y="101473"/>
                    <a:pt x="10808970" y="226568"/>
                  </a:cubicBezTo>
                  <a:lnTo>
                    <a:pt x="10808970" y="377698"/>
                  </a:lnTo>
                  <a:cubicBezTo>
                    <a:pt x="10808970" y="502793"/>
                    <a:pt x="10707497" y="604266"/>
                    <a:pt x="105824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15" id="15"/>
          <p:cNvGrpSpPr/>
          <p:nvPr/>
        </p:nvGrpSpPr>
        <p:grpSpPr>
          <a:xfrm rot="0">
            <a:off x="9331071" y="3227451"/>
            <a:ext cx="8084058" cy="238506"/>
            <a:chOff x="0" y="0"/>
            <a:chExt cx="10778744" cy="318008"/>
          </a:xfrm>
        </p:grpSpPr>
        <p:sp>
          <p:nvSpPr>
            <p:cNvPr name="Freeform 16" id="16"/>
            <p:cNvSpPr/>
            <p:nvPr/>
          </p:nvSpPr>
          <p:spPr>
            <a:xfrm flipH="false" flipV="false" rot="0">
              <a:off x="0" y="0"/>
              <a:ext cx="10778744" cy="318008"/>
            </a:xfrm>
            <a:custGeom>
              <a:avLst/>
              <a:gdLst/>
              <a:ahLst/>
              <a:cxnLst/>
              <a:rect r="r" b="b" t="t" l="l"/>
              <a:pathLst>
                <a:path h="318008" w="10778744">
                  <a:moveTo>
                    <a:pt x="0" y="0"/>
                  </a:moveTo>
                  <a:lnTo>
                    <a:pt x="10778744" y="0"/>
                  </a:lnTo>
                  <a:lnTo>
                    <a:pt x="10778744" y="318008"/>
                  </a:lnTo>
                  <a:lnTo>
                    <a:pt x="0" y="318008"/>
                  </a:lnTo>
                  <a:close/>
                </a:path>
              </a:pathLst>
            </a:custGeom>
            <a:solidFill>
              <a:srgbClr val="F5582E"/>
            </a:solidFill>
            <a:ln w="19050" cap="sq">
              <a:solidFill>
                <a:srgbClr val="F5582E"/>
              </a:solidFill>
              <a:prstDash val="solid"/>
              <a:miter/>
            </a:ln>
          </p:spPr>
        </p:sp>
      </p:grpSp>
      <p:sp>
        <p:nvSpPr>
          <p:cNvPr name="AutoShape 17" id="17"/>
          <p:cNvSpPr/>
          <p:nvPr/>
        </p:nvSpPr>
        <p:spPr>
          <a:xfrm rot="6060">
            <a:off x="9319727" y="3451669"/>
            <a:ext cx="8106737" cy="0"/>
          </a:xfrm>
          <a:prstGeom prst="line">
            <a:avLst/>
          </a:prstGeom>
          <a:ln cap="rnd" w="9525">
            <a:solidFill>
              <a:srgbClr val="000000"/>
            </a:solidFill>
            <a:prstDash val="solid"/>
            <a:headEnd type="none" len="sm" w="sm"/>
            <a:tailEnd type="none" len="sm" w="sm"/>
          </a:ln>
        </p:spPr>
      </p:sp>
      <p:sp>
        <p:nvSpPr>
          <p:cNvPr name="TextBox 18" id="18"/>
          <p:cNvSpPr txBox="true"/>
          <p:nvPr/>
        </p:nvSpPr>
        <p:spPr>
          <a:xfrm rot="0">
            <a:off x="1234440" y="3712845"/>
            <a:ext cx="7269480" cy="470535"/>
          </a:xfrm>
          <a:prstGeom prst="rect">
            <a:avLst/>
          </a:prstGeom>
        </p:spPr>
        <p:txBody>
          <a:bodyPr anchor="t" rtlCol="false" tIns="0" lIns="0" bIns="0" rIns="0">
            <a:spAutoFit/>
          </a:bodyPr>
          <a:lstStyle/>
          <a:p>
            <a:pPr algn="l">
              <a:lnSpc>
                <a:spcPts val="2879"/>
              </a:lnSpc>
            </a:pPr>
            <a:r>
              <a:rPr lang="en-US" sz="2400" b="true">
                <a:solidFill>
                  <a:srgbClr val="F5582E"/>
                </a:solidFill>
                <a:latin typeface="Helvetica World Bold"/>
                <a:ea typeface="Helvetica World Bold"/>
                <a:cs typeface="Helvetica World Bold"/>
                <a:sym typeface="Helvetica World Bold"/>
              </a:rPr>
              <a:t>RQ2 — KONTRIBUSI MODALITAS</a:t>
            </a:r>
          </a:p>
        </p:txBody>
      </p:sp>
      <p:sp>
        <p:nvSpPr>
          <p:cNvPr name="TextBox 19" id="19"/>
          <p:cNvSpPr txBox="true"/>
          <p:nvPr/>
        </p:nvSpPr>
        <p:spPr>
          <a:xfrm rot="0">
            <a:off x="1234440" y="4379595"/>
            <a:ext cx="7269480" cy="2066925"/>
          </a:xfrm>
          <a:prstGeom prst="rect">
            <a:avLst/>
          </a:prstGeom>
        </p:spPr>
        <p:txBody>
          <a:bodyPr anchor="t" rtlCol="false" tIns="0" lIns="0" bIns="0" rIns="0">
            <a:spAutoFit/>
          </a:bodyPr>
          <a:lstStyle/>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Image-only → ViT</a:t>
            </a:r>
          </a:p>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Text-only → IndoBERTweet</a:t>
            </a:r>
          </a:p>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Multimodal Fusion → IndoBERTweet + ViT</a:t>
            </a:r>
          </a:p>
        </p:txBody>
      </p:sp>
      <p:sp>
        <p:nvSpPr>
          <p:cNvPr name="TextBox 20" id="20"/>
          <p:cNvSpPr txBox="true"/>
          <p:nvPr/>
        </p:nvSpPr>
        <p:spPr>
          <a:xfrm rot="0">
            <a:off x="9738360" y="3712845"/>
            <a:ext cx="7269480" cy="470535"/>
          </a:xfrm>
          <a:prstGeom prst="rect">
            <a:avLst/>
          </a:prstGeom>
        </p:spPr>
        <p:txBody>
          <a:bodyPr anchor="t" rtlCol="false" tIns="0" lIns="0" bIns="0" rIns="0">
            <a:spAutoFit/>
          </a:bodyPr>
          <a:lstStyle/>
          <a:p>
            <a:pPr algn="l">
              <a:lnSpc>
                <a:spcPts val="2879"/>
              </a:lnSpc>
            </a:pPr>
            <a:r>
              <a:rPr lang="en-US" sz="2400" b="true">
                <a:solidFill>
                  <a:srgbClr val="F5582E"/>
                </a:solidFill>
                <a:latin typeface="Helvetica World Bold"/>
                <a:ea typeface="Helvetica World Bold"/>
                <a:cs typeface="Helvetica World Bold"/>
                <a:sym typeface="Helvetica World Bold"/>
              </a:rPr>
              <a:t>RQ4 — STRATEGI PEMBELAJARAN</a:t>
            </a:r>
          </a:p>
        </p:txBody>
      </p:sp>
      <p:sp>
        <p:nvSpPr>
          <p:cNvPr name="TextBox 21" id="21"/>
          <p:cNvSpPr txBox="true"/>
          <p:nvPr/>
        </p:nvSpPr>
        <p:spPr>
          <a:xfrm rot="0">
            <a:off x="9738360" y="4379595"/>
            <a:ext cx="7269480" cy="2066925"/>
          </a:xfrm>
          <a:prstGeom prst="rect">
            <a:avLst/>
          </a:prstGeom>
        </p:spPr>
        <p:txBody>
          <a:bodyPr anchor="t" rtlCol="false" tIns="0" lIns="0" bIns="0" rIns="0">
            <a:spAutoFit/>
          </a:bodyPr>
          <a:lstStyle/>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Single-task Learning</a:t>
            </a:r>
          </a:p>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Multitask Learning</a:t>
            </a:r>
          </a:p>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Dua tugas: Hatefulness dan Appropriateness</a:t>
            </a:r>
          </a:p>
        </p:txBody>
      </p:sp>
      <p:grpSp>
        <p:nvGrpSpPr>
          <p:cNvPr name="Group 22" id="22"/>
          <p:cNvGrpSpPr/>
          <p:nvPr/>
        </p:nvGrpSpPr>
        <p:grpSpPr>
          <a:xfrm rot="0">
            <a:off x="815816" y="7330916"/>
            <a:ext cx="2551748" cy="974407"/>
            <a:chOff x="0" y="0"/>
            <a:chExt cx="3402330" cy="1299210"/>
          </a:xfrm>
        </p:grpSpPr>
        <p:sp>
          <p:nvSpPr>
            <p:cNvPr name="Freeform 23" id="23"/>
            <p:cNvSpPr/>
            <p:nvPr/>
          </p:nvSpPr>
          <p:spPr>
            <a:xfrm flipH="false" flipV="false" rot="0">
              <a:off x="0" y="0"/>
              <a:ext cx="3402330" cy="1299210"/>
            </a:xfrm>
            <a:custGeom>
              <a:avLst/>
              <a:gdLst/>
              <a:ahLst/>
              <a:cxnLst/>
              <a:rect r="r" b="b" t="t" l="l"/>
              <a:pathLst>
                <a:path h="1299210" w="3402330">
                  <a:moveTo>
                    <a:pt x="0" y="222758"/>
                  </a:moveTo>
                  <a:cubicBezTo>
                    <a:pt x="0" y="99695"/>
                    <a:pt x="99695" y="0"/>
                    <a:pt x="222758" y="0"/>
                  </a:cubicBezTo>
                  <a:lnTo>
                    <a:pt x="3179572" y="0"/>
                  </a:lnTo>
                  <a:cubicBezTo>
                    <a:pt x="3302635" y="0"/>
                    <a:pt x="3402330" y="99695"/>
                    <a:pt x="3402330" y="222758"/>
                  </a:cubicBezTo>
                  <a:lnTo>
                    <a:pt x="3402330" y="1076452"/>
                  </a:lnTo>
                  <a:cubicBezTo>
                    <a:pt x="3402330" y="1199515"/>
                    <a:pt x="3302635" y="1299210"/>
                    <a:pt x="3179572" y="1299210"/>
                  </a:cubicBezTo>
                  <a:lnTo>
                    <a:pt x="222758" y="1299210"/>
                  </a:lnTo>
                  <a:cubicBezTo>
                    <a:pt x="99695" y="1299210"/>
                    <a:pt x="0" y="1199515"/>
                    <a:pt x="0" y="1076452"/>
                  </a:cubicBezTo>
                  <a:close/>
                </a:path>
              </a:pathLst>
            </a:custGeom>
            <a:solidFill>
              <a:srgbClr val="FFFFFF"/>
            </a:solidFill>
            <a:ln w="14288" cap="sq">
              <a:solidFill>
                <a:srgbClr val="000000"/>
              </a:solidFill>
              <a:prstDash val="solid"/>
              <a:miter/>
            </a:ln>
          </p:spPr>
        </p:sp>
      </p:grpSp>
      <p:grpSp>
        <p:nvGrpSpPr>
          <p:cNvPr name="Group 24" id="24"/>
          <p:cNvGrpSpPr/>
          <p:nvPr/>
        </p:nvGrpSpPr>
        <p:grpSpPr>
          <a:xfrm rot="0">
            <a:off x="932688" y="7338060"/>
            <a:ext cx="2318004" cy="960120"/>
            <a:chOff x="0" y="0"/>
            <a:chExt cx="3090672" cy="1280160"/>
          </a:xfrm>
        </p:grpSpPr>
        <p:sp>
          <p:nvSpPr>
            <p:cNvPr name="Freeform 25" id="25"/>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3">
                <a:alphaModFix amt="0"/>
              </a:blip>
              <a:stretch>
                <a:fillRect l="-3143" t="0" r="-3143" b="0"/>
              </a:stretch>
            </a:blipFill>
          </p:spPr>
        </p:sp>
        <p:sp>
          <p:nvSpPr>
            <p:cNvPr name="TextBox 26" id="26"/>
            <p:cNvSpPr txBox="true"/>
            <p:nvPr/>
          </p:nvSpPr>
          <p:spPr>
            <a:xfrm>
              <a:off x="0" y="0"/>
              <a:ext cx="3090672" cy="128016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Dataset</a:t>
              </a:r>
            </a:p>
          </p:txBody>
        </p:sp>
      </p:grpSp>
      <p:sp>
        <p:nvSpPr>
          <p:cNvPr name="AutoShape 27" id="27"/>
          <p:cNvSpPr/>
          <p:nvPr/>
        </p:nvSpPr>
        <p:spPr>
          <a:xfrm>
            <a:off x="3367564" y="7818120"/>
            <a:ext cx="312258" cy="0"/>
          </a:xfrm>
          <a:prstGeom prst="line">
            <a:avLst/>
          </a:prstGeom>
          <a:ln cap="rnd" w="38100">
            <a:solidFill>
              <a:srgbClr val="F5582E"/>
            </a:solidFill>
            <a:prstDash val="solid"/>
            <a:headEnd type="none" len="sm" w="sm"/>
            <a:tailEnd type="triangle" len="med" w="lg"/>
          </a:ln>
        </p:spPr>
      </p:sp>
      <p:grpSp>
        <p:nvGrpSpPr>
          <p:cNvPr name="Group 28" id="28"/>
          <p:cNvGrpSpPr/>
          <p:nvPr/>
        </p:nvGrpSpPr>
        <p:grpSpPr>
          <a:xfrm rot="0">
            <a:off x="3627596" y="7330916"/>
            <a:ext cx="2551748" cy="974407"/>
            <a:chOff x="0" y="0"/>
            <a:chExt cx="3402330" cy="1299210"/>
          </a:xfrm>
        </p:grpSpPr>
        <p:sp>
          <p:nvSpPr>
            <p:cNvPr name="Freeform 29" id="29"/>
            <p:cNvSpPr/>
            <p:nvPr/>
          </p:nvSpPr>
          <p:spPr>
            <a:xfrm flipH="false" flipV="false" rot="0">
              <a:off x="0" y="0"/>
              <a:ext cx="3402330" cy="1299210"/>
            </a:xfrm>
            <a:custGeom>
              <a:avLst/>
              <a:gdLst/>
              <a:ahLst/>
              <a:cxnLst/>
              <a:rect r="r" b="b" t="t" l="l"/>
              <a:pathLst>
                <a:path h="1299210" w="3402330">
                  <a:moveTo>
                    <a:pt x="0" y="222758"/>
                  </a:moveTo>
                  <a:cubicBezTo>
                    <a:pt x="0" y="99695"/>
                    <a:pt x="99695" y="0"/>
                    <a:pt x="222758" y="0"/>
                  </a:cubicBezTo>
                  <a:lnTo>
                    <a:pt x="3179572" y="0"/>
                  </a:lnTo>
                  <a:cubicBezTo>
                    <a:pt x="3302635" y="0"/>
                    <a:pt x="3402330" y="99695"/>
                    <a:pt x="3402330" y="222758"/>
                  </a:cubicBezTo>
                  <a:lnTo>
                    <a:pt x="3402330" y="1076452"/>
                  </a:lnTo>
                  <a:cubicBezTo>
                    <a:pt x="3402330" y="1199515"/>
                    <a:pt x="3302635" y="1299210"/>
                    <a:pt x="3179572" y="1299210"/>
                  </a:cubicBezTo>
                  <a:lnTo>
                    <a:pt x="222758" y="1299210"/>
                  </a:lnTo>
                  <a:cubicBezTo>
                    <a:pt x="99695" y="1299210"/>
                    <a:pt x="0" y="1199515"/>
                    <a:pt x="0" y="1076452"/>
                  </a:cubicBezTo>
                  <a:close/>
                </a:path>
              </a:pathLst>
            </a:custGeom>
            <a:solidFill>
              <a:srgbClr val="FFFFFF"/>
            </a:solidFill>
            <a:ln w="14288" cap="sq">
              <a:solidFill>
                <a:srgbClr val="000000"/>
              </a:solidFill>
              <a:prstDash val="solid"/>
              <a:miter/>
            </a:ln>
          </p:spPr>
        </p:sp>
      </p:grpSp>
      <p:grpSp>
        <p:nvGrpSpPr>
          <p:cNvPr name="Group 30" id="30"/>
          <p:cNvGrpSpPr/>
          <p:nvPr/>
        </p:nvGrpSpPr>
        <p:grpSpPr>
          <a:xfrm rot="0">
            <a:off x="3744468" y="7338060"/>
            <a:ext cx="2318004" cy="960120"/>
            <a:chOff x="0" y="0"/>
            <a:chExt cx="3090672" cy="1280160"/>
          </a:xfrm>
        </p:grpSpPr>
        <p:sp>
          <p:nvSpPr>
            <p:cNvPr name="Freeform 31" id="31"/>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3">
                <a:alphaModFix amt="0"/>
              </a:blip>
              <a:stretch>
                <a:fillRect l="-3143" t="0" r="-3143" b="0"/>
              </a:stretch>
            </a:blipFill>
          </p:spPr>
        </p:sp>
        <p:sp>
          <p:nvSpPr>
            <p:cNvPr name="TextBox 32" id="32"/>
            <p:cNvSpPr txBox="true"/>
            <p:nvPr/>
          </p:nvSpPr>
          <p:spPr>
            <a:xfrm>
              <a:off x="0" y="0"/>
              <a:ext cx="3090672" cy="128016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Pra-pemrosesan</a:t>
              </a:r>
            </a:p>
          </p:txBody>
        </p:sp>
      </p:grpSp>
      <p:grpSp>
        <p:nvGrpSpPr>
          <p:cNvPr name="Group 33" id="33"/>
          <p:cNvGrpSpPr/>
          <p:nvPr/>
        </p:nvGrpSpPr>
        <p:grpSpPr>
          <a:xfrm rot="0">
            <a:off x="6439376" y="7330916"/>
            <a:ext cx="2551748" cy="974407"/>
            <a:chOff x="0" y="0"/>
            <a:chExt cx="3402330" cy="1299210"/>
          </a:xfrm>
        </p:grpSpPr>
        <p:sp>
          <p:nvSpPr>
            <p:cNvPr name="Freeform 34" id="34"/>
            <p:cNvSpPr/>
            <p:nvPr/>
          </p:nvSpPr>
          <p:spPr>
            <a:xfrm flipH="false" flipV="false" rot="0">
              <a:off x="0" y="0"/>
              <a:ext cx="3402330" cy="1299210"/>
            </a:xfrm>
            <a:custGeom>
              <a:avLst/>
              <a:gdLst/>
              <a:ahLst/>
              <a:cxnLst/>
              <a:rect r="r" b="b" t="t" l="l"/>
              <a:pathLst>
                <a:path h="1299210" w="3402330">
                  <a:moveTo>
                    <a:pt x="0" y="222758"/>
                  </a:moveTo>
                  <a:cubicBezTo>
                    <a:pt x="0" y="99695"/>
                    <a:pt x="99695" y="0"/>
                    <a:pt x="222758" y="0"/>
                  </a:cubicBezTo>
                  <a:lnTo>
                    <a:pt x="3179572" y="0"/>
                  </a:lnTo>
                  <a:cubicBezTo>
                    <a:pt x="3302635" y="0"/>
                    <a:pt x="3402330" y="99695"/>
                    <a:pt x="3402330" y="222758"/>
                  </a:cubicBezTo>
                  <a:lnTo>
                    <a:pt x="3402330" y="1076452"/>
                  </a:lnTo>
                  <a:cubicBezTo>
                    <a:pt x="3402330" y="1199515"/>
                    <a:pt x="3302635" y="1299210"/>
                    <a:pt x="3179572" y="1299210"/>
                  </a:cubicBezTo>
                  <a:lnTo>
                    <a:pt x="222758" y="1299210"/>
                  </a:lnTo>
                  <a:cubicBezTo>
                    <a:pt x="99695" y="1299210"/>
                    <a:pt x="0" y="1199515"/>
                    <a:pt x="0" y="1076452"/>
                  </a:cubicBezTo>
                  <a:close/>
                </a:path>
              </a:pathLst>
            </a:custGeom>
            <a:solidFill>
              <a:srgbClr val="FFFFFF"/>
            </a:solidFill>
            <a:ln w="14288" cap="sq">
              <a:solidFill>
                <a:srgbClr val="000000"/>
              </a:solidFill>
              <a:prstDash val="solid"/>
              <a:miter/>
            </a:ln>
          </p:spPr>
        </p:sp>
      </p:grpSp>
      <p:grpSp>
        <p:nvGrpSpPr>
          <p:cNvPr name="Group 35" id="35"/>
          <p:cNvGrpSpPr/>
          <p:nvPr/>
        </p:nvGrpSpPr>
        <p:grpSpPr>
          <a:xfrm rot="0">
            <a:off x="6556248" y="7338060"/>
            <a:ext cx="2318004" cy="960120"/>
            <a:chOff x="0" y="0"/>
            <a:chExt cx="3090672" cy="1280160"/>
          </a:xfrm>
        </p:grpSpPr>
        <p:sp>
          <p:nvSpPr>
            <p:cNvPr name="Freeform 36" id="36"/>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3">
                <a:alphaModFix amt="0"/>
              </a:blip>
              <a:stretch>
                <a:fillRect l="-3143" t="0" r="-3143" b="0"/>
              </a:stretch>
            </a:blipFill>
          </p:spPr>
        </p:sp>
        <p:sp>
          <p:nvSpPr>
            <p:cNvPr name="TextBox 37" id="37"/>
            <p:cNvSpPr txBox="true"/>
            <p:nvPr/>
          </p:nvSpPr>
          <p:spPr>
            <a:xfrm>
              <a:off x="0" y="0"/>
              <a:ext cx="3090672" cy="128016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Pelatihan</a:t>
              </a:r>
            </a:p>
          </p:txBody>
        </p:sp>
      </p:grpSp>
      <p:grpSp>
        <p:nvGrpSpPr>
          <p:cNvPr name="Group 38" id="38"/>
          <p:cNvGrpSpPr/>
          <p:nvPr/>
        </p:nvGrpSpPr>
        <p:grpSpPr>
          <a:xfrm rot="0">
            <a:off x="9251156" y="7330916"/>
            <a:ext cx="2551748" cy="974407"/>
            <a:chOff x="0" y="0"/>
            <a:chExt cx="3402330" cy="1299210"/>
          </a:xfrm>
        </p:grpSpPr>
        <p:sp>
          <p:nvSpPr>
            <p:cNvPr name="Freeform 39" id="39"/>
            <p:cNvSpPr/>
            <p:nvPr/>
          </p:nvSpPr>
          <p:spPr>
            <a:xfrm flipH="false" flipV="false" rot="0">
              <a:off x="0" y="0"/>
              <a:ext cx="3402330" cy="1299210"/>
            </a:xfrm>
            <a:custGeom>
              <a:avLst/>
              <a:gdLst/>
              <a:ahLst/>
              <a:cxnLst/>
              <a:rect r="r" b="b" t="t" l="l"/>
              <a:pathLst>
                <a:path h="1299210" w="3402330">
                  <a:moveTo>
                    <a:pt x="0" y="222758"/>
                  </a:moveTo>
                  <a:cubicBezTo>
                    <a:pt x="0" y="99695"/>
                    <a:pt x="99695" y="0"/>
                    <a:pt x="222758" y="0"/>
                  </a:cubicBezTo>
                  <a:lnTo>
                    <a:pt x="3179572" y="0"/>
                  </a:lnTo>
                  <a:cubicBezTo>
                    <a:pt x="3302635" y="0"/>
                    <a:pt x="3402330" y="99695"/>
                    <a:pt x="3402330" y="222758"/>
                  </a:cubicBezTo>
                  <a:lnTo>
                    <a:pt x="3402330" y="1076452"/>
                  </a:lnTo>
                  <a:cubicBezTo>
                    <a:pt x="3402330" y="1199515"/>
                    <a:pt x="3302635" y="1299210"/>
                    <a:pt x="3179572" y="1299210"/>
                  </a:cubicBezTo>
                  <a:lnTo>
                    <a:pt x="222758" y="1299210"/>
                  </a:lnTo>
                  <a:cubicBezTo>
                    <a:pt x="99695" y="1299210"/>
                    <a:pt x="0" y="1199515"/>
                    <a:pt x="0" y="1076452"/>
                  </a:cubicBezTo>
                  <a:close/>
                </a:path>
              </a:pathLst>
            </a:custGeom>
            <a:solidFill>
              <a:srgbClr val="FFFFFF"/>
            </a:solidFill>
            <a:ln w="14288" cap="sq">
              <a:solidFill>
                <a:srgbClr val="000000"/>
              </a:solidFill>
              <a:prstDash val="solid"/>
              <a:miter/>
            </a:ln>
          </p:spPr>
        </p:sp>
      </p:grpSp>
      <p:grpSp>
        <p:nvGrpSpPr>
          <p:cNvPr name="Group 40" id="40"/>
          <p:cNvGrpSpPr/>
          <p:nvPr/>
        </p:nvGrpSpPr>
        <p:grpSpPr>
          <a:xfrm rot="0">
            <a:off x="9368028" y="7338060"/>
            <a:ext cx="2318004" cy="960120"/>
            <a:chOff x="0" y="0"/>
            <a:chExt cx="3090672" cy="1280160"/>
          </a:xfrm>
        </p:grpSpPr>
        <p:sp>
          <p:nvSpPr>
            <p:cNvPr name="Freeform 41" id="41"/>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3">
                <a:alphaModFix amt="0"/>
              </a:blip>
              <a:stretch>
                <a:fillRect l="-3143" t="0" r="-3143" b="0"/>
              </a:stretch>
            </a:blipFill>
          </p:spPr>
        </p:sp>
        <p:sp>
          <p:nvSpPr>
            <p:cNvPr name="TextBox 42" id="42"/>
            <p:cNvSpPr txBox="true"/>
            <p:nvPr/>
          </p:nvSpPr>
          <p:spPr>
            <a:xfrm>
              <a:off x="0" y="0"/>
              <a:ext cx="3090672" cy="128016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Validasi</a:t>
              </a:r>
            </a:p>
          </p:txBody>
        </p:sp>
      </p:grpSp>
      <p:grpSp>
        <p:nvGrpSpPr>
          <p:cNvPr name="Group 43" id="43"/>
          <p:cNvGrpSpPr/>
          <p:nvPr/>
        </p:nvGrpSpPr>
        <p:grpSpPr>
          <a:xfrm rot="0">
            <a:off x="12062936" y="7330916"/>
            <a:ext cx="2551748" cy="974407"/>
            <a:chOff x="0" y="0"/>
            <a:chExt cx="3402330" cy="1299210"/>
          </a:xfrm>
        </p:grpSpPr>
        <p:sp>
          <p:nvSpPr>
            <p:cNvPr name="Freeform 44" id="44"/>
            <p:cNvSpPr/>
            <p:nvPr/>
          </p:nvSpPr>
          <p:spPr>
            <a:xfrm flipH="false" flipV="false" rot="0">
              <a:off x="0" y="0"/>
              <a:ext cx="3402330" cy="1299210"/>
            </a:xfrm>
            <a:custGeom>
              <a:avLst/>
              <a:gdLst/>
              <a:ahLst/>
              <a:cxnLst/>
              <a:rect r="r" b="b" t="t" l="l"/>
              <a:pathLst>
                <a:path h="1299210" w="3402330">
                  <a:moveTo>
                    <a:pt x="0" y="222758"/>
                  </a:moveTo>
                  <a:cubicBezTo>
                    <a:pt x="0" y="99695"/>
                    <a:pt x="99695" y="0"/>
                    <a:pt x="222758" y="0"/>
                  </a:cubicBezTo>
                  <a:lnTo>
                    <a:pt x="3179572" y="0"/>
                  </a:lnTo>
                  <a:cubicBezTo>
                    <a:pt x="3302635" y="0"/>
                    <a:pt x="3402330" y="99695"/>
                    <a:pt x="3402330" y="222758"/>
                  </a:cubicBezTo>
                  <a:lnTo>
                    <a:pt x="3402330" y="1076452"/>
                  </a:lnTo>
                  <a:cubicBezTo>
                    <a:pt x="3402330" y="1199515"/>
                    <a:pt x="3302635" y="1299210"/>
                    <a:pt x="3179572" y="1299210"/>
                  </a:cubicBezTo>
                  <a:lnTo>
                    <a:pt x="222758" y="1299210"/>
                  </a:lnTo>
                  <a:cubicBezTo>
                    <a:pt x="99695" y="1299210"/>
                    <a:pt x="0" y="1199515"/>
                    <a:pt x="0" y="1076452"/>
                  </a:cubicBezTo>
                  <a:close/>
                </a:path>
              </a:pathLst>
            </a:custGeom>
            <a:solidFill>
              <a:srgbClr val="FFFFFF"/>
            </a:solidFill>
            <a:ln w="14288" cap="sq">
              <a:solidFill>
                <a:srgbClr val="000000"/>
              </a:solidFill>
              <a:prstDash val="solid"/>
              <a:miter/>
            </a:ln>
          </p:spPr>
        </p:sp>
      </p:grpSp>
      <p:grpSp>
        <p:nvGrpSpPr>
          <p:cNvPr name="Group 45" id="45"/>
          <p:cNvGrpSpPr/>
          <p:nvPr/>
        </p:nvGrpSpPr>
        <p:grpSpPr>
          <a:xfrm rot="0">
            <a:off x="12179808" y="7338060"/>
            <a:ext cx="2318004" cy="960120"/>
            <a:chOff x="0" y="0"/>
            <a:chExt cx="3090672" cy="1280160"/>
          </a:xfrm>
        </p:grpSpPr>
        <p:sp>
          <p:nvSpPr>
            <p:cNvPr name="Freeform 46" id="46"/>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3">
                <a:alphaModFix amt="0"/>
              </a:blip>
              <a:stretch>
                <a:fillRect l="-3143" t="0" r="-3143" b="0"/>
              </a:stretch>
            </a:blipFill>
          </p:spPr>
        </p:sp>
        <p:sp>
          <p:nvSpPr>
            <p:cNvPr name="TextBox 47" id="47"/>
            <p:cNvSpPr txBox="true"/>
            <p:nvPr/>
          </p:nvSpPr>
          <p:spPr>
            <a:xfrm>
              <a:off x="0" y="0"/>
              <a:ext cx="3090672" cy="128016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Uji</a:t>
              </a:r>
            </a:p>
          </p:txBody>
        </p:sp>
      </p:grpSp>
      <p:grpSp>
        <p:nvGrpSpPr>
          <p:cNvPr name="Group 48" id="48"/>
          <p:cNvGrpSpPr/>
          <p:nvPr/>
        </p:nvGrpSpPr>
        <p:grpSpPr>
          <a:xfrm rot="0">
            <a:off x="14874716" y="7330916"/>
            <a:ext cx="2551748" cy="974407"/>
            <a:chOff x="0" y="0"/>
            <a:chExt cx="3402330" cy="1299210"/>
          </a:xfrm>
        </p:grpSpPr>
        <p:sp>
          <p:nvSpPr>
            <p:cNvPr name="Freeform 49" id="49"/>
            <p:cNvSpPr/>
            <p:nvPr/>
          </p:nvSpPr>
          <p:spPr>
            <a:xfrm flipH="false" flipV="false" rot="0">
              <a:off x="0" y="0"/>
              <a:ext cx="3402330" cy="1299210"/>
            </a:xfrm>
            <a:custGeom>
              <a:avLst/>
              <a:gdLst/>
              <a:ahLst/>
              <a:cxnLst/>
              <a:rect r="r" b="b" t="t" l="l"/>
              <a:pathLst>
                <a:path h="1299210" w="3402330">
                  <a:moveTo>
                    <a:pt x="0" y="222758"/>
                  </a:moveTo>
                  <a:cubicBezTo>
                    <a:pt x="0" y="99695"/>
                    <a:pt x="99695" y="0"/>
                    <a:pt x="222758" y="0"/>
                  </a:cubicBezTo>
                  <a:lnTo>
                    <a:pt x="3179572" y="0"/>
                  </a:lnTo>
                  <a:cubicBezTo>
                    <a:pt x="3302635" y="0"/>
                    <a:pt x="3402330" y="99695"/>
                    <a:pt x="3402330" y="222758"/>
                  </a:cubicBezTo>
                  <a:lnTo>
                    <a:pt x="3402330" y="1076452"/>
                  </a:lnTo>
                  <a:cubicBezTo>
                    <a:pt x="3402330" y="1199515"/>
                    <a:pt x="3302635" y="1299210"/>
                    <a:pt x="3179572" y="1299210"/>
                  </a:cubicBezTo>
                  <a:lnTo>
                    <a:pt x="222758" y="1299210"/>
                  </a:lnTo>
                  <a:cubicBezTo>
                    <a:pt x="99695" y="1299210"/>
                    <a:pt x="0" y="1199515"/>
                    <a:pt x="0" y="1076452"/>
                  </a:cubicBezTo>
                  <a:close/>
                </a:path>
              </a:pathLst>
            </a:custGeom>
            <a:solidFill>
              <a:srgbClr val="141221"/>
            </a:solidFill>
            <a:ln w="14288" cap="sq">
              <a:solidFill>
                <a:srgbClr val="000000"/>
              </a:solidFill>
              <a:prstDash val="solid"/>
              <a:miter/>
            </a:ln>
          </p:spPr>
        </p:sp>
      </p:grpSp>
      <p:grpSp>
        <p:nvGrpSpPr>
          <p:cNvPr name="Group 50" id="50"/>
          <p:cNvGrpSpPr/>
          <p:nvPr/>
        </p:nvGrpSpPr>
        <p:grpSpPr>
          <a:xfrm rot="0">
            <a:off x="14991588" y="7338060"/>
            <a:ext cx="2318004" cy="960120"/>
            <a:chOff x="0" y="0"/>
            <a:chExt cx="3090672" cy="1280160"/>
          </a:xfrm>
        </p:grpSpPr>
        <p:sp>
          <p:nvSpPr>
            <p:cNvPr name="Freeform 51" id="51"/>
            <p:cNvSpPr/>
            <p:nvPr/>
          </p:nvSpPr>
          <p:spPr>
            <a:xfrm flipH="false" flipV="false" rot="0">
              <a:off x="0" y="0"/>
              <a:ext cx="3090672" cy="1280160"/>
            </a:xfrm>
            <a:custGeom>
              <a:avLst/>
              <a:gdLst/>
              <a:ahLst/>
              <a:cxnLst/>
              <a:rect r="r" b="b" t="t" l="l"/>
              <a:pathLst>
                <a:path h="1280160" w="3090672">
                  <a:moveTo>
                    <a:pt x="0" y="0"/>
                  </a:moveTo>
                  <a:lnTo>
                    <a:pt x="3090672" y="0"/>
                  </a:lnTo>
                  <a:lnTo>
                    <a:pt x="3090672" y="1280160"/>
                  </a:lnTo>
                  <a:lnTo>
                    <a:pt x="0" y="1280160"/>
                  </a:lnTo>
                  <a:close/>
                </a:path>
              </a:pathLst>
            </a:custGeom>
            <a:blipFill>
              <a:blip r:embed="rId3">
                <a:alphaModFix amt="0"/>
              </a:blip>
              <a:stretch>
                <a:fillRect l="-3143" t="0" r="-3143" b="0"/>
              </a:stretch>
            </a:blipFill>
          </p:spPr>
        </p:sp>
        <p:sp>
          <p:nvSpPr>
            <p:cNvPr name="TextBox 52" id="52"/>
            <p:cNvSpPr txBox="true"/>
            <p:nvPr/>
          </p:nvSpPr>
          <p:spPr>
            <a:xfrm>
              <a:off x="0" y="0"/>
              <a:ext cx="3090672" cy="1280160"/>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Perbandingan Paper</a:t>
              </a:r>
            </a:p>
          </p:txBody>
        </p:sp>
      </p:grpSp>
      <p:sp>
        <p:nvSpPr>
          <p:cNvPr name="TextBox 53" id="53"/>
          <p:cNvSpPr txBox="true"/>
          <p:nvPr/>
        </p:nvSpPr>
        <p:spPr>
          <a:xfrm rot="0">
            <a:off x="822960" y="8631555"/>
            <a:ext cx="16459200" cy="695325"/>
          </a:xfrm>
          <a:prstGeom prst="rect">
            <a:avLst/>
          </a:prstGeom>
        </p:spPr>
        <p:txBody>
          <a:bodyPr anchor="t" rtlCol="false" tIns="0" lIns="0" bIns="0" rIns="0">
            <a:spAutoFit/>
          </a:bodyPr>
          <a:lstStyle/>
          <a:p>
            <a:pPr algn="l">
              <a:lnSpc>
                <a:spcPts val="3240"/>
              </a:lnSpc>
            </a:pPr>
            <a:r>
              <a:rPr lang="en-US" sz="2700" i="true">
                <a:solidFill>
                  <a:srgbClr val="000000"/>
                </a:solidFill>
                <a:latin typeface="Noto Serif Italics"/>
                <a:ea typeface="Noto Serif Italics"/>
                <a:cs typeface="Noto Serif Italics"/>
                <a:sym typeface="Noto Serif Italics"/>
              </a:rPr>
              <a:t>Reproduksi metode terpilih — bukan seluruh penelitian acuan.</a:t>
            </a:r>
          </a:p>
        </p:txBody>
      </p:sp>
      <p:sp>
        <p:nvSpPr>
          <p:cNvPr name="AutoShape 54" id="54"/>
          <p:cNvSpPr/>
          <p:nvPr/>
        </p:nvSpPr>
        <p:spPr>
          <a:xfrm>
            <a:off x="6179344" y="7818120"/>
            <a:ext cx="260032" cy="0"/>
          </a:xfrm>
          <a:prstGeom prst="line">
            <a:avLst/>
          </a:prstGeom>
          <a:ln cap="rnd" w="38100">
            <a:solidFill>
              <a:srgbClr val="F5582E"/>
            </a:solidFill>
            <a:prstDash val="solid"/>
            <a:headEnd type="none" len="sm" w="sm"/>
            <a:tailEnd type="triangle" len="med" w="lg"/>
          </a:ln>
        </p:spPr>
      </p:sp>
      <p:sp>
        <p:nvSpPr>
          <p:cNvPr name="AutoShape 55" id="55"/>
          <p:cNvSpPr/>
          <p:nvPr/>
        </p:nvSpPr>
        <p:spPr>
          <a:xfrm>
            <a:off x="8991124" y="7818120"/>
            <a:ext cx="260032" cy="0"/>
          </a:xfrm>
          <a:prstGeom prst="line">
            <a:avLst/>
          </a:prstGeom>
          <a:ln cap="rnd" w="38100">
            <a:solidFill>
              <a:srgbClr val="F5582E"/>
            </a:solidFill>
            <a:prstDash val="solid"/>
            <a:headEnd type="none" len="sm" w="sm"/>
            <a:tailEnd type="triangle" len="med" w="lg"/>
          </a:ln>
        </p:spPr>
      </p:sp>
      <p:sp>
        <p:nvSpPr>
          <p:cNvPr name="AutoShape 56" id="56"/>
          <p:cNvSpPr/>
          <p:nvPr/>
        </p:nvSpPr>
        <p:spPr>
          <a:xfrm>
            <a:off x="11802904" y="7818120"/>
            <a:ext cx="260033" cy="19050"/>
          </a:xfrm>
          <a:prstGeom prst="line">
            <a:avLst/>
          </a:prstGeom>
          <a:ln cap="rnd" w="38100">
            <a:solidFill>
              <a:srgbClr val="F5582E"/>
            </a:solidFill>
            <a:prstDash val="solid"/>
            <a:headEnd type="none" len="sm" w="sm"/>
            <a:tailEnd type="triangle" len="med" w="lg"/>
          </a:ln>
        </p:spPr>
      </p:sp>
      <p:sp>
        <p:nvSpPr>
          <p:cNvPr name="AutoShape 57" id="57"/>
          <p:cNvSpPr/>
          <p:nvPr/>
        </p:nvSpPr>
        <p:spPr>
          <a:xfrm>
            <a:off x="14614684" y="7818120"/>
            <a:ext cx="260033" cy="0"/>
          </a:xfrm>
          <a:prstGeom prst="line">
            <a:avLst/>
          </a:prstGeom>
          <a:ln cap="rnd" w="38100">
            <a:solidFill>
              <a:srgbClr val="F5582E"/>
            </a:solidFill>
            <a:prstDash val="solid"/>
            <a:headEnd type="none" len="sm" w="sm"/>
            <a:tailEnd type="triangle" len="med" w="lg"/>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5</a:t>
            </a:r>
          </a:p>
        </p:txBody>
      </p:sp>
      <p:sp>
        <p:nvSpPr>
          <p:cNvPr name="TextBox 3" id="3"/>
          <p:cNvSpPr txBox="true"/>
          <p:nvPr/>
        </p:nvSpPr>
        <p:spPr>
          <a:xfrm rot="0">
            <a:off x="822960" y="645795"/>
            <a:ext cx="16596360" cy="1754505"/>
          </a:xfrm>
          <a:prstGeom prst="rect">
            <a:avLst/>
          </a:prstGeom>
        </p:spPr>
        <p:txBody>
          <a:bodyPr anchor="t" rtlCol="false" tIns="0" lIns="0" bIns="0" rIns="0">
            <a:spAutoFit/>
          </a:bodyPr>
          <a:lstStyle/>
          <a:p>
            <a:pPr algn="l">
              <a:lnSpc>
                <a:spcPts val="6497"/>
              </a:lnSpc>
            </a:pPr>
            <a:r>
              <a:rPr lang="en-US" sz="5700" b="true">
                <a:solidFill>
                  <a:srgbClr val="F5582E"/>
                </a:solidFill>
                <a:latin typeface="Helvetica World Bold"/>
                <a:ea typeface="Helvetica World Bold"/>
                <a:cs typeface="Helvetica World Bold"/>
                <a:sym typeface="Helvetica World Bold"/>
              </a:rPr>
              <a:t>SATU DATASET</a:t>
            </a:r>
          </a:p>
          <a:p>
            <a:pPr algn="l">
              <a:lnSpc>
                <a:spcPts val="5813"/>
              </a:lnSpc>
            </a:pPr>
            <a:r>
              <a:rPr lang="en-US" sz="5100" i="true">
                <a:solidFill>
                  <a:srgbClr val="000000"/>
                </a:solidFill>
                <a:latin typeface="Noto Serif Italics"/>
                <a:ea typeface="Noto Serif Italics"/>
                <a:cs typeface="Noto Serif Italics"/>
                <a:sym typeface="Noto Serif Italics"/>
              </a:rPr>
              <a:t>Protokol Evaluasi yang Konsisten.</a:t>
            </a:r>
          </a:p>
        </p:txBody>
      </p:sp>
      <p:grpSp>
        <p:nvGrpSpPr>
          <p:cNvPr name="Group 4" id="4"/>
          <p:cNvGrpSpPr/>
          <p:nvPr/>
        </p:nvGrpSpPr>
        <p:grpSpPr>
          <a:xfrm rot="0">
            <a:off x="815816" y="3010376"/>
            <a:ext cx="7695247" cy="1042988"/>
            <a:chOff x="0" y="0"/>
            <a:chExt cx="10260330" cy="1390650"/>
          </a:xfrm>
        </p:grpSpPr>
        <p:sp>
          <p:nvSpPr>
            <p:cNvPr name="Freeform 5" id="5"/>
            <p:cNvSpPr/>
            <p:nvPr/>
          </p:nvSpPr>
          <p:spPr>
            <a:xfrm flipH="false" flipV="false" rot="0">
              <a:off x="0" y="0"/>
              <a:ext cx="10260330" cy="1390650"/>
            </a:xfrm>
            <a:custGeom>
              <a:avLst/>
              <a:gdLst/>
              <a:ahLst/>
              <a:cxnLst/>
              <a:rect r="r" b="b" t="t" l="l"/>
              <a:pathLst>
                <a:path h="1390650" w="10260330">
                  <a:moveTo>
                    <a:pt x="0" y="222504"/>
                  </a:moveTo>
                  <a:cubicBezTo>
                    <a:pt x="0" y="99568"/>
                    <a:pt x="99568" y="0"/>
                    <a:pt x="222504" y="0"/>
                  </a:cubicBezTo>
                  <a:lnTo>
                    <a:pt x="10037826" y="0"/>
                  </a:lnTo>
                  <a:cubicBezTo>
                    <a:pt x="10160762" y="0"/>
                    <a:pt x="10260330" y="99568"/>
                    <a:pt x="10260330" y="222504"/>
                  </a:cubicBezTo>
                  <a:lnTo>
                    <a:pt x="10260330" y="1168146"/>
                  </a:lnTo>
                  <a:cubicBezTo>
                    <a:pt x="10260330" y="1291082"/>
                    <a:pt x="10160762" y="1390650"/>
                    <a:pt x="10037826" y="1390650"/>
                  </a:cubicBezTo>
                  <a:lnTo>
                    <a:pt x="222504" y="1390650"/>
                  </a:lnTo>
                  <a:cubicBezTo>
                    <a:pt x="99568" y="1390650"/>
                    <a:pt x="0" y="1291082"/>
                    <a:pt x="0" y="1168146"/>
                  </a:cubicBezTo>
                  <a:close/>
                </a:path>
              </a:pathLst>
            </a:custGeom>
            <a:solidFill>
              <a:srgbClr val="141221"/>
            </a:solidFill>
            <a:ln w="14288" cap="sq">
              <a:solidFill>
                <a:srgbClr val="000000"/>
              </a:solidFill>
              <a:prstDash val="solid"/>
              <a:miter/>
            </a:ln>
          </p:spPr>
        </p:sp>
      </p:grpSp>
      <p:grpSp>
        <p:nvGrpSpPr>
          <p:cNvPr name="Group 6" id="6"/>
          <p:cNvGrpSpPr/>
          <p:nvPr/>
        </p:nvGrpSpPr>
        <p:grpSpPr>
          <a:xfrm rot="0">
            <a:off x="932688" y="3017520"/>
            <a:ext cx="7461504" cy="1028700"/>
            <a:chOff x="0" y="0"/>
            <a:chExt cx="9948672" cy="1371600"/>
          </a:xfrm>
        </p:grpSpPr>
        <p:sp>
          <p:nvSpPr>
            <p:cNvPr name="Freeform 7" id="7"/>
            <p:cNvSpPr/>
            <p:nvPr/>
          </p:nvSpPr>
          <p:spPr>
            <a:xfrm flipH="false" flipV="false" rot="0">
              <a:off x="0" y="0"/>
              <a:ext cx="9948672" cy="1371600"/>
            </a:xfrm>
            <a:custGeom>
              <a:avLst/>
              <a:gdLst/>
              <a:ahLst/>
              <a:cxnLst/>
              <a:rect r="r" b="b" t="t" l="l"/>
              <a:pathLst>
                <a:path h="1371600" w="9948672">
                  <a:moveTo>
                    <a:pt x="0" y="0"/>
                  </a:moveTo>
                  <a:lnTo>
                    <a:pt x="9948672" y="0"/>
                  </a:lnTo>
                  <a:lnTo>
                    <a:pt x="9948672" y="1371600"/>
                  </a:lnTo>
                  <a:lnTo>
                    <a:pt x="0" y="1371600"/>
                  </a:lnTo>
                  <a:close/>
                </a:path>
              </a:pathLst>
            </a:custGeom>
            <a:blipFill>
              <a:blip r:embed="rId3">
                <a:alphaModFix amt="0"/>
              </a:blip>
              <a:stretch>
                <a:fillRect l="0" t="-91331" r="0" b="-91331"/>
              </a:stretch>
            </a:blipFill>
          </p:spPr>
        </p:sp>
        <p:sp>
          <p:nvSpPr>
            <p:cNvPr name="TextBox 8" id="8"/>
            <p:cNvSpPr txBox="true"/>
            <p:nvPr/>
          </p:nvSpPr>
          <p:spPr>
            <a:xfrm>
              <a:off x="0" y="-9525"/>
              <a:ext cx="9948672" cy="1381125"/>
            </a:xfrm>
            <a:prstGeom prst="rect">
              <a:avLst/>
            </a:prstGeom>
          </p:spPr>
          <p:txBody>
            <a:bodyPr anchor="ctr" rtlCol="false" tIns="0" lIns="0" bIns="0" rIns="0"/>
            <a:lstStyle/>
            <a:p>
              <a:pPr algn="ctr">
                <a:lnSpc>
                  <a:spcPts val="3240"/>
                </a:lnSpc>
              </a:pPr>
              <a:r>
                <a:rPr lang="en-US" sz="2700" b="true">
                  <a:solidFill>
                    <a:srgbClr val="FFFFFF"/>
                  </a:solidFill>
                  <a:latin typeface="Helvetica World Bold"/>
                  <a:ea typeface="Helvetica World Bold"/>
                  <a:cs typeface="Helvetica World Bold"/>
                  <a:sym typeface="Helvetica World Bold"/>
                </a:rPr>
                <a:t>5.023 meme</a:t>
              </a:r>
            </a:p>
          </p:txBody>
        </p:sp>
      </p:grpSp>
      <p:sp>
        <p:nvSpPr>
          <p:cNvPr name="AutoShape 9" id="9"/>
          <p:cNvSpPr/>
          <p:nvPr/>
        </p:nvSpPr>
        <p:spPr>
          <a:xfrm>
            <a:off x="2625089" y="4046220"/>
            <a:ext cx="0" cy="610076"/>
          </a:xfrm>
          <a:prstGeom prst="line">
            <a:avLst/>
          </a:prstGeom>
          <a:ln cap="rnd" w="38100">
            <a:solidFill>
              <a:srgbClr val="F5582E"/>
            </a:solidFill>
            <a:prstDash val="solid"/>
            <a:headEnd type="none" len="sm" w="sm"/>
            <a:tailEnd type="triangle" len="med" w="lg"/>
          </a:ln>
        </p:spPr>
      </p:sp>
      <p:grpSp>
        <p:nvGrpSpPr>
          <p:cNvPr name="Group 10" id="10"/>
          <p:cNvGrpSpPr/>
          <p:nvPr/>
        </p:nvGrpSpPr>
        <p:grpSpPr>
          <a:xfrm rot="0">
            <a:off x="815816" y="4656296"/>
            <a:ext cx="4952047" cy="1111568"/>
            <a:chOff x="0" y="0"/>
            <a:chExt cx="6602730" cy="1482090"/>
          </a:xfrm>
        </p:grpSpPr>
        <p:sp>
          <p:nvSpPr>
            <p:cNvPr name="Freeform 11" id="11"/>
            <p:cNvSpPr/>
            <p:nvPr/>
          </p:nvSpPr>
          <p:spPr>
            <a:xfrm flipH="false" flipV="false" rot="0">
              <a:off x="0" y="0"/>
              <a:ext cx="6602603" cy="1481963"/>
            </a:xfrm>
            <a:custGeom>
              <a:avLst/>
              <a:gdLst/>
              <a:ahLst/>
              <a:cxnLst/>
              <a:rect r="r" b="b" t="t" l="l"/>
              <a:pathLst>
                <a:path h="1481963" w="6602603">
                  <a:moveTo>
                    <a:pt x="0" y="222250"/>
                  </a:moveTo>
                  <a:cubicBezTo>
                    <a:pt x="0" y="99568"/>
                    <a:pt x="99568" y="0"/>
                    <a:pt x="222250" y="0"/>
                  </a:cubicBezTo>
                  <a:lnTo>
                    <a:pt x="6380353" y="0"/>
                  </a:lnTo>
                  <a:cubicBezTo>
                    <a:pt x="6503162" y="0"/>
                    <a:pt x="6602603" y="99568"/>
                    <a:pt x="6602603" y="222250"/>
                  </a:cubicBezTo>
                  <a:lnTo>
                    <a:pt x="6602603" y="1259713"/>
                  </a:lnTo>
                  <a:cubicBezTo>
                    <a:pt x="6602603" y="1382522"/>
                    <a:pt x="6503035" y="1481963"/>
                    <a:pt x="6380353" y="1481963"/>
                  </a:cubicBezTo>
                  <a:lnTo>
                    <a:pt x="222250" y="1481963"/>
                  </a:lnTo>
                  <a:cubicBezTo>
                    <a:pt x="99568" y="1482090"/>
                    <a:pt x="0" y="1382522"/>
                    <a:pt x="0" y="1259713"/>
                  </a:cubicBezTo>
                  <a:close/>
                </a:path>
              </a:pathLst>
            </a:custGeom>
            <a:solidFill>
              <a:srgbClr val="FFFFFF"/>
            </a:solidFill>
            <a:ln w="14288" cap="sq">
              <a:solidFill>
                <a:srgbClr val="000000"/>
              </a:solidFill>
              <a:prstDash val="solid"/>
              <a:miter/>
            </a:ln>
          </p:spPr>
        </p:sp>
      </p:grpSp>
      <p:grpSp>
        <p:nvGrpSpPr>
          <p:cNvPr name="Group 12" id="12"/>
          <p:cNvGrpSpPr/>
          <p:nvPr/>
        </p:nvGrpSpPr>
        <p:grpSpPr>
          <a:xfrm rot="0">
            <a:off x="921393" y="4676765"/>
            <a:ext cx="4718304" cy="1097280"/>
            <a:chOff x="0" y="0"/>
            <a:chExt cx="6291072" cy="1463040"/>
          </a:xfrm>
        </p:grpSpPr>
        <p:sp>
          <p:nvSpPr>
            <p:cNvPr name="Freeform 13" id="13"/>
            <p:cNvSpPr/>
            <p:nvPr/>
          </p:nvSpPr>
          <p:spPr>
            <a:xfrm flipH="false" flipV="false" rot="0">
              <a:off x="0" y="0"/>
              <a:ext cx="6291072" cy="1463040"/>
            </a:xfrm>
            <a:custGeom>
              <a:avLst/>
              <a:gdLst/>
              <a:ahLst/>
              <a:cxnLst/>
              <a:rect r="r" b="b" t="t" l="l"/>
              <a:pathLst>
                <a:path h="1463040" w="6291072">
                  <a:moveTo>
                    <a:pt x="0" y="0"/>
                  </a:moveTo>
                  <a:lnTo>
                    <a:pt x="6291072" y="0"/>
                  </a:lnTo>
                  <a:lnTo>
                    <a:pt x="6291072" y="1463040"/>
                  </a:lnTo>
                  <a:lnTo>
                    <a:pt x="0" y="1463040"/>
                  </a:lnTo>
                  <a:close/>
                </a:path>
              </a:pathLst>
            </a:custGeom>
            <a:blipFill>
              <a:blip r:embed="rId3">
                <a:alphaModFix amt="0"/>
              </a:blip>
              <a:stretch>
                <a:fillRect l="0" t="-33785" r="0" b="-33785"/>
              </a:stretch>
            </a:blipFill>
          </p:spPr>
        </p:sp>
        <p:sp>
          <p:nvSpPr>
            <p:cNvPr name="TextBox 14" id="14"/>
            <p:cNvSpPr txBox="true"/>
            <p:nvPr/>
          </p:nvSpPr>
          <p:spPr>
            <a:xfrm>
              <a:off x="0" y="0"/>
              <a:ext cx="6291072" cy="1463040"/>
            </a:xfrm>
            <a:prstGeom prst="rect">
              <a:avLst/>
            </a:prstGeom>
          </p:spPr>
          <p:txBody>
            <a:bodyPr anchor="ctr" rtlCol="false" tIns="0" lIns="0" bIns="0" rIns="0"/>
            <a:lstStyle/>
            <a:p>
              <a:pPr algn="ctr">
                <a:lnSpc>
                  <a:spcPts val="2340"/>
                </a:lnSpc>
              </a:pPr>
              <a:r>
                <a:rPr lang="en-US" sz="1950" b="true">
                  <a:solidFill>
                    <a:srgbClr val="000000"/>
                  </a:solidFill>
                  <a:latin typeface="Helvetica World Bold"/>
                  <a:ea typeface="Helvetica World Bold"/>
                  <a:cs typeface="Helvetica World Bold"/>
                  <a:sym typeface="Helvetica World Bold"/>
                </a:rPr>
                <a:t>Training resmi : 4.018</a:t>
              </a:r>
            </a:p>
          </p:txBody>
        </p:sp>
      </p:grpSp>
      <p:grpSp>
        <p:nvGrpSpPr>
          <p:cNvPr name="Group 15" id="15"/>
          <p:cNvGrpSpPr/>
          <p:nvPr/>
        </p:nvGrpSpPr>
        <p:grpSpPr>
          <a:xfrm rot="0">
            <a:off x="6027896" y="4656296"/>
            <a:ext cx="2483167" cy="1111568"/>
            <a:chOff x="0" y="0"/>
            <a:chExt cx="3310890" cy="1482090"/>
          </a:xfrm>
        </p:grpSpPr>
        <p:sp>
          <p:nvSpPr>
            <p:cNvPr name="Freeform 16" id="16"/>
            <p:cNvSpPr/>
            <p:nvPr/>
          </p:nvSpPr>
          <p:spPr>
            <a:xfrm flipH="false" flipV="false" rot="0">
              <a:off x="0" y="0"/>
              <a:ext cx="3310763" cy="1481963"/>
            </a:xfrm>
            <a:custGeom>
              <a:avLst/>
              <a:gdLst/>
              <a:ahLst/>
              <a:cxnLst/>
              <a:rect r="r" b="b" t="t" l="l"/>
              <a:pathLst>
                <a:path h="1481963" w="3310763">
                  <a:moveTo>
                    <a:pt x="0" y="222250"/>
                  </a:moveTo>
                  <a:cubicBezTo>
                    <a:pt x="0" y="99568"/>
                    <a:pt x="99568" y="0"/>
                    <a:pt x="222250" y="0"/>
                  </a:cubicBezTo>
                  <a:lnTo>
                    <a:pt x="3088513" y="0"/>
                  </a:lnTo>
                  <a:cubicBezTo>
                    <a:pt x="3211322" y="0"/>
                    <a:pt x="3310763" y="99568"/>
                    <a:pt x="3310763" y="222250"/>
                  </a:cubicBezTo>
                  <a:lnTo>
                    <a:pt x="3310763" y="1259713"/>
                  </a:lnTo>
                  <a:cubicBezTo>
                    <a:pt x="3310763" y="1382522"/>
                    <a:pt x="3211195" y="1481963"/>
                    <a:pt x="3088513" y="1481963"/>
                  </a:cubicBezTo>
                  <a:lnTo>
                    <a:pt x="222250" y="1481963"/>
                  </a:lnTo>
                  <a:cubicBezTo>
                    <a:pt x="99568" y="1482090"/>
                    <a:pt x="0" y="1382522"/>
                    <a:pt x="0" y="1259713"/>
                  </a:cubicBezTo>
                  <a:close/>
                </a:path>
              </a:pathLst>
            </a:custGeom>
            <a:solidFill>
              <a:srgbClr val="FFFFFF"/>
            </a:solidFill>
            <a:ln w="14288" cap="sq">
              <a:solidFill>
                <a:srgbClr val="000000"/>
              </a:solidFill>
              <a:prstDash val="solid"/>
              <a:miter/>
            </a:ln>
          </p:spPr>
        </p:sp>
      </p:grpSp>
      <p:grpSp>
        <p:nvGrpSpPr>
          <p:cNvPr name="Group 17" id="17"/>
          <p:cNvGrpSpPr/>
          <p:nvPr/>
        </p:nvGrpSpPr>
        <p:grpSpPr>
          <a:xfrm rot="0">
            <a:off x="6144768" y="4663440"/>
            <a:ext cx="2249424" cy="1097280"/>
            <a:chOff x="0" y="0"/>
            <a:chExt cx="2999232" cy="1463040"/>
          </a:xfrm>
        </p:grpSpPr>
        <p:sp>
          <p:nvSpPr>
            <p:cNvPr name="Freeform 18" id="18"/>
            <p:cNvSpPr/>
            <p:nvPr/>
          </p:nvSpPr>
          <p:spPr>
            <a:xfrm flipH="false" flipV="false" rot="0">
              <a:off x="0" y="0"/>
              <a:ext cx="2999232" cy="1463040"/>
            </a:xfrm>
            <a:custGeom>
              <a:avLst/>
              <a:gdLst/>
              <a:ahLst/>
              <a:cxnLst/>
              <a:rect r="r" b="b" t="t" l="l"/>
              <a:pathLst>
                <a:path h="1463040" w="2999232">
                  <a:moveTo>
                    <a:pt x="0" y="0"/>
                  </a:moveTo>
                  <a:lnTo>
                    <a:pt x="2999232" y="0"/>
                  </a:lnTo>
                  <a:lnTo>
                    <a:pt x="2999232" y="1463040"/>
                  </a:lnTo>
                  <a:lnTo>
                    <a:pt x="0" y="1463040"/>
                  </a:lnTo>
                  <a:close/>
                </a:path>
              </a:pathLst>
            </a:custGeom>
            <a:blipFill>
              <a:blip r:embed="rId3">
                <a:alphaModFix amt="0"/>
              </a:blip>
              <a:stretch>
                <a:fillRect l="-12587" t="0" r="-12587" b="0"/>
              </a:stretch>
            </a:blipFill>
          </p:spPr>
        </p:sp>
        <p:sp>
          <p:nvSpPr>
            <p:cNvPr name="TextBox 19" id="19"/>
            <p:cNvSpPr txBox="true"/>
            <p:nvPr/>
          </p:nvSpPr>
          <p:spPr>
            <a:xfrm>
              <a:off x="0" y="0"/>
              <a:ext cx="2999232" cy="146304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Testing resmi</a:t>
              </a:r>
            </a:p>
            <a:p>
              <a:pPr algn="ctr">
                <a:lnSpc>
                  <a:spcPts val="2160"/>
                </a:lnSpc>
              </a:pPr>
              <a:r>
                <a:rPr lang="en-US" sz="1800" b="true">
                  <a:solidFill>
                    <a:srgbClr val="000000"/>
                  </a:solidFill>
                  <a:latin typeface="Helvetica World Bold"/>
                  <a:ea typeface="Helvetica World Bold"/>
                  <a:cs typeface="Helvetica World Bold"/>
                  <a:sym typeface="Helvetica World Bold"/>
                </a:rPr>
                <a:t>1.005</a:t>
              </a:r>
            </a:p>
          </p:txBody>
        </p:sp>
      </p:grpSp>
      <p:grpSp>
        <p:nvGrpSpPr>
          <p:cNvPr name="Group 20" id="20"/>
          <p:cNvGrpSpPr/>
          <p:nvPr/>
        </p:nvGrpSpPr>
        <p:grpSpPr>
          <a:xfrm rot="0">
            <a:off x="815816" y="6233636"/>
            <a:ext cx="2894648" cy="1111568"/>
            <a:chOff x="0" y="0"/>
            <a:chExt cx="3859530" cy="1482090"/>
          </a:xfrm>
        </p:grpSpPr>
        <p:sp>
          <p:nvSpPr>
            <p:cNvPr name="Freeform 21" id="21"/>
            <p:cNvSpPr/>
            <p:nvPr/>
          </p:nvSpPr>
          <p:spPr>
            <a:xfrm flipH="false" flipV="false" rot="0">
              <a:off x="0" y="0"/>
              <a:ext cx="3859403" cy="1481963"/>
            </a:xfrm>
            <a:custGeom>
              <a:avLst/>
              <a:gdLst/>
              <a:ahLst/>
              <a:cxnLst/>
              <a:rect r="r" b="b" t="t" l="l"/>
              <a:pathLst>
                <a:path h="1481963" w="3859403">
                  <a:moveTo>
                    <a:pt x="0" y="222250"/>
                  </a:moveTo>
                  <a:cubicBezTo>
                    <a:pt x="0" y="99568"/>
                    <a:pt x="99568" y="0"/>
                    <a:pt x="222250" y="0"/>
                  </a:cubicBezTo>
                  <a:lnTo>
                    <a:pt x="3637153" y="0"/>
                  </a:lnTo>
                  <a:cubicBezTo>
                    <a:pt x="3759962" y="0"/>
                    <a:pt x="3859403" y="99568"/>
                    <a:pt x="3859403" y="222250"/>
                  </a:cubicBezTo>
                  <a:lnTo>
                    <a:pt x="3859403" y="1259713"/>
                  </a:lnTo>
                  <a:cubicBezTo>
                    <a:pt x="3859403" y="1382522"/>
                    <a:pt x="3759835" y="1481963"/>
                    <a:pt x="3637153" y="1481963"/>
                  </a:cubicBezTo>
                  <a:lnTo>
                    <a:pt x="222250" y="1481963"/>
                  </a:lnTo>
                  <a:cubicBezTo>
                    <a:pt x="99568" y="1482090"/>
                    <a:pt x="0" y="1382522"/>
                    <a:pt x="0" y="1259713"/>
                  </a:cubicBezTo>
                  <a:close/>
                </a:path>
              </a:pathLst>
            </a:custGeom>
            <a:solidFill>
              <a:srgbClr val="FFFFFF"/>
            </a:solidFill>
            <a:ln w="14288" cap="sq">
              <a:solidFill>
                <a:srgbClr val="000000"/>
              </a:solidFill>
              <a:prstDash val="solid"/>
              <a:miter/>
            </a:ln>
          </p:spPr>
        </p:sp>
      </p:grpSp>
      <p:grpSp>
        <p:nvGrpSpPr>
          <p:cNvPr name="Group 22" id="22"/>
          <p:cNvGrpSpPr/>
          <p:nvPr/>
        </p:nvGrpSpPr>
        <p:grpSpPr>
          <a:xfrm rot="0">
            <a:off x="932688" y="6240780"/>
            <a:ext cx="2660904" cy="1097280"/>
            <a:chOff x="0" y="0"/>
            <a:chExt cx="3547872" cy="1463040"/>
          </a:xfrm>
        </p:grpSpPr>
        <p:sp>
          <p:nvSpPr>
            <p:cNvPr name="Freeform 23" id="23"/>
            <p:cNvSpPr/>
            <p:nvPr/>
          </p:nvSpPr>
          <p:spPr>
            <a:xfrm flipH="false" flipV="false" rot="0">
              <a:off x="0" y="0"/>
              <a:ext cx="3547872" cy="1463040"/>
            </a:xfrm>
            <a:custGeom>
              <a:avLst/>
              <a:gdLst/>
              <a:ahLst/>
              <a:cxnLst/>
              <a:rect r="r" b="b" t="t" l="l"/>
              <a:pathLst>
                <a:path h="1463040" w="3547872">
                  <a:moveTo>
                    <a:pt x="0" y="0"/>
                  </a:moveTo>
                  <a:lnTo>
                    <a:pt x="3547872" y="0"/>
                  </a:lnTo>
                  <a:lnTo>
                    <a:pt x="3547872" y="1463040"/>
                  </a:lnTo>
                  <a:lnTo>
                    <a:pt x="0" y="1463040"/>
                  </a:lnTo>
                  <a:close/>
                </a:path>
              </a:pathLst>
            </a:custGeom>
            <a:blipFill>
              <a:blip r:embed="rId3">
                <a:alphaModFix amt="0"/>
              </a:blip>
              <a:stretch>
                <a:fillRect l="-2908" t="0" r="-2908" b="0"/>
              </a:stretch>
            </a:blipFill>
          </p:spPr>
        </p:sp>
        <p:sp>
          <p:nvSpPr>
            <p:cNvPr name="TextBox 24" id="24"/>
            <p:cNvSpPr txBox="true"/>
            <p:nvPr/>
          </p:nvSpPr>
          <p:spPr>
            <a:xfrm>
              <a:off x="0" y="0"/>
              <a:ext cx="3547872" cy="1463040"/>
            </a:xfrm>
            <a:prstGeom prst="rect">
              <a:avLst/>
            </a:prstGeom>
          </p:spPr>
          <p:txBody>
            <a:bodyPr anchor="ctr" rtlCol="false" tIns="0" lIns="0" bIns="0" rIns="0"/>
            <a:lstStyle/>
            <a:p>
              <a:pPr algn="ctr">
                <a:lnSpc>
                  <a:spcPts val="2340"/>
                </a:lnSpc>
              </a:pPr>
              <a:r>
                <a:rPr lang="en-US" sz="1950" b="true">
                  <a:solidFill>
                    <a:srgbClr val="000000"/>
                  </a:solidFill>
                  <a:latin typeface="Helvetica World Bold"/>
                  <a:ea typeface="Helvetica World Bold"/>
                  <a:cs typeface="Helvetica World Bold"/>
                  <a:sym typeface="Helvetica World Bold"/>
                </a:rPr>
                <a:t>Fit : 3.214</a:t>
              </a:r>
            </a:p>
          </p:txBody>
        </p:sp>
      </p:grpSp>
      <p:grpSp>
        <p:nvGrpSpPr>
          <p:cNvPr name="Group 25" id="25"/>
          <p:cNvGrpSpPr/>
          <p:nvPr/>
        </p:nvGrpSpPr>
        <p:grpSpPr>
          <a:xfrm rot="0">
            <a:off x="3833336" y="6233636"/>
            <a:ext cx="1934527" cy="1111568"/>
            <a:chOff x="0" y="0"/>
            <a:chExt cx="2579370" cy="1482090"/>
          </a:xfrm>
        </p:grpSpPr>
        <p:sp>
          <p:nvSpPr>
            <p:cNvPr name="Freeform 26" id="26"/>
            <p:cNvSpPr/>
            <p:nvPr/>
          </p:nvSpPr>
          <p:spPr>
            <a:xfrm flipH="false" flipV="false" rot="0">
              <a:off x="0" y="0"/>
              <a:ext cx="2579243" cy="1481963"/>
            </a:xfrm>
            <a:custGeom>
              <a:avLst/>
              <a:gdLst/>
              <a:ahLst/>
              <a:cxnLst/>
              <a:rect r="r" b="b" t="t" l="l"/>
              <a:pathLst>
                <a:path h="1481963" w="2579243">
                  <a:moveTo>
                    <a:pt x="0" y="222250"/>
                  </a:moveTo>
                  <a:cubicBezTo>
                    <a:pt x="0" y="99568"/>
                    <a:pt x="99568" y="0"/>
                    <a:pt x="222250" y="0"/>
                  </a:cubicBezTo>
                  <a:lnTo>
                    <a:pt x="2356993" y="0"/>
                  </a:lnTo>
                  <a:cubicBezTo>
                    <a:pt x="2479802" y="0"/>
                    <a:pt x="2579243" y="99568"/>
                    <a:pt x="2579243" y="222250"/>
                  </a:cubicBezTo>
                  <a:lnTo>
                    <a:pt x="2579243" y="1259713"/>
                  </a:lnTo>
                  <a:cubicBezTo>
                    <a:pt x="2579243" y="1382522"/>
                    <a:pt x="2479675" y="1481963"/>
                    <a:pt x="2356993" y="1481963"/>
                  </a:cubicBezTo>
                  <a:lnTo>
                    <a:pt x="222250" y="1481963"/>
                  </a:lnTo>
                  <a:cubicBezTo>
                    <a:pt x="99568" y="1482090"/>
                    <a:pt x="0" y="1382522"/>
                    <a:pt x="0" y="1259713"/>
                  </a:cubicBezTo>
                  <a:close/>
                </a:path>
              </a:pathLst>
            </a:custGeom>
            <a:solidFill>
              <a:srgbClr val="FFFFFF"/>
            </a:solidFill>
            <a:ln w="14288" cap="sq">
              <a:solidFill>
                <a:srgbClr val="000000"/>
              </a:solidFill>
              <a:prstDash val="solid"/>
              <a:miter/>
            </a:ln>
          </p:spPr>
        </p:sp>
      </p:grpSp>
      <p:grpSp>
        <p:nvGrpSpPr>
          <p:cNvPr name="Group 27" id="27"/>
          <p:cNvGrpSpPr/>
          <p:nvPr/>
        </p:nvGrpSpPr>
        <p:grpSpPr>
          <a:xfrm rot="0">
            <a:off x="3950208" y="6240780"/>
            <a:ext cx="1700784" cy="1097280"/>
            <a:chOff x="0" y="0"/>
            <a:chExt cx="2267712" cy="1463040"/>
          </a:xfrm>
        </p:grpSpPr>
        <p:sp>
          <p:nvSpPr>
            <p:cNvPr name="Freeform 28" id="28"/>
            <p:cNvSpPr/>
            <p:nvPr/>
          </p:nvSpPr>
          <p:spPr>
            <a:xfrm flipH="false" flipV="false" rot="0">
              <a:off x="0" y="0"/>
              <a:ext cx="2267712" cy="1463040"/>
            </a:xfrm>
            <a:custGeom>
              <a:avLst/>
              <a:gdLst/>
              <a:ahLst/>
              <a:cxnLst/>
              <a:rect r="r" b="b" t="t" l="l"/>
              <a:pathLst>
                <a:path h="1463040" w="2267712">
                  <a:moveTo>
                    <a:pt x="0" y="0"/>
                  </a:moveTo>
                  <a:lnTo>
                    <a:pt x="2267712" y="0"/>
                  </a:lnTo>
                  <a:lnTo>
                    <a:pt x="2267712" y="1463040"/>
                  </a:lnTo>
                  <a:lnTo>
                    <a:pt x="0" y="1463040"/>
                  </a:lnTo>
                  <a:close/>
                </a:path>
              </a:pathLst>
            </a:custGeom>
            <a:blipFill>
              <a:blip r:embed="rId3">
                <a:alphaModFix amt="0"/>
              </a:blip>
              <a:stretch>
                <a:fillRect l="-32776" t="0" r="-32776" b="0"/>
              </a:stretch>
            </a:blipFill>
          </p:spPr>
        </p:sp>
        <p:sp>
          <p:nvSpPr>
            <p:cNvPr name="TextBox 29" id="29"/>
            <p:cNvSpPr txBox="true"/>
            <p:nvPr/>
          </p:nvSpPr>
          <p:spPr>
            <a:xfrm>
              <a:off x="0" y="0"/>
              <a:ext cx="2267712" cy="146304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Validasi : 804</a:t>
              </a:r>
            </a:p>
          </p:txBody>
        </p:sp>
      </p:grpSp>
      <p:grpSp>
        <p:nvGrpSpPr>
          <p:cNvPr name="Group 30" id="30"/>
          <p:cNvGrpSpPr/>
          <p:nvPr/>
        </p:nvGrpSpPr>
        <p:grpSpPr>
          <a:xfrm rot="0">
            <a:off x="9045416" y="3010376"/>
            <a:ext cx="8381047" cy="4334828"/>
            <a:chOff x="0" y="0"/>
            <a:chExt cx="11174730" cy="5779770"/>
          </a:xfrm>
        </p:grpSpPr>
        <p:sp>
          <p:nvSpPr>
            <p:cNvPr name="Freeform 31" id="31"/>
            <p:cNvSpPr/>
            <p:nvPr/>
          </p:nvSpPr>
          <p:spPr>
            <a:xfrm flipH="false" flipV="false" rot="0">
              <a:off x="0" y="0"/>
              <a:ext cx="11174730" cy="5779770"/>
            </a:xfrm>
            <a:custGeom>
              <a:avLst/>
              <a:gdLst/>
              <a:ahLst/>
              <a:cxnLst/>
              <a:rect r="r" b="b" t="t" l="l"/>
              <a:pathLst>
                <a:path h="5779770" w="11174730">
                  <a:moveTo>
                    <a:pt x="0" y="220218"/>
                  </a:moveTo>
                  <a:cubicBezTo>
                    <a:pt x="0" y="98552"/>
                    <a:pt x="98552" y="0"/>
                    <a:pt x="220218" y="0"/>
                  </a:cubicBezTo>
                  <a:lnTo>
                    <a:pt x="10954512" y="0"/>
                  </a:lnTo>
                  <a:cubicBezTo>
                    <a:pt x="11076178" y="0"/>
                    <a:pt x="11174730" y="98552"/>
                    <a:pt x="11174730" y="220218"/>
                  </a:cubicBezTo>
                  <a:lnTo>
                    <a:pt x="11174730" y="5559552"/>
                  </a:lnTo>
                  <a:cubicBezTo>
                    <a:pt x="11174730" y="5681218"/>
                    <a:pt x="11076178" y="5779770"/>
                    <a:pt x="10954512" y="5779770"/>
                  </a:cubicBezTo>
                  <a:lnTo>
                    <a:pt x="220218" y="5779770"/>
                  </a:lnTo>
                  <a:cubicBezTo>
                    <a:pt x="98552" y="5779770"/>
                    <a:pt x="0" y="5681218"/>
                    <a:pt x="0" y="5559552"/>
                  </a:cubicBezTo>
                  <a:close/>
                </a:path>
              </a:pathLst>
            </a:custGeom>
            <a:solidFill>
              <a:srgbClr val="FFFFFF"/>
            </a:solidFill>
            <a:ln w="14288" cap="sq">
              <a:solidFill>
                <a:srgbClr val="000000"/>
              </a:solidFill>
              <a:prstDash val="solid"/>
              <a:miter/>
            </a:ln>
          </p:spPr>
        </p:sp>
      </p:grpSp>
      <p:grpSp>
        <p:nvGrpSpPr>
          <p:cNvPr name="Group 32" id="32"/>
          <p:cNvGrpSpPr/>
          <p:nvPr/>
        </p:nvGrpSpPr>
        <p:grpSpPr>
          <a:xfrm rot="0">
            <a:off x="9045416" y="3010376"/>
            <a:ext cx="8381047" cy="453200"/>
            <a:chOff x="0" y="0"/>
            <a:chExt cx="11174730" cy="604266"/>
          </a:xfrm>
        </p:grpSpPr>
        <p:sp>
          <p:nvSpPr>
            <p:cNvPr name="Freeform 33" id="33"/>
            <p:cNvSpPr/>
            <p:nvPr/>
          </p:nvSpPr>
          <p:spPr>
            <a:xfrm flipH="false" flipV="false" rot="0">
              <a:off x="0" y="0"/>
              <a:ext cx="11174730" cy="604266"/>
            </a:xfrm>
            <a:custGeom>
              <a:avLst/>
              <a:gdLst/>
              <a:ahLst/>
              <a:cxnLst/>
              <a:rect r="r" b="b" t="t" l="l"/>
              <a:pathLst>
                <a:path h="604266" w="11174730">
                  <a:moveTo>
                    <a:pt x="0" y="226568"/>
                  </a:moveTo>
                  <a:cubicBezTo>
                    <a:pt x="0" y="101473"/>
                    <a:pt x="101473" y="0"/>
                    <a:pt x="226568" y="0"/>
                  </a:cubicBezTo>
                  <a:lnTo>
                    <a:pt x="10948162" y="0"/>
                  </a:lnTo>
                  <a:cubicBezTo>
                    <a:pt x="11073257" y="0"/>
                    <a:pt x="11174730" y="101473"/>
                    <a:pt x="11174730" y="226568"/>
                  </a:cubicBezTo>
                  <a:lnTo>
                    <a:pt x="11174730" y="377698"/>
                  </a:lnTo>
                  <a:cubicBezTo>
                    <a:pt x="11174730" y="502793"/>
                    <a:pt x="11073257" y="604266"/>
                    <a:pt x="1094816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34" id="34"/>
          <p:cNvGrpSpPr/>
          <p:nvPr/>
        </p:nvGrpSpPr>
        <p:grpSpPr>
          <a:xfrm rot="0">
            <a:off x="9056751" y="3227451"/>
            <a:ext cx="8358378" cy="238506"/>
            <a:chOff x="0" y="0"/>
            <a:chExt cx="11144504" cy="318008"/>
          </a:xfrm>
        </p:grpSpPr>
        <p:sp>
          <p:nvSpPr>
            <p:cNvPr name="Freeform 35" id="35"/>
            <p:cNvSpPr/>
            <p:nvPr/>
          </p:nvSpPr>
          <p:spPr>
            <a:xfrm flipH="false" flipV="false" rot="0">
              <a:off x="0" y="0"/>
              <a:ext cx="11144504" cy="318008"/>
            </a:xfrm>
            <a:custGeom>
              <a:avLst/>
              <a:gdLst/>
              <a:ahLst/>
              <a:cxnLst/>
              <a:rect r="r" b="b" t="t" l="l"/>
              <a:pathLst>
                <a:path h="318008" w="11144504">
                  <a:moveTo>
                    <a:pt x="0" y="0"/>
                  </a:moveTo>
                  <a:lnTo>
                    <a:pt x="11144504" y="0"/>
                  </a:lnTo>
                  <a:lnTo>
                    <a:pt x="11144504" y="318008"/>
                  </a:lnTo>
                  <a:lnTo>
                    <a:pt x="0" y="318008"/>
                  </a:lnTo>
                  <a:close/>
                </a:path>
              </a:pathLst>
            </a:custGeom>
            <a:solidFill>
              <a:srgbClr val="F5582E"/>
            </a:solidFill>
            <a:ln w="19050" cap="sq">
              <a:solidFill>
                <a:srgbClr val="F5582E"/>
              </a:solidFill>
              <a:prstDash val="solid"/>
              <a:miter/>
            </a:ln>
          </p:spPr>
        </p:sp>
      </p:grpSp>
      <p:sp>
        <p:nvSpPr>
          <p:cNvPr name="AutoShape 36" id="36"/>
          <p:cNvSpPr/>
          <p:nvPr/>
        </p:nvSpPr>
        <p:spPr>
          <a:xfrm rot="5880">
            <a:off x="9045407" y="3451669"/>
            <a:ext cx="8381057" cy="0"/>
          </a:xfrm>
          <a:prstGeom prst="line">
            <a:avLst/>
          </a:prstGeom>
          <a:ln cap="rnd" w="9525">
            <a:solidFill>
              <a:srgbClr val="000000"/>
            </a:solidFill>
            <a:prstDash val="solid"/>
            <a:headEnd type="none" len="sm" w="sm"/>
            <a:tailEnd type="none" len="sm" w="sm"/>
          </a:ln>
        </p:spPr>
      </p:sp>
      <p:sp>
        <p:nvSpPr>
          <p:cNvPr name="TextBox 37" id="37"/>
          <p:cNvSpPr txBox="true"/>
          <p:nvPr/>
        </p:nvSpPr>
        <p:spPr>
          <a:xfrm rot="0">
            <a:off x="9395460" y="3634740"/>
            <a:ext cx="7543800" cy="411480"/>
          </a:xfrm>
          <a:prstGeom prst="rect">
            <a:avLst/>
          </a:prstGeom>
        </p:spPr>
        <p:txBody>
          <a:bodyPr anchor="t" rtlCol="false" tIns="0" lIns="0" bIns="0" rIns="0">
            <a:spAutoFit/>
          </a:bodyPr>
          <a:lstStyle/>
          <a:p>
            <a:pPr algn="l">
              <a:lnSpc>
                <a:spcPts val="2520"/>
              </a:lnSpc>
            </a:pPr>
            <a:r>
              <a:rPr lang="en-US" sz="2100" b="true">
                <a:solidFill>
                  <a:srgbClr val="000000"/>
                </a:solidFill>
                <a:latin typeface="Helvetica World Bold"/>
                <a:ea typeface="Helvetica World Bold"/>
                <a:cs typeface="Helvetica World Bold"/>
                <a:sym typeface="Helvetica World Bold"/>
              </a:rPr>
              <a:t>Kombinasi label (5.023 meme)</a:t>
            </a:r>
          </a:p>
        </p:txBody>
      </p:sp>
      <p:grpSp>
        <p:nvGrpSpPr>
          <p:cNvPr name="Group 38" id="38"/>
          <p:cNvGrpSpPr/>
          <p:nvPr/>
        </p:nvGrpSpPr>
        <p:grpSpPr>
          <a:xfrm rot="0">
            <a:off x="9395460" y="4183380"/>
            <a:ext cx="2880360" cy="822960"/>
            <a:chOff x="0" y="0"/>
            <a:chExt cx="3840480" cy="1097280"/>
          </a:xfrm>
        </p:grpSpPr>
        <p:sp>
          <p:nvSpPr>
            <p:cNvPr name="Freeform 39" id="39"/>
            <p:cNvSpPr/>
            <p:nvPr/>
          </p:nvSpPr>
          <p:spPr>
            <a:xfrm flipH="false" flipV="false" rot="0">
              <a:off x="0" y="0"/>
              <a:ext cx="3840480" cy="1097280"/>
            </a:xfrm>
            <a:custGeom>
              <a:avLst/>
              <a:gdLst/>
              <a:ahLst/>
              <a:cxnLst/>
              <a:rect r="r" b="b" t="t" l="l"/>
              <a:pathLst>
                <a:path h="1097280" w="3840480">
                  <a:moveTo>
                    <a:pt x="0" y="0"/>
                  </a:moveTo>
                  <a:lnTo>
                    <a:pt x="3840480" y="0"/>
                  </a:lnTo>
                  <a:lnTo>
                    <a:pt x="3840480" y="1097280"/>
                  </a:lnTo>
                  <a:lnTo>
                    <a:pt x="0" y="1097280"/>
                  </a:lnTo>
                  <a:close/>
                </a:path>
              </a:pathLst>
            </a:custGeom>
            <a:blipFill>
              <a:blip r:embed="rId3">
                <a:alphaModFix amt="0"/>
              </a:blip>
              <a:stretch>
                <a:fillRect l="0" t="-18197" r="0" b="-18197"/>
              </a:stretch>
            </a:blipFill>
          </p:spPr>
        </p:sp>
        <p:sp>
          <p:nvSpPr>
            <p:cNvPr name="TextBox 40" id="40"/>
            <p:cNvSpPr txBox="true"/>
            <p:nvPr/>
          </p:nvSpPr>
          <p:spPr>
            <a:xfrm>
              <a:off x="0" y="0"/>
              <a:ext cx="3840480" cy="1097280"/>
            </a:xfrm>
            <a:prstGeom prst="rect">
              <a:avLst/>
            </a:prstGeom>
          </p:spPr>
          <p:txBody>
            <a:bodyPr anchor="ctr" rtlCol="false" tIns="0" lIns="0" bIns="0" rIns="0"/>
            <a:lstStyle/>
            <a:p>
              <a:pPr algn="l">
                <a:lnSpc>
                  <a:spcPts val="2340"/>
                </a:lnSpc>
              </a:pPr>
              <a:r>
                <a:rPr lang="en-US" sz="1950">
                  <a:solidFill>
                    <a:srgbClr val="000000"/>
                  </a:solidFill>
                  <a:latin typeface="Helvetica World"/>
                  <a:ea typeface="Helvetica World"/>
                  <a:cs typeface="Helvetica World"/>
                  <a:sym typeface="Helvetica World"/>
                </a:rPr>
                <a:t>Hate–Inappropriate</a:t>
              </a:r>
            </a:p>
          </p:txBody>
        </p:sp>
      </p:grpSp>
      <p:grpSp>
        <p:nvGrpSpPr>
          <p:cNvPr name="Group 41" id="41"/>
          <p:cNvGrpSpPr/>
          <p:nvPr/>
        </p:nvGrpSpPr>
        <p:grpSpPr>
          <a:xfrm rot="0">
            <a:off x="12403455" y="4283583"/>
            <a:ext cx="1848136" cy="622554"/>
            <a:chOff x="0" y="0"/>
            <a:chExt cx="2464181" cy="830072"/>
          </a:xfrm>
        </p:grpSpPr>
        <p:sp>
          <p:nvSpPr>
            <p:cNvPr name="Freeform 42" id="42"/>
            <p:cNvSpPr/>
            <p:nvPr/>
          </p:nvSpPr>
          <p:spPr>
            <a:xfrm flipH="false" flipV="false" rot="0">
              <a:off x="0" y="0"/>
              <a:ext cx="2464181" cy="830072"/>
            </a:xfrm>
            <a:custGeom>
              <a:avLst/>
              <a:gdLst/>
              <a:ahLst/>
              <a:cxnLst/>
              <a:rect r="r" b="b" t="t" l="l"/>
              <a:pathLst>
                <a:path h="830072" w="2464181">
                  <a:moveTo>
                    <a:pt x="0" y="94361"/>
                  </a:moveTo>
                  <a:cubicBezTo>
                    <a:pt x="0" y="42291"/>
                    <a:pt x="42291" y="0"/>
                    <a:pt x="94361" y="0"/>
                  </a:cubicBezTo>
                  <a:lnTo>
                    <a:pt x="2369820" y="0"/>
                  </a:lnTo>
                  <a:cubicBezTo>
                    <a:pt x="2421890" y="0"/>
                    <a:pt x="2464181" y="42291"/>
                    <a:pt x="2464181" y="94361"/>
                  </a:cubicBezTo>
                  <a:lnTo>
                    <a:pt x="2464181" y="735711"/>
                  </a:lnTo>
                  <a:cubicBezTo>
                    <a:pt x="2464181" y="787781"/>
                    <a:pt x="2421890" y="830072"/>
                    <a:pt x="2369820" y="830072"/>
                  </a:cubicBezTo>
                  <a:lnTo>
                    <a:pt x="94361" y="830072"/>
                  </a:lnTo>
                  <a:cubicBezTo>
                    <a:pt x="42291" y="830072"/>
                    <a:pt x="0" y="787781"/>
                    <a:pt x="0" y="735711"/>
                  </a:cubicBezTo>
                  <a:close/>
                </a:path>
              </a:pathLst>
            </a:custGeom>
            <a:solidFill>
              <a:srgbClr val="9A9A9A"/>
            </a:solidFill>
            <a:ln w="19050" cap="sq">
              <a:solidFill>
                <a:srgbClr val="9A9A9A"/>
              </a:solidFill>
              <a:prstDash val="solid"/>
              <a:miter/>
            </a:ln>
          </p:spPr>
        </p:sp>
      </p:grpSp>
      <p:grpSp>
        <p:nvGrpSpPr>
          <p:cNvPr name="Group 43" id="43"/>
          <p:cNvGrpSpPr/>
          <p:nvPr/>
        </p:nvGrpSpPr>
        <p:grpSpPr>
          <a:xfrm rot="0">
            <a:off x="14351794" y="4183380"/>
            <a:ext cx="1165860" cy="822960"/>
            <a:chOff x="0" y="0"/>
            <a:chExt cx="1554480" cy="1097280"/>
          </a:xfrm>
        </p:grpSpPr>
        <p:sp>
          <p:nvSpPr>
            <p:cNvPr name="Freeform 44" id="44"/>
            <p:cNvSpPr/>
            <p:nvPr/>
          </p:nvSpPr>
          <p:spPr>
            <a:xfrm flipH="false" flipV="false" rot="0">
              <a:off x="0" y="0"/>
              <a:ext cx="1554480" cy="1097280"/>
            </a:xfrm>
            <a:custGeom>
              <a:avLst/>
              <a:gdLst/>
              <a:ahLst/>
              <a:cxnLst/>
              <a:rect r="r" b="b" t="t" l="l"/>
              <a:pathLst>
                <a:path h="1097280" w="1554480">
                  <a:moveTo>
                    <a:pt x="0" y="0"/>
                  </a:moveTo>
                  <a:lnTo>
                    <a:pt x="1554480" y="0"/>
                  </a:lnTo>
                  <a:lnTo>
                    <a:pt x="1554480" y="1097280"/>
                  </a:lnTo>
                  <a:lnTo>
                    <a:pt x="0" y="1097280"/>
                  </a:lnTo>
                  <a:close/>
                </a:path>
              </a:pathLst>
            </a:custGeom>
            <a:blipFill>
              <a:blip r:embed="rId3">
                <a:alphaModFix amt="0"/>
              </a:blip>
              <a:stretch>
                <a:fillRect l="-40567" t="0" r="-40567" b="0"/>
              </a:stretch>
            </a:blipFill>
          </p:spPr>
        </p:sp>
        <p:sp>
          <p:nvSpPr>
            <p:cNvPr name="TextBox 45" id="45"/>
            <p:cNvSpPr txBox="true"/>
            <p:nvPr/>
          </p:nvSpPr>
          <p:spPr>
            <a:xfrm>
              <a:off x="0" y="0"/>
              <a:ext cx="1554480" cy="1097280"/>
            </a:xfrm>
            <a:prstGeom prst="rect">
              <a:avLst/>
            </a:prstGeom>
          </p:spPr>
          <p:txBody>
            <a:bodyPr anchor="ctr" rtlCol="false" tIns="0" lIns="0" bIns="0" rIns="0"/>
            <a:lstStyle/>
            <a:p>
              <a:pPr algn="l">
                <a:lnSpc>
                  <a:spcPts val="2340"/>
                </a:lnSpc>
              </a:pPr>
              <a:r>
                <a:rPr lang="en-US" sz="1950" b="true">
                  <a:solidFill>
                    <a:srgbClr val="000000"/>
                  </a:solidFill>
                  <a:latin typeface="Helvetica World Bold"/>
                  <a:ea typeface="Helvetica World Bold"/>
                  <a:cs typeface="Helvetica World Bold"/>
                  <a:sym typeface="Helvetica World Bold"/>
                </a:rPr>
                <a:t>1.733</a:t>
              </a:r>
            </a:p>
          </p:txBody>
        </p:sp>
      </p:grpSp>
      <p:grpSp>
        <p:nvGrpSpPr>
          <p:cNvPr name="Group 46" id="46"/>
          <p:cNvGrpSpPr/>
          <p:nvPr/>
        </p:nvGrpSpPr>
        <p:grpSpPr>
          <a:xfrm rot="0">
            <a:off x="9395460" y="5143500"/>
            <a:ext cx="2880360" cy="822960"/>
            <a:chOff x="0" y="0"/>
            <a:chExt cx="3840480" cy="1097280"/>
          </a:xfrm>
        </p:grpSpPr>
        <p:sp>
          <p:nvSpPr>
            <p:cNvPr name="Freeform 47" id="47"/>
            <p:cNvSpPr/>
            <p:nvPr/>
          </p:nvSpPr>
          <p:spPr>
            <a:xfrm flipH="false" flipV="false" rot="0">
              <a:off x="0" y="0"/>
              <a:ext cx="3840480" cy="1097280"/>
            </a:xfrm>
            <a:custGeom>
              <a:avLst/>
              <a:gdLst/>
              <a:ahLst/>
              <a:cxnLst/>
              <a:rect r="r" b="b" t="t" l="l"/>
              <a:pathLst>
                <a:path h="1097280" w="3840480">
                  <a:moveTo>
                    <a:pt x="0" y="0"/>
                  </a:moveTo>
                  <a:lnTo>
                    <a:pt x="3840480" y="0"/>
                  </a:lnTo>
                  <a:lnTo>
                    <a:pt x="3840480" y="1097280"/>
                  </a:lnTo>
                  <a:lnTo>
                    <a:pt x="0" y="1097280"/>
                  </a:lnTo>
                  <a:close/>
                </a:path>
              </a:pathLst>
            </a:custGeom>
            <a:blipFill>
              <a:blip r:embed="rId3">
                <a:alphaModFix amt="0"/>
              </a:blip>
              <a:stretch>
                <a:fillRect l="0" t="-18197" r="0" b="-18197"/>
              </a:stretch>
            </a:blipFill>
          </p:spPr>
        </p:sp>
        <p:sp>
          <p:nvSpPr>
            <p:cNvPr name="TextBox 48" id="48"/>
            <p:cNvSpPr txBox="true"/>
            <p:nvPr/>
          </p:nvSpPr>
          <p:spPr>
            <a:xfrm>
              <a:off x="0" y="0"/>
              <a:ext cx="3840480" cy="1097280"/>
            </a:xfrm>
            <a:prstGeom prst="rect">
              <a:avLst/>
            </a:prstGeom>
          </p:spPr>
          <p:txBody>
            <a:bodyPr anchor="ctr" rtlCol="false" tIns="0" lIns="0" bIns="0" rIns="0"/>
            <a:lstStyle/>
            <a:p>
              <a:pPr algn="l">
                <a:lnSpc>
                  <a:spcPts val="2340"/>
                </a:lnSpc>
              </a:pPr>
              <a:r>
                <a:rPr lang="en-US" sz="1950">
                  <a:solidFill>
                    <a:srgbClr val="000000"/>
                  </a:solidFill>
                  <a:latin typeface="Helvetica World"/>
                  <a:ea typeface="Helvetica World"/>
                  <a:cs typeface="Helvetica World"/>
                  <a:sym typeface="Helvetica World"/>
                </a:rPr>
                <a:t>Not Hate–Inappropriate</a:t>
              </a:r>
            </a:p>
          </p:txBody>
        </p:sp>
      </p:grpSp>
      <p:grpSp>
        <p:nvGrpSpPr>
          <p:cNvPr name="Group 49" id="49"/>
          <p:cNvGrpSpPr/>
          <p:nvPr/>
        </p:nvGrpSpPr>
        <p:grpSpPr>
          <a:xfrm rot="0">
            <a:off x="12403455" y="5243703"/>
            <a:ext cx="473945" cy="622554"/>
            <a:chOff x="0" y="0"/>
            <a:chExt cx="631927" cy="830072"/>
          </a:xfrm>
        </p:grpSpPr>
        <p:sp>
          <p:nvSpPr>
            <p:cNvPr name="Freeform 50" id="50"/>
            <p:cNvSpPr/>
            <p:nvPr/>
          </p:nvSpPr>
          <p:spPr>
            <a:xfrm flipH="false" flipV="false" rot="0">
              <a:off x="0" y="0"/>
              <a:ext cx="631952" cy="830072"/>
            </a:xfrm>
            <a:custGeom>
              <a:avLst/>
              <a:gdLst/>
              <a:ahLst/>
              <a:cxnLst/>
              <a:rect r="r" b="b" t="t" l="l"/>
              <a:pathLst>
                <a:path h="830072" w="631952">
                  <a:moveTo>
                    <a:pt x="0" y="95250"/>
                  </a:moveTo>
                  <a:cubicBezTo>
                    <a:pt x="0" y="42672"/>
                    <a:pt x="42672" y="0"/>
                    <a:pt x="95250" y="0"/>
                  </a:cubicBezTo>
                  <a:lnTo>
                    <a:pt x="536702" y="0"/>
                  </a:lnTo>
                  <a:cubicBezTo>
                    <a:pt x="589280" y="0"/>
                    <a:pt x="631952" y="42672"/>
                    <a:pt x="631952" y="95250"/>
                  </a:cubicBezTo>
                  <a:lnTo>
                    <a:pt x="631952" y="734822"/>
                  </a:lnTo>
                  <a:cubicBezTo>
                    <a:pt x="631952" y="787400"/>
                    <a:pt x="589280" y="830072"/>
                    <a:pt x="536702" y="830072"/>
                  </a:cubicBezTo>
                  <a:lnTo>
                    <a:pt x="95250" y="830072"/>
                  </a:lnTo>
                  <a:cubicBezTo>
                    <a:pt x="42672" y="830072"/>
                    <a:pt x="0" y="787400"/>
                    <a:pt x="0" y="734822"/>
                  </a:cubicBezTo>
                  <a:close/>
                </a:path>
              </a:pathLst>
            </a:custGeom>
            <a:solidFill>
              <a:srgbClr val="9A9A9A"/>
            </a:solidFill>
            <a:ln w="19050" cap="sq">
              <a:solidFill>
                <a:srgbClr val="9A9A9A"/>
              </a:solidFill>
              <a:prstDash val="solid"/>
              <a:miter/>
            </a:ln>
          </p:spPr>
        </p:sp>
      </p:grpSp>
      <p:grpSp>
        <p:nvGrpSpPr>
          <p:cNvPr name="Group 51" id="51"/>
          <p:cNvGrpSpPr/>
          <p:nvPr/>
        </p:nvGrpSpPr>
        <p:grpSpPr>
          <a:xfrm rot="0">
            <a:off x="12977603" y="5143500"/>
            <a:ext cx="1165860" cy="822960"/>
            <a:chOff x="0" y="0"/>
            <a:chExt cx="1554480" cy="1097280"/>
          </a:xfrm>
        </p:grpSpPr>
        <p:sp>
          <p:nvSpPr>
            <p:cNvPr name="Freeform 52" id="52"/>
            <p:cNvSpPr/>
            <p:nvPr/>
          </p:nvSpPr>
          <p:spPr>
            <a:xfrm flipH="false" flipV="false" rot="0">
              <a:off x="0" y="0"/>
              <a:ext cx="1554480" cy="1097280"/>
            </a:xfrm>
            <a:custGeom>
              <a:avLst/>
              <a:gdLst/>
              <a:ahLst/>
              <a:cxnLst/>
              <a:rect r="r" b="b" t="t" l="l"/>
              <a:pathLst>
                <a:path h="1097280" w="1554480">
                  <a:moveTo>
                    <a:pt x="0" y="0"/>
                  </a:moveTo>
                  <a:lnTo>
                    <a:pt x="1554480" y="0"/>
                  </a:lnTo>
                  <a:lnTo>
                    <a:pt x="1554480" y="1097280"/>
                  </a:lnTo>
                  <a:lnTo>
                    <a:pt x="0" y="1097280"/>
                  </a:lnTo>
                  <a:close/>
                </a:path>
              </a:pathLst>
            </a:custGeom>
            <a:blipFill>
              <a:blip r:embed="rId3">
                <a:alphaModFix amt="0"/>
              </a:blip>
              <a:stretch>
                <a:fillRect l="-40567" t="0" r="-40567" b="0"/>
              </a:stretch>
            </a:blipFill>
          </p:spPr>
        </p:sp>
        <p:sp>
          <p:nvSpPr>
            <p:cNvPr name="TextBox 53" id="53"/>
            <p:cNvSpPr txBox="true"/>
            <p:nvPr/>
          </p:nvSpPr>
          <p:spPr>
            <a:xfrm>
              <a:off x="0" y="0"/>
              <a:ext cx="1554480" cy="1097280"/>
            </a:xfrm>
            <a:prstGeom prst="rect">
              <a:avLst/>
            </a:prstGeom>
          </p:spPr>
          <p:txBody>
            <a:bodyPr anchor="ctr" rtlCol="false" tIns="0" lIns="0" bIns="0" rIns="0"/>
            <a:lstStyle/>
            <a:p>
              <a:pPr algn="l">
                <a:lnSpc>
                  <a:spcPts val="2340"/>
                </a:lnSpc>
              </a:pPr>
              <a:r>
                <a:rPr lang="en-US" sz="1950" b="true">
                  <a:solidFill>
                    <a:srgbClr val="000000"/>
                  </a:solidFill>
                  <a:latin typeface="Helvetica World Bold"/>
                  <a:ea typeface="Helvetica World Bold"/>
                  <a:cs typeface="Helvetica World Bold"/>
                  <a:sym typeface="Helvetica World Bold"/>
                </a:rPr>
                <a:t>431</a:t>
              </a:r>
            </a:p>
          </p:txBody>
        </p:sp>
      </p:grpSp>
      <p:grpSp>
        <p:nvGrpSpPr>
          <p:cNvPr name="Group 54" id="54"/>
          <p:cNvGrpSpPr/>
          <p:nvPr/>
        </p:nvGrpSpPr>
        <p:grpSpPr>
          <a:xfrm rot="0">
            <a:off x="9395460" y="6103620"/>
            <a:ext cx="2880360" cy="822960"/>
            <a:chOff x="0" y="0"/>
            <a:chExt cx="3840480" cy="1097280"/>
          </a:xfrm>
        </p:grpSpPr>
        <p:sp>
          <p:nvSpPr>
            <p:cNvPr name="Freeform 55" id="55"/>
            <p:cNvSpPr/>
            <p:nvPr/>
          </p:nvSpPr>
          <p:spPr>
            <a:xfrm flipH="false" flipV="false" rot="0">
              <a:off x="0" y="0"/>
              <a:ext cx="3840480" cy="1097280"/>
            </a:xfrm>
            <a:custGeom>
              <a:avLst/>
              <a:gdLst/>
              <a:ahLst/>
              <a:cxnLst/>
              <a:rect r="r" b="b" t="t" l="l"/>
              <a:pathLst>
                <a:path h="1097280" w="3840480">
                  <a:moveTo>
                    <a:pt x="0" y="0"/>
                  </a:moveTo>
                  <a:lnTo>
                    <a:pt x="3840480" y="0"/>
                  </a:lnTo>
                  <a:lnTo>
                    <a:pt x="3840480" y="1097280"/>
                  </a:lnTo>
                  <a:lnTo>
                    <a:pt x="0" y="1097280"/>
                  </a:lnTo>
                  <a:close/>
                </a:path>
              </a:pathLst>
            </a:custGeom>
            <a:blipFill>
              <a:blip r:embed="rId3">
                <a:alphaModFix amt="0"/>
              </a:blip>
              <a:stretch>
                <a:fillRect l="0" t="-18197" r="0" b="-18197"/>
              </a:stretch>
            </a:blipFill>
          </p:spPr>
        </p:sp>
        <p:sp>
          <p:nvSpPr>
            <p:cNvPr name="TextBox 56" id="56"/>
            <p:cNvSpPr txBox="true"/>
            <p:nvPr/>
          </p:nvSpPr>
          <p:spPr>
            <a:xfrm>
              <a:off x="0" y="0"/>
              <a:ext cx="3840480" cy="1097280"/>
            </a:xfrm>
            <a:prstGeom prst="rect">
              <a:avLst/>
            </a:prstGeom>
          </p:spPr>
          <p:txBody>
            <a:bodyPr anchor="ctr" rtlCol="false" tIns="0" lIns="0" bIns="0" rIns="0"/>
            <a:lstStyle/>
            <a:p>
              <a:pPr algn="l">
                <a:lnSpc>
                  <a:spcPts val="2340"/>
                </a:lnSpc>
              </a:pPr>
              <a:r>
                <a:rPr lang="en-US" sz="1950" b="true">
                  <a:solidFill>
                    <a:srgbClr val="000000"/>
                  </a:solidFill>
                  <a:latin typeface="Helvetica World Bold"/>
                  <a:ea typeface="Helvetica World Bold"/>
                  <a:cs typeface="Helvetica World Bold"/>
                  <a:sym typeface="Helvetica World Bold"/>
                </a:rPr>
                <a:t>Not Hate–Appropriate</a:t>
              </a:r>
            </a:p>
          </p:txBody>
        </p:sp>
      </p:grpSp>
      <p:grpSp>
        <p:nvGrpSpPr>
          <p:cNvPr name="Group 57" id="57"/>
          <p:cNvGrpSpPr/>
          <p:nvPr/>
        </p:nvGrpSpPr>
        <p:grpSpPr>
          <a:xfrm rot="0">
            <a:off x="12403455" y="6203823"/>
            <a:ext cx="3036570" cy="622554"/>
            <a:chOff x="0" y="0"/>
            <a:chExt cx="4048760" cy="830072"/>
          </a:xfrm>
        </p:grpSpPr>
        <p:sp>
          <p:nvSpPr>
            <p:cNvPr name="Freeform 58" id="58"/>
            <p:cNvSpPr/>
            <p:nvPr/>
          </p:nvSpPr>
          <p:spPr>
            <a:xfrm flipH="false" flipV="false" rot="0">
              <a:off x="0" y="0"/>
              <a:ext cx="4048760" cy="830072"/>
            </a:xfrm>
            <a:custGeom>
              <a:avLst/>
              <a:gdLst/>
              <a:ahLst/>
              <a:cxnLst/>
              <a:rect r="r" b="b" t="t" l="l"/>
              <a:pathLst>
                <a:path h="830072" w="4048760">
                  <a:moveTo>
                    <a:pt x="0" y="94361"/>
                  </a:moveTo>
                  <a:cubicBezTo>
                    <a:pt x="0" y="42291"/>
                    <a:pt x="42291" y="0"/>
                    <a:pt x="94361" y="0"/>
                  </a:cubicBezTo>
                  <a:lnTo>
                    <a:pt x="3954399" y="0"/>
                  </a:lnTo>
                  <a:cubicBezTo>
                    <a:pt x="4006469" y="0"/>
                    <a:pt x="4048760" y="42291"/>
                    <a:pt x="4048760" y="94361"/>
                  </a:cubicBezTo>
                  <a:lnTo>
                    <a:pt x="4048760" y="735711"/>
                  </a:lnTo>
                  <a:cubicBezTo>
                    <a:pt x="4048760" y="787781"/>
                    <a:pt x="4006469" y="830072"/>
                    <a:pt x="3954399" y="830072"/>
                  </a:cubicBezTo>
                  <a:lnTo>
                    <a:pt x="94361" y="830072"/>
                  </a:lnTo>
                  <a:cubicBezTo>
                    <a:pt x="42291" y="830072"/>
                    <a:pt x="0" y="787781"/>
                    <a:pt x="0" y="735711"/>
                  </a:cubicBezTo>
                  <a:close/>
                </a:path>
              </a:pathLst>
            </a:custGeom>
            <a:solidFill>
              <a:srgbClr val="F5582E"/>
            </a:solidFill>
            <a:ln w="19050" cap="sq">
              <a:solidFill>
                <a:srgbClr val="F5582E"/>
              </a:solidFill>
              <a:prstDash val="solid"/>
              <a:miter/>
            </a:ln>
          </p:spPr>
        </p:sp>
      </p:grpSp>
      <p:grpSp>
        <p:nvGrpSpPr>
          <p:cNvPr name="Group 59" id="59"/>
          <p:cNvGrpSpPr/>
          <p:nvPr/>
        </p:nvGrpSpPr>
        <p:grpSpPr>
          <a:xfrm rot="0">
            <a:off x="15540228" y="6103620"/>
            <a:ext cx="1165860" cy="822960"/>
            <a:chOff x="0" y="0"/>
            <a:chExt cx="1554480" cy="1097280"/>
          </a:xfrm>
        </p:grpSpPr>
        <p:sp>
          <p:nvSpPr>
            <p:cNvPr name="Freeform 60" id="60"/>
            <p:cNvSpPr/>
            <p:nvPr/>
          </p:nvSpPr>
          <p:spPr>
            <a:xfrm flipH="false" flipV="false" rot="0">
              <a:off x="0" y="0"/>
              <a:ext cx="1554480" cy="1097280"/>
            </a:xfrm>
            <a:custGeom>
              <a:avLst/>
              <a:gdLst/>
              <a:ahLst/>
              <a:cxnLst/>
              <a:rect r="r" b="b" t="t" l="l"/>
              <a:pathLst>
                <a:path h="1097280" w="1554480">
                  <a:moveTo>
                    <a:pt x="0" y="0"/>
                  </a:moveTo>
                  <a:lnTo>
                    <a:pt x="1554480" y="0"/>
                  </a:lnTo>
                  <a:lnTo>
                    <a:pt x="1554480" y="1097280"/>
                  </a:lnTo>
                  <a:lnTo>
                    <a:pt x="0" y="1097280"/>
                  </a:lnTo>
                  <a:close/>
                </a:path>
              </a:pathLst>
            </a:custGeom>
            <a:blipFill>
              <a:blip r:embed="rId3">
                <a:alphaModFix amt="0"/>
              </a:blip>
              <a:stretch>
                <a:fillRect l="-40567" t="0" r="-40567" b="0"/>
              </a:stretch>
            </a:blipFill>
          </p:spPr>
        </p:sp>
        <p:sp>
          <p:nvSpPr>
            <p:cNvPr name="TextBox 61" id="61"/>
            <p:cNvSpPr txBox="true"/>
            <p:nvPr/>
          </p:nvSpPr>
          <p:spPr>
            <a:xfrm>
              <a:off x="0" y="0"/>
              <a:ext cx="1554480" cy="1097280"/>
            </a:xfrm>
            <a:prstGeom prst="rect">
              <a:avLst/>
            </a:prstGeom>
          </p:spPr>
          <p:txBody>
            <a:bodyPr anchor="ctr" rtlCol="false" tIns="0" lIns="0" bIns="0" rIns="0"/>
            <a:lstStyle/>
            <a:p>
              <a:pPr algn="l">
                <a:lnSpc>
                  <a:spcPts val="2340"/>
                </a:lnSpc>
              </a:pPr>
              <a:r>
                <a:rPr lang="en-US" sz="1950" b="true">
                  <a:solidFill>
                    <a:srgbClr val="F5582E"/>
                  </a:solidFill>
                  <a:latin typeface="Helvetica World Bold"/>
                  <a:ea typeface="Helvetica World Bold"/>
                  <a:cs typeface="Helvetica World Bold"/>
                  <a:sym typeface="Helvetica World Bold"/>
                </a:rPr>
                <a:t>2.859</a:t>
              </a:r>
            </a:p>
          </p:txBody>
        </p:sp>
      </p:grpSp>
      <p:grpSp>
        <p:nvGrpSpPr>
          <p:cNvPr name="Group 62" id="62"/>
          <p:cNvGrpSpPr/>
          <p:nvPr/>
        </p:nvGrpSpPr>
        <p:grpSpPr>
          <a:xfrm rot="0">
            <a:off x="815816" y="7742396"/>
            <a:ext cx="16610648" cy="1523048"/>
            <a:chOff x="0" y="0"/>
            <a:chExt cx="22147530" cy="2030730"/>
          </a:xfrm>
        </p:grpSpPr>
        <p:sp>
          <p:nvSpPr>
            <p:cNvPr name="Freeform 63" id="63"/>
            <p:cNvSpPr/>
            <p:nvPr/>
          </p:nvSpPr>
          <p:spPr>
            <a:xfrm flipH="false" flipV="false" rot="0">
              <a:off x="0" y="0"/>
              <a:ext cx="22147530" cy="2030730"/>
            </a:xfrm>
            <a:custGeom>
              <a:avLst/>
              <a:gdLst/>
              <a:ahLst/>
              <a:cxnLst/>
              <a:rect r="r" b="b" t="t" l="l"/>
              <a:pathLst>
                <a:path h="2030730" w="22147530">
                  <a:moveTo>
                    <a:pt x="0" y="221488"/>
                  </a:moveTo>
                  <a:cubicBezTo>
                    <a:pt x="0" y="99187"/>
                    <a:pt x="99187" y="0"/>
                    <a:pt x="221488" y="0"/>
                  </a:cubicBezTo>
                  <a:lnTo>
                    <a:pt x="21926042" y="0"/>
                  </a:lnTo>
                  <a:cubicBezTo>
                    <a:pt x="22048343" y="0"/>
                    <a:pt x="22147530" y="99187"/>
                    <a:pt x="22147530" y="221488"/>
                  </a:cubicBezTo>
                  <a:lnTo>
                    <a:pt x="22147530" y="1809242"/>
                  </a:lnTo>
                  <a:cubicBezTo>
                    <a:pt x="22147530" y="1931543"/>
                    <a:pt x="22048343" y="2030730"/>
                    <a:pt x="21926042" y="2030730"/>
                  </a:cubicBezTo>
                  <a:lnTo>
                    <a:pt x="221488" y="2030730"/>
                  </a:lnTo>
                  <a:cubicBezTo>
                    <a:pt x="99187" y="2030730"/>
                    <a:pt x="0" y="1931543"/>
                    <a:pt x="0" y="1809242"/>
                  </a:cubicBezTo>
                  <a:close/>
                </a:path>
              </a:pathLst>
            </a:custGeom>
            <a:solidFill>
              <a:srgbClr val="FFFFFF"/>
            </a:solidFill>
            <a:ln w="14288" cap="sq">
              <a:solidFill>
                <a:srgbClr val="000000"/>
              </a:solidFill>
              <a:prstDash val="solid"/>
              <a:miter/>
            </a:ln>
          </p:spPr>
        </p:sp>
      </p:grpSp>
      <p:grpSp>
        <p:nvGrpSpPr>
          <p:cNvPr name="Group 64" id="64"/>
          <p:cNvGrpSpPr/>
          <p:nvPr/>
        </p:nvGrpSpPr>
        <p:grpSpPr>
          <a:xfrm rot="0">
            <a:off x="1165860" y="7886700"/>
            <a:ext cx="15910560" cy="1234440"/>
            <a:chOff x="0" y="0"/>
            <a:chExt cx="21214080" cy="1645920"/>
          </a:xfrm>
        </p:grpSpPr>
        <p:sp>
          <p:nvSpPr>
            <p:cNvPr name="Freeform 65" id="65"/>
            <p:cNvSpPr/>
            <p:nvPr/>
          </p:nvSpPr>
          <p:spPr>
            <a:xfrm flipH="false" flipV="false" rot="0">
              <a:off x="0" y="0"/>
              <a:ext cx="21214080" cy="1645920"/>
            </a:xfrm>
            <a:custGeom>
              <a:avLst/>
              <a:gdLst/>
              <a:ahLst/>
              <a:cxnLst/>
              <a:rect r="r" b="b" t="t" l="l"/>
              <a:pathLst>
                <a:path h="1645920" w="21214080">
                  <a:moveTo>
                    <a:pt x="0" y="0"/>
                  </a:moveTo>
                  <a:lnTo>
                    <a:pt x="21214080" y="0"/>
                  </a:lnTo>
                  <a:lnTo>
                    <a:pt x="21214080" y="1645920"/>
                  </a:lnTo>
                  <a:lnTo>
                    <a:pt x="0" y="1645920"/>
                  </a:lnTo>
                  <a:close/>
                </a:path>
              </a:pathLst>
            </a:custGeom>
            <a:blipFill>
              <a:blip r:embed="rId3">
                <a:alphaModFix amt="0"/>
              </a:blip>
              <a:stretch>
                <a:fillRect l="0" t="-201140" r="0" b="-201140"/>
              </a:stretch>
            </a:blipFill>
          </p:spPr>
        </p:sp>
        <p:sp>
          <p:nvSpPr>
            <p:cNvPr name="TextBox 66" id="66"/>
            <p:cNvSpPr txBox="true"/>
            <p:nvPr/>
          </p:nvSpPr>
          <p:spPr>
            <a:xfrm>
              <a:off x="0" y="0"/>
              <a:ext cx="21214080" cy="1645920"/>
            </a:xfrm>
            <a:prstGeom prst="rect">
              <a:avLst/>
            </a:prstGeom>
          </p:spPr>
          <p:txBody>
            <a:bodyPr anchor="ctr" rtlCol="false" tIns="0" lIns="0" bIns="0" rIns="0"/>
            <a:lstStyle/>
            <a:p>
              <a:pPr algn="l">
                <a:lnSpc>
                  <a:spcPts val="2520"/>
                </a:lnSpc>
              </a:pPr>
              <a:r>
                <a:rPr lang="en-US" sz="2100" b="true">
                  <a:solidFill>
                    <a:srgbClr val="F5582E"/>
                  </a:solidFill>
                  <a:latin typeface="Helvetica World Bold"/>
                  <a:ea typeface="Helvetica World Bold"/>
                  <a:cs typeface="Helvetica World Bold"/>
                  <a:sym typeface="Helvetica World Bold"/>
                </a:rPr>
                <a:t>Hasil Audit</a:t>
              </a:r>
              <a:r>
                <a:rPr lang="en-US" sz="2100" b="true">
                  <a:solidFill>
                    <a:srgbClr val="F5582E"/>
                  </a:solidFill>
                  <a:latin typeface="Helvetica World Bold"/>
                  <a:ea typeface="Helvetica World Bold"/>
                  <a:cs typeface="Helvetica World Bold"/>
                  <a:sym typeface="Helvetica World Bold"/>
                </a:rPr>
                <a:t>: </a:t>
              </a:r>
              <a:r>
                <a:rPr lang="en-US" sz="2100">
                  <a:solidFill>
                    <a:srgbClr val="000000"/>
                  </a:solidFill>
                  <a:latin typeface="Helvetica World"/>
                  <a:ea typeface="Helvetica World"/>
                  <a:cs typeface="Helvetica World"/>
                  <a:sym typeface="Helvetica World"/>
                </a:rPr>
                <a:t>Ditemukan 5 kelompok gambar identik, dengan 2 kelompok melintasi pembagian train–test resmi (2 meme pada data uji). Dicatat sebagai keterbatasan, test resmi tetap dipertahankan.</a:t>
              </a:r>
            </a:p>
          </p:txBody>
        </p:sp>
      </p:grpSp>
      <p:sp>
        <p:nvSpPr>
          <p:cNvPr name="AutoShape 67" id="67"/>
          <p:cNvSpPr/>
          <p:nvPr/>
        </p:nvSpPr>
        <p:spPr>
          <a:xfrm>
            <a:off x="7269480" y="4053364"/>
            <a:ext cx="0" cy="610076"/>
          </a:xfrm>
          <a:prstGeom prst="line">
            <a:avLst/>
          </a:prstGeom>
          <a:ln cap="rnd" w="38100">
            <a:solidFill>
              <a:srgbClr val="F5582E"/>
            </a:solidFill>
            <a:prstDash val="solid"/>
            <a:headEnd type="none" len="sm" w="sm"/>
            <a:tailEnd type="triangle" len="med" w="lg"/>
          </a:ln>
        </p:spPr>
      </p:sp>
      <p:sp>
        <p:nvSpPr>
          <p:cNvPr name="AutoShape 68" id="68"/>
          <p:cNvSpPr/>
          <p:nvPr/>
        </p:nvSpPr>
        <p:spPr>
          <a:xfrm>
            <a:off x="4789305" y="5774045"/>
            <a:ext cx="11295" cy="459591"/>
          </a:xfrm>
          <a:prstGeom prst="line">
            <a:avLst/>
          </a:prstGeom>
          <a:ln cap="rnd" w="38100">
            <a:solidFill>
              <a:srgbClr val="F5582E"/>
            </a:solidFill>
            <a:prstDash val="solid"/>
            <a:headEnd type="none" len="sm" w="sm"/>
            <a:tailEnd type="triangle" len="med" w="lg"/>
          </a:ln>
        </p:spPr>
      </p:sp>
      <p:sp>
        <p:nvSpPr>
          <p:cNvPr name="AutoShape 69" id="69"/>
          <p:cNvSpPr/>
          <p:nvPr/>
        </p:nvSpPr>
        <p:spPr>
          <a:xfrm flipH="true">
            <a:off x="2263140" y="5767768"/>
            <a:ext cx="0" cy="473012"/>
          </a:xfrm>
          <a:prstGeom prst="line">
            <a:avLst/>
          </a:prstGeom>
          <a:ln cap="rnd" w="38100">
            <a:solidFill>
              <a:srgbClr val="F5582E"/>
            </a:solidFill>
            <a:prstDash val="solid"/>
            <a:headEnd type="none" len="sm" w="sm"/>
            <a:tailEnd type="triangle" len="med" w="lg"/>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6</a:t>
            </a:r>
          </a:p>
        </p:txBody>
      </p:sp>
      <p:sp>
        <p:nvSpPr>
          <p:cNvPr name="TextBox 3" id="3"/>
          <p:cNvSpPr txBox="true"/>
          <p:nvPr/>
        </p:nvSpPr>
        <p:spPr>
          <a:xfrm rot="0">
            <a:off x="822960" y="645795"/>
            <a:ext cx="16459200" cy="1655445"/>
          </a:xfrm>
          <a:prstGeom prst="rect">
            <a:avLst/>
          </a:prstGeom>
        </p:spPr>
        <p:txBody>
          <a:bodyPr anchor="t" rtlCol="false" tIns="0" lIns="0" bIns="0" rIns="0">
            <a:spAutoFit/>
          </a:bodyPr>
          <a:lstStyle/>
          <a:p>
            <a:pPr algn="l">
              <a:lnSpc>
                <a:spcPts val="6155"/>
              </a:lnSpc>
            </a:pPr>
            <a:r>
              <a:rPr lang="en-US" sz="5400" b="true">
                <a:solidFill>
                  <a:srgbClr val="F5582E"/>
                </a:solidFill>
                <a:latin typeface="Helvetica World Bold"/>
                <a:ea typeface="Helvetica World Bold"/>
                <a:cs typeface="Helvetica World Bold"/>
                <a:sym typeface="Helvetica World Bold"/>
              </a:rPr>
              <a:t>DELAPAN KONFIGURASI</a:t>
            </a:r>
          </a:p>
          <a:p>
            <a:pPr algn="l">
              <a:lnSpc>
                <a:spcPts val="5472"/>
              </a:lnSpc>
            </a:pPr>
            <a:r>
              <a:rPr lang="en-US" sz="4800" i="true">
                <a:solidFill>
                  <a:srgbClr val="000000"/>
                </a:solidFill>
                <a:latin typeface="Noto Serif Italics"/>
                <a:ea typeface="Noto Serif Italics"/>
                <a:cs typeface="Noto Serif Italics"/>
                <a:sym typeface="Noto Serif Italics"/>
              </a:rPr>
              <a:t>Satu Kerangka Eksperimen.</a:t>
            </a:r>
          </a:p>
        </p:txBody>
      </p:sp>
      <p:sp>
        <p:nvSpPr>
          <p:cNvPr name="TextBox 4" id="4"/>
          <p:cNvSpPr txBox="true"/>
          <p:nvPr/>
        </p:nvSpPr>
        <p:spPr>
          <a:xfrm rot="0">
            <a:off x="822960" y="2839212"/>
            <a:ext cx="3086100" cy="411480"/>
          </a:xfrm>
          <a:prstGeom prst="rect">
            <a:avLst/>
          </a:prstGeom>
        </p:spPr>
        <p:txBody>
          <a:bodyPr anchor="t" rtlCol="false" tIns="0" lIns="0" bIns="0" rIns="0">
            <a:spAutoFit/>
          </a:bodyPr>
          <a:lstStyle/>
          <a:p>
            <a:pPr algn="l">
              <a:lnSpc>
                <a:spcPts val="2340"/>
              </a:lnSpc>
            </a:pPr>
            <a:r>
              <a:rPr lang="en-US" sz="1950" b="true">
                <a:solidFill>
                  <a:srgbClr val="F5582E"/>
                </a:solidFill>
                <a:latin typeface="Helvetica World Bold"/>
                <a:ea typeface="Helvetica World Bold"/>
                <a:cs typeface="Helvetica World Bold"/>
                <a:sym typeface="Helvetica World Bold"/>
              </a:rPr>
              <a:t>Image-only</a:t>
            </a:r>
          </a:p>
        </p:txBody>
      </p:sp>
      <p:sp>
        <p:nvSpPr>
          <p:cNvPr name="TextBox 5" id="5"/>
          <p:cNvSpPr txBox="true"/>
          <p:nvPr/>
        </p:nvSpPr>
        <p:spPr>
          <a:xfrm rot="0">
            <a:off x="822960" y="3291840"/>
            <a:ext cx="288036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E005 · E006</a:t>
            </a:r>
          </a:p>
        </p:txBody>
      </p:sp>
      <p:grpSp>
        <p:nvGrpSpPr>
          <p:cNvPr name="Group 6" id="6"/>
          <p:cNvGrpSpPr/>
          <p:nvPr/>
        </p:nvGrpSpPr>
        <p:grpSpPr>
          <a:xfrm rot="0">
            <a:off x="3970496" y="2667476"/>
            <a:ext cx="3031808" cy="1180148"/>
            <a:chOff x="0" y="0"/>
            <a:chExt cx="4042410" cy="1573530"/>
          </a:xfrm>
        </p:grpSpPr>
        <p:sp>
          <p:nvSpPr>
            <p:cNvPr name="Freeform 7" id="7"/>
            <p:cNvSpPr/>
            <p:nvPr/>
          </p:nvSpPr>
          <p:spPr>
            <a:xfrm flipH="false" flipV="false" rot="0">
              <a:off x="0" y="0"/>
              <a:ext cx="4042410" cy="1573530"/>
            </a:xfrm>
            <a:custGeom>
              <a:avLst/>
              <a:gdLst/>
              <a:ahLst/>
              <a:cxnLst/>
              <a:rect r="r" b="b" t="t" l="l"/>
              <a:pathLst>
                <a:path h="1573530" w="4042410">
                  <a:moveTo>
                    <a:pt x="0" y="222123"/>
                  </a:moveTo>
                  <a:cubicBezTo>
                    <a:pt x="0" y="99441"/>
                    <a:pt x="99441" y="0"/>
                    <a:pt x="222123" y="0"/>
                  </a:cubicBezTo>
                  <a:lnTo>
                    <a:pt x="3820287" y="0"/>
                  </a:lnTo>
                  <a:cubicBezTo>
                    <a:pt x="3942969" y="0"/>
                    <a:pt x="4042410" y="99441"/>
                    <a:pt x="4042410" y="222123"/>
                  </a:cubicBezTo>
                  <a:lnTo>
                    <a:pt x="4042410" y="1351407"/>
                  </a:lnTo>
                  <a:cubicBezTo>
                    <a:pt x="4042410" y="1474089"/>
                    <a:pt x="3942969" y="1573530"/>
                    <a:pt x="382028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8" id="8"/>
          <p:cNvGrpSpPr/>
          <p:nvPr/>
        </p:nvGrpSpPr>
        <p:grpSpPr>
          <a:xfrm rot="0">
            <a:off x="4087368" y="2674620"/>
            <a:ext cx="2798064" cy="1165860"/>
            <a:chOff x="0" y="0"/>
            <a:chExt cx="3730752" cy="1554480"/>
          </a:xfrm>
        </p:grpSpPr>
        <p:sp>
          <p:nvSpPr>
            <p:cNvPr name="Freeform 9" id="9"/>
            <p:cNvSpPr/>
            <p:nvPr/>
          </p:nvSpPr>
          <p:spPr>
            <a:xfrm flipH="false" flipV="false" rot="0">
              <a:off x="0" y="0"/>
              <a:ext cx="3730752" cy="1554480"/>
            </a:xfrm>
            <a:custGeom>
              <a:avLst/>
              <a:gdLst/>
              <a:ahLst/>
              <a:cxnLst/>
              <a:rect r="r" b="b" t="t" l="l"/>
              <a:pathLst>
                <a:path h="1554480" w="3730752">
                  <a:moveTo>
                    <a:pt x="0" y="0"/>
                  </a:moveTo>
                  <a:lnTo>
                    <a:pt x="3730752" y="0"/>
                  </a:lnTo>
                  <a:lnTo>
                    <a:pt x="3730752" y="1554480"/>
                  </a:lnTo>
                  <a:lnTo>
                    <a:pt x="0" y="1554480"/>
                  </a:lnTo>
                  <a:close/>
                </a:path>
              </a:pathLst>
            </a:custGeom>
            <a:blipFill>
              <a:blip r:embed="rId3">
                <a:alphaModFix amt="0"/>
              </a:blip>
              <a:stretch>
                <a:fillRect l="-3459" t="0" r="-3459" b="0"/>
              </a:stretch>
            </a:blipFill>
          </p:spPr>
        </p:sp>
        <p:sp>
          <p:nvSpPr>
            <p:cNvPr name="TextBox 10" id="10"/>
            <p:cNvSpPr txBox="true"/>
            <p:nvPr/>
          </p:nvSpPr>
          <p:spPr>
            <a:xfrm>
              <a:off x="0" y="0"/>
              <a:ext cx="373075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Gambar 224×224</a:t>
              </a:r>
            </a:p>
          </p:txBody>
        </p:sp>
      </p:grpSp>
      <p:sp>
        <p:nvSpPr>
          <p:cNvPr name="AutoShape 11" id="11"/>
          <p:cNvSpPr/>
          <p:nvPr/>
        </p:nvSpPr>
        <p:spPr>
          <a:xfrm>
            <a:off x="7002304" y="3257550"/>
            <a:ext cx="465772" cy="0"/>
          </a:xfrm>
          <a:prstGeom prst="line">
            <a:avLst/>
          </a:prstGeom>
          <a:ln cap="rnd" w="38100">
            <a:solidFill>
              <a:srgbClr val="F5582E"/>
            </a:solidFill>
            <a:prstDash val="solid"/>
            <a:headEnd type="none" len="sm" w="sm"/>
            <a:tailEnd type="triangle" len="med" w="lg"/>
          </a:ln>
        </p:spPr>
      </p:sp>
      <p:grpSp>
        <p:nvGrpSpPr>
          <p:cNvPr name="Group 12" id="12"/>
          <p:cNvGrpSpPr/>
          <p:nvPr/>
        </p:nvGrpSpPr>
        <p:grpSpPr>
          <a:xfrm rot="0">
            <a:off x="7468076" y="2667476"/>
            <a:ext cx="2208848" cy="1180148"/>
            <a:chOff x="0" y="0"/>
            <a:chExt cx="2945130" cy="1573530"/>
          </a:xfrm>
        </p:grpSpPr>
        <p:sp>
          <p:nvSpPr>
            <p:cNvPr name="Freeform 13" id="13"/>
            <p:cNvSpPr/>
            <p:nvPr/>
          </p:nvSpPr>
          <p:spPr>
            <a:xfrm flipH="false" flipV="false" rot="0">
              <a:off x="0" y="0"/>
              <a:ext cx="2945130" cy="1573530"/>
            </a:xfrm>
            <a:custGeom>
              <a:avLst/>
              <a:gdLst/>
              <a:ahLst/>
              <a:cxnLst/>
              <a:rect r="r" b="b" t="t" l="l"/>
              <a:pathLst>
                <a:path h="1573530" w="2945130">
                  <a:moveTo>
                    <a:pt x="0" y="222123"/>
                  </a:moveTo>
                  <a:cubicBezTo>
                    <a:pt x="0" y="99441"/>
                    <a:pt x="99441" y="0"/>
                    <a:pt x="222123" y="0"/>
                  </a:cubicBezTo>
                  <a:lnTo>
                    <a:pt x="2723007" y="0"/>
                  </a:lnTo>
                  <a:cubicBezTo>
                    <a:pt x="2845689" y="0"/>
                    <a:pt x="2945130" y="99441"/>
                    <a:pt x="2945130" y="222123"/>
                  </a:cubicBezTo>
                  <a:lnTo>
                    <a:pt x="2945130" y="1351407"/>
                  </a:lnTo>
                  <a:cubicBezTo>
                    <a:pt x="2945130" y="1474089"/>
                    <a:pt x="2845689" y="1573530"/>
                    <a:pt x="272300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14" id="14"/>
          <p:cNvGrpSpPr/>
          <p:nvPr/>
        </p:nvGrpSpPr>
        <p:grpSpPr>
          <a:xfrm rot="0">
            <a:off x="7584948" y="2674620"/>
            <a:ext cx="1975104" cy="1165860"/>
            <a:chOff x="0" y="0"/>
            <a:chExt cx="2633472" cy="1554480"/>
          </a:xfrm>
        </p:grpSpPr>
        <p:sp>
          <p:nvSpPr>
            <p:cNvPr name="Freeform 15" id="15"/>
            <p:cNvSpPr/>
            <p:nvPr/>
          </p:nvSpPr>
          <p:spPr>
            <a:xfrm flipH="false" flipV="false" rot="0">
              <a:off x="0" y="0"/>
              <a:ext cx="2633472" cy="1554480"/>
            </a:xfrm>
            <a:custGeom>
              <a:avLst/>
              <a:gdLst/>
              <a:ahLst/>
              <a:cxnLst/>
              <a:rect r="r" b="b" t="t" l="l"/>
              <a:pathLst>
                <a:path h="1554480" w="2633472">
                  <a:moveTo>
                    <a:pt x="0" y="0"/>
                  </a:moveTo>
                  <a:lnTo>
                    <a:pt x="2633472" y="0"/>
                  </a:lnTo>
                  <a:lnTo>
                    <a:pt x="2633472" y="1554480"/>
                  </a:lnTo>
                  <a:lnTo>
                    <a:pt x="0" y="1554480"/>
                  </a:lnTo>
                  <a:close/>
                </a:path>
              </a:pathLst>
            </a:custGeom>
            <a:blipFill>
              <a:blip r:embed="rId3">
                <a:alphaModFix amt="0"/>
              </a:blip>
              <a:stretch>
                <a:fillRect l="-25734" t="0" r="-25734" b="0"/>
              </a:stretch>
            </a:blipFill>
          </p:spPr>
        </p:sp>
        <p:sp>
          <p:nvSpPr>
            <p:cNvPr name="TextBox 16" id="16"/>
            <p:cNvSpPr txBox="true"/>
            <p:nvPr/>
          </p:nvSpPr>
          <p:spPr>
            <a:xfrm>
              <a:off x="0" y="0"/>
              <a:ext cx="263347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ViT</a:t>
              </a:r>
            </a:p>
          </p:txBody>
        </p:sp>
      </p:grpSp>
      <p:grpSp>
        <p:nvGrpSpPr>
          <p:cNvPr name="Group 17" id="17"/>
          <p:cNvGrpSpPr/>
          <p:nvPr/>
        </p:nvGrpSpPr>
        <p:grpSpPr>
          <a:xfrm rot="0">
            <a:off x="10142696" y="2667476"/>
            <a:ext cx="3306128" cy="1180148"/>
            <a:chOff x="0" y="0"/>
            <a:chExt cx="4408170" cy="1573530"/>
          </a:xfrm>
        </p:grpSpPr>
        <p:sp>
          <p:nvSpPr>
            <p:cNvPr name="Freeform 18" id="18"/>
            <p:cNvSpPr/>
            <p:nvPr/>
          </p:nvSpPr>
          <p:spPr>
            <a:xfrm flipH="false" flipV="false" rot="0">
              <a:off x="0" y="0"/>
              <a:ext cx="4408170" cy="1573530"/>
            </a:xfrm>
            <a:custGeom>
              <a:avLst/>
              <a:gdLst/>
              <a:ahLst/>
              <a:cxnLst/>
              <a:rect r="r" b="b" t="t" l="l"/>
              <a:pathLst>
                <a:path h="1573530" w="4408170">
                  <a:moveTo>
                    <a:pt x="0" y="222123"/>
                  </a:moveTo>
                  <a:cubicBezTo>
                    <a:pt x="0" y="99441"/>
                    <a:pt x="99441" y="0"/>
                    <a:pt x="222123" y="0"/>
                  </a:cubicBezTo>
                  <a:lnTo>
                    <a:pt x="4186047" y="0"/>
                  </a:lnTo>
                  <a:cubicBezTo>
                    <a:pt x="4308729" y="0"/>
                    <a:pt x="4408170" y="99441"/>
                    <a:pt x="4408170" y="222123"/>
                  </a:cubicBezTo>
                  <a:lnTo>
                    <a:pt x="4408170" y="1351407"/>
                  </a:lnTo>
                  <a:cubicBezTo>
                    <a:pt x="4408170" y="1474089"/>
                    <a:pt x="4308729" y="1573530"/>
                    <a:pt x="418604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19" id="19"/>
          <p:cNvGrpSpPr/>
          <p:nvPr/>
        </p:nvGrpSpPr>
        <p:grpSpPr>
          <a:xfrm rot="0">
            <a:off x="10259568" y="2674620"/>
            <a:ext cx="3072384" cy="1165860"/>
            <a:chOff x="0" y="0"/>
            <a:chExt cx="4096512" cy="1554480"/>
          </a:xfrm>
        </p:grpSpPr>
        <p:sp>
          <p:nvSpPr>
            <p:cNvPr name="Freeform 20" id="20"/>
            <p:cNvSpPr/>
            <p:nvPr/>
          </p:nvSpPr>
          <p:spPr>
            <a:xfrm flipH="false" flipV="false" rot="0">
              <a:off x="0" y="0"/>
              <a:ext cx="4096512" cy="1554480"/>
            </a:xfrm>
            <a:custGeom>
              <a:avLst/>
              <a:gdLst/>
              <a:ahLst/>
              <a:cxnLst/>
              <a:rect r="r" b="b" t="t" l="l"/>
              <a:pathLst>
                <a:path h="1554480" w="4096512">
                  <a:moveTo>
                    <a:pt x="0" y="0"/>
                  </a:moveTo>
                  <a:lnTo>
                    <a:pt x="4096512" y="0"/>
                  </a:lnTo>
                  <a:lnTo>
                    <a:pt x="4096512" y="1554480"/>
                  </a:lnTo>
                  <a:lnTo>
                    <a:pt x="0" y="1554480"/>
                  </a:lnTo>
                  <a:close/>
                </a:path>
              </a:pathLst>
            </a:custGeom>
            <a:blipFill>
              <a:blip r:embed="rId3">
                <a:alphaModFix amt="0"/>
              </a:blip>
              <a:stretch>
                <a:fillRect l="0" t="-1348" r="0" b="-1348"/>
              </a:stretch>
            </a:blipFill>
          </p:spPr>
        </p:sp>
        <p:sp>
          <p:nvSpPr>
            <p:cNvPr name="TextBox 21" id="21"/>
            <p:cNvSpPr txBox="true"/>
            <p:nvPr/>
          </p:nvSpPr>
          <p:spPr>
            <a:xfrm>
              <a:off x="0" y="0"/>
              <a:ext cx="409651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Classification Head</a:t>
              </a:r>
            </a:p>
          </p:txBody>
        </p:sp>
      </p:grpSp>
      <p:sp>
        <p:nvSpPr>
          <p:cNvPr name="TextBox 22" id="22"/>
          <p:cNvSpPr txBox="true"/>
          <p:nvPr/>
        </p:nvSpPr>
        <p:spPr>
          <a:xfrm rot="0">
            <a:off x="822960" y="4279392"/>
            <a:ext cx="3086100" cy="411480"/>
          </a:xfrm>
          <a:prstGeom prst="rect">
            <a:avLst/>
          </a:prstGeom>
        </p:spPr>
        <p:txBody>
          <a:bodyPr anchor="t" rtlCol="false" tIns="0" lIns="0" bIns="0" rIns="0">
            <a:spAutoFit/>
          </a:bodyPr>
          <a:lstStyle/>
          <a:p>
            <a:pPr algn="l">
              <a:lnSpc>
                <a:spcPts val="2340"/>
              </a:lnSpc>
            </a:pPr>
            <a:r>
              <a:rPr lang="en-US" sz="1950" b="true">
                <a:solidFill>
                  <a:srgbClr val="F5582E"/>
                </a:solidFill>
                <a:latin typeface="Helvetica World Bold"/>
                <a:ea typeface="Helvetica World Bold"/>
                <a:cs typeface="Helvetica World Bold"/>
                <a:sym typeface="Helvetica World Bold"/>
              </a:rPr>
              <a:t>Text-only</a:t>
            </a:r>
          </a:p>
        </p:txBody>
      </p:sp>
      <p:sp>
        <p:nvSpPr>
          <p:cNvPr name="TextBox 23" id="23"/>
          <p:cNvSpPr txBox="true"/>
          <p:nvPr/>
        </p:nvSpPr>
        <p:spPr>
          <a:xfrm rot="0">
            <a:off x="822960" y="4732020"/>
            <a:ext cx="288036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E041 · E042</a:t>
            </a:r>
          </a:p>
        </p:txBody>
      </p:sp>
      <p:grpSp>
        <p:nvGrpSpPr>
          <p:cNvPr name="Group 24" id="24"/>
          <p:cNvGrpSpPr/>
          <p:nvPr/>
        </p:nvGrpSpPr>
        <p:grpSpPr>
          <a:xfrm rot="0">
            <a:off x="3970496" y="4107656"/>
            <a:ext cx="4814888" cy="1180148"/>
            <a:chOff x="0" y="0"/>
            <a:chExt cx="6419850" cy="1573530"/>
          </a:xfrm>
        </p:grpSpPr>
        <p:sp>
          <p:nvSpPr>
            <p:cNvPr name="Freeform 25" id="25"/>
            <p:cNvSpPr/>
            <p:nvPr/>
          </p:nvSpPr>
          <p:spPr>
            <a:xfrm flipH="false" flipV="false" rot="0">
              <a:off x="0" y="0"/>
              <a:ext cx="6419850" cy="1573530"/>
            </a:xfrm>
            <a:custGeom>
              <a:avLst/>
              <a:gdLst/>
              <a:ahLst/>
              <a:cxnLst/>
              <a:rect r="r" b="b" t="t" l="l"/>
              <a:pathLst>
                <a:path h="1573530" w="6419850">
                  <a:moveTo>
                    <a:pt x="0" y="222123"/>
                  </a:moveTo>
                  <a:cubicBezTo>
                    <a:pt x="0" y="99441"/>
                    <a:pt x="99441" y="0"/>
                    <a:pt x="222123" y="0"/>
                  </a:cubicBezTo>
                  <a:lnTo>
                    <a:pt x="6197727" y="0"/>
                  </a:lnTo>
                  <a:cubicBezTo>
                    <a:pt x="6320409" y="0"/>
                    <a:pt x="6419850" y="99441"/>
                    <a:pt x="6419850" y="222123"/>
                  </a:cubicBezTo>
                  <a:lnTo>
                    <a:pt x="6419850" y="1351407"/>
                  </a:lnTo>
                  <a:cubicBezTo>
                    <a:pt x="6419850" y="1474089"/>
                    <a:pt x="6320409" y="1573530"/>
                    <a:pt x="619772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26" id="26"/>
          <p:cNvGrpSpPr/>
          <p:nvPr/>
        </p:nvGrpSpPr>
        <p:grpSpPr>
          <a:xfrm rot="0">
            <a:off x="4087368" y="4114800"/>
            <a:ext cx="4581144" cy="1165860"/>
            <a:chOff x="0" y="0"/>
            <a:chExt cx="6108192" cy="1554480"/>
          </a:xfrm>
        </p:grpSpPr>
        <p:sp>
          <p:nvSpPr>
            <p:cNvPr name="Freeform 27" id="27"/>
            <p:cNvSpPr/>
            <p:nvPr/>
          </p:nvSpPr>
          <p:spPr>
            <a:xfrm flipH="false" flipV="false" rot="0">
              <a:off x="0" y="0"/>
              <a:ext cx="6108192" cy="1554480"/>
            </a:xfrm>
            <a:custGeom>
              <a:avLst/>
              <a:gdLst/>
              <a:ahLst/>
              <a:cxnLst/>
              <a:rect r="r" b="b" t="t" l="l"/>
              <a:pathLst>
                <a:path h="1554480" w="6108192">
                  <a:moveTo>
                    <a:pt x="0" y="0"/>
                  </a:moveTo>
                  <a:lnTo>
                    <a:pt x="6108192" y="0"/>
                  </a:lnTo>
                  <a:lnTo>
                    <a:pt x="6108192" y="1554480"/>
                  </a:lnTo>
                  <a:lnTo>
                    <a:pt x="0" y="1554480"/>
                  </a:lnTo>
                  <a:close/>
                </a:path>
              </a:pathLst>
            </a:custGeom>
            <a:blipFill>
              <a:blip r:embed="rId3">
                <a:alphaModFix amt="0"/>
              </a:blip>
              <a:stretch>
                <a:fillRect l="0" t="-26564" r="0" b="-26564"/>
              </a:stretch>
            </a:blipFill>
          </p:spPr>
        </p:sp>
        <p:sp>
          <p:nvSpPr>
            <p:cNvPr name="TextBox 28" id="28"/>
            <p:cNvSpPr txBox="true"/>
            <p:nvPr/>
          </p:nvSpPr>
          <p:spPr>
            <a:xfrm>
              <a:off x="0" y="0"/>
              <a:ext cx="610819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Topik + Caption + OCR (≤256 token)</a:t>
              </a:r>
            </a:p>
          </p:txBody>
        </p:sp>
      </p:grpSp>
      <p:grpSp>
        <p:nvGrpSpPr>
          <p:cNvPr name="Group 29" id="29"/>
          <p:cNvGrpSpPr/>
          <p:nvPr/>
        </p:nvGrpSpPr>
        <p:grpSpPr>
          <a:xfrm rot="0">
            <a:off x="9251156" y="4107656"/>
            <a:ext cx="2757488" cy="1180148"/>
            <a:chOff x="0" y="0"/>
            <a:chExt cx="3676650" cy="1573530"/>
          </a:xfrm>
        </p:grpSpPr>
        <p:sp>
          <p:nvSpPr>
            <p:cNvPr name="Freeform 30" id="30"/>
            <p:cNvSpPr/>
            <p:nvPr/>
          </p:nvSpPr>
          <p:spPr>
            <a:xfrm flipH="false" flipV="false" rot="0">
              <a:off x="0" y="0"/>
              <a:ext cx="3676650" cy="1573530"/>
            </a:xfrm>
            <a:custGeom>
              <a:avLst/>
              <a:gdLst/>
              <a:ahLst/>
              <a:cxnLst/>
              <a:rect r="r" b="b" t="t" l="l"/>
              <a:pathLst>
                <a:path h="1573530" w="3676650">
                  <a:moveTo>
                    <a:pt x="0" y="222123"/>
                  </a:moveTo>
                  <a:cubicBezTo>
                    <a:pt x="0" y="99441"/>
                    <a:pt x="99441" y="0"/>
                    <a:pt x="222123" y="0"/>
                  </a:cubicBezTo>
                  <a:lnTo>
                    <a:pt x="3454527" y="0"/>
                  </a:lnTo>
                  <a:cubicBezTo>
                    <a:pt x="3577209" y="0"/>
                    <a:pt x="3676650" y="99441"/>
                    <a:pt x="3676650" y="222123"/>
                  </a:cubicBezTo>
                  <a:lnTo>
                    <a:pt x="3676650" y="1351407"/>
                  </a:lnTo>
                  <a:cubicBezTo>
                    <a:pt x="3676650" y="1474089"/>
                    <a:pt x="3577209" y="1573530"/>
                    <a:pt x="345452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31" id="31"/>
          <p:cNvGrpSpPr/>
          <p:nvPr/>
        </p:nvGrpSpPr>
        <p:grpSpPr>
          <a:xfrm rot="0">
            <a:off x="9368028" y="4114800"/>
            <a:ext cx="2523744" cy="1165860"/>
            <a:chOff x="0" y="0"/>
            <a:chExt cx="3364992" cy="1554480"/>
          </a:xfrm>
        </p:grpSpPr>
        <p:sp>
          <p:nvSpPr>
            <p:cNvPr name="Freeform 32" id="32"/>
            <p:cNvSpPr/>
            <p:nvPr/>
          </p:nvSpPr>
          <p:spPr>
            <a:xfrm flipH="false" flipV="false" rot="0">
              <a:off x="0" y="0"/>
              <a:ext cx="3364992" cy="1554480"/>
            </a:xfrm>
            <a:custGeom>
              <a:avLst/>
              <a:gdLst/>
              <a:ahLst/>
              <a:cxnLst/>
              <a:rect r="r" b="b" t="t" l="l"/>
              <a:pathLst>
                <a:path h="1554480" w="3364992">
                  <a:moveTo>
                    <a:pt x="0" y="0"/>
                  </a:moveTo>
                  <a:lnTo>
                    <a:pt x="3364992" y="0"/>
                  </a:lnTo>
                  <a:lnTo>
                    <a:pt x="3364992" y="1554480"/>
                  </a:lnTo>
                  <a:lnTo>
                    <a:pt x="0" y="1554480"/>
                  </a:lnTo>
                  <a:close/>
                </a:path>
              </a:pathLst>
            </a:custGeom>
            <a:blipFill>
              <a:blip r:embed="rId3">
                <a:alphaModFix amt="0"/>
              </a:blip>
              <a:stretch>
                <a:fillRect l="-9270" t="0" r="-9270" b="0"/>
              </a:stretch>
            </a:blipFill>
          </p:spPr>
        </p:sp>
        <p:sp>
          <p:nvSpPr>
            <p:cNvPr name="TextBox 33" id="33"/>
            <p:cNvSpPr txBox="true"/>
            <p:nvPr/>
          </p:nvSpPr>
          <p:spPr>
            <a:xfrm>
              <a:off x="0" y="0"/>
              <a:ext cx="336499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IndoBERTweet</a:t>
              </a:r>
            </a:p>
          </p:txBody>
        </p:sp>
      </p:grpSp>
      <p:grpSp>
        <p:nvGrpSpPr>
          <p:cNvPr name="Group 34" id="34"/>
          <p:cNvGrpSpPr/>
          <p:nvPr/>
        </p:nvGrpSpPr>
        <p:grpSpPr>
          <a:xfrm rot="0">
            <a:off x="12474416" y="4107656"/>
            <a:ext cx="3031808" cy="1180148"/>
            <a:chOff x="0" y="0"/>
            <a:chExt cx="4042410" cy="1573530"/>
          </a:xfrm>
        </p:grpSpPr>
        <p:sp>
          <p:nvSpPr>
            <p:cNvPr name="Freeform 35" id="35"/>
            <p:cNvSpPr/>
            <p:nvPr/>
          </p:nvSpPr>
          <p:spPr>
            <a:xfrm flipH="false" flipV="false" rot="0">
              <a:off x="0" y="0"/>
              <a:ext cx="4042410" cy="1573530"/>
            </a:xfrm>
            <a:custGeom>
              <a:avLst/>
              <a:gdLst/>
              <a:ahLst/>
              <a:cxnLst/>
              <a:rect r="r" b="b" t="t" l="l"/>
              <a:pathLst>
                <a:path h="1573530" w="4042410">
                  <a:moveTo>
                    <a:pt x="0" y="222123"/>
                  </a:moveTo>
                  <a:cubicBezTo>
                    <a:pt x="0" y="99441"/>
                    <a:pt x="99441" y="0"/>
                    <a:pt x="222123" y="0"/>
                  </a:cubicBezTo>
                  <a:lnTo>
                    <a:pt x="3820287" y="0"/>
                  </a:lnTo>
                  <a:cubicBezTo>
                    <a:pt x="3942969" y="0"/>
                    <a:pt x="4042410" y="99441"/>
                    <a:pt x="4042410" y="222123"/>
                  </a:cubicBezTo>
                  <a:lnTo>
                    <a:pt x="4042410" y="1351407"/>
                  </a:lnTo>
                  <a:cubicBezTo>
                    <a:pt x="4042410" y="1474089"/>
                    <a:pt x="3942969" y="1573530"/>
                    <a:pt x="382028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36" id="36"/>
          <p:cNvGrpSpPr/>
          <p:nvPr/>
        </p:nvGrpSpPr>
        <p:grpSpPr>
          <a:xfrm rot="0">
            <a:off x="12591288" y="4114800"/>
            <a:ext cx="2798064" cy="1165860"/>
            <a:chOff x="0" y="0"/>
            <a:chExt cx="3730752" cy="1554480"/>
          </a:xfrm>
        </p:grpSpPr>
        <p:sp>
          <p:nvSpPr>
            <p:cNvPr name="Freeform 37" id="37"/>
            <p:cNvSpPr/>
            <p:nvPr/>
          </p:nvSpPr>
          <p:spPr>
            <a:xfrm flipH="false" flipV="false" rot="0">
              <a:off x="0" y="0"/>
              <a:ext cx="3730752" cy="1554480"/>
            </a:xfrm>
            <a:custGeom>
              <a:avLst/>
              <a:gdLst/>
              <a:ahLst/>
              <a:cxnLst/>
              <a:rect r="r" b="b" t="t" l="l"/>
              <a:pathLst>
                <a:path h="1554480" w="3730752">
                  <a:moveTo>
                    <a:pt x="0" y="0"/>
                  </a:moveTo>
                  <a:lnTo>
                    <a:pt x="3730752" y="0"/>
                  </a:lnTo>
                  <a:lnTo>
                    <a:pt x="3730752" y="1554480"/>
                  </a:lnTo>
                  <a:lnTo>
                    <a:pt x="0" y="1554480"/>
                  </a:lnTo>
                  <a:close/>
                </a:path>
              </a:pathLst>
            </a:custGeom>
            <a:blipFill>
              <a:blip r:embed="rId3">
                <a:alphaModFix amt="0"/>
              </a:blip>
              <a:stretch>
                <a:fillRect l="-3459" t="0" r="-3459" b="0"/>
              </a:stretch>
            </a:blipFill>
          </p:spPr>
        </p:sp>
        <p:sp>
          <p:nvSpPr>
            <p:cNvPr name="TextBox 38" id="38"/>
            <p:cNvSpPr txBox="true"/>
            <p:nvPr/>
          </p:nvSpPr>
          <p:spPr>
            <a:xfrm>
              <a:off x="0" y="0"/>
              <a:ext cx="373075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Classification Head</a:t>
              </a:r>
            </a:p>
          </p:txBody>
        </p:sp>
      </p:grpSp>
      <p:sp>
        <p:nvSpPr>
          <p:cNvPr name="TextBox 39" id="39"/>
          <p:cNvSpPr txBox="true"/>
          <p:nvPr/>
        </p:nvSpPr>
        <p:spPr>
          <a:xfrm rot="0">
            <a:off x="822960" y="5719572"/>
            <a:ext cx="3086100" cy="411480"/>
          </a:xfrm>
          <a:prstGeom prst="rect">
            <a:avLst/>
          </a:prstGeom>
        </p:spPr>
        <p:txBody>
          <a:bodyPr anchor="t" rtlCol="false" tIns="0" lIns="0" bIns="0" rIns="0">
            <a:spAutoFit/>
          </a:bodyPr>
          <a:lstStyle/>
          <a:p>
            <a:pPr algn="l">
              <a:lnSpc>
                <a:spcPts val="2340"/>
              </a:lnSpc>
            </a:pPr>
            <a:r>
              <a:rPr lang="en-US" sz="1950" b="true">
                <a:solidFill>
                  <a:srgbClr val="F5582E"/>
                </a:solidFill>
                <a:latin typeface="Helvetica World Bold"/>
                <a:ea typeface="Helvetica World Bold"/>
                <a:cs typeface="Helvetica World Bold"/>
                <a:sym typeface="Helvetica World Bold"/>
              </a:rPr>
              <a:t>Multimodal Fusion</a:t>
            </a:r>
          </a:p>
        </p:txBody>
      </p:sp>
      <p:sp>
        <p:nvSpPr>
          <p:cNvPr name="TextBox 40" id="40"/>
          <p:cNvSpPr txBox="true"/>
          <p:nvPr/>
        </p:nvSpPr>
        <p:spPr>
          <a:xfrm rot="0">
            <a:off x="822960" y="6172200"/>
            <a:ext cx="288036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E059 · E060</a:t>
            </a:r>
          </a:p>
        </p:txBody>
      </p:sp>
      <p:grpSp>
        <p:nvGrpSpPr>
          <p:cNvPr name="Group 41" id="41"/>
          <p:cNvGrpSpPr/>
          <p:nvPr/>
        </p:nvGrpSpPr>
        <p:grpSpPr>
          <a:xfrm rot="0">
            <a:off x="3970496" y="5547836"/>
            <a:ext cx="2346008" cy="1180148"/>
            <a:chOff x="0" y="0"/>
            <a:chExt cx="3128010" cy="1573530"/>
          </a:xfrm>
        </p:grpSpPr>
        <p:sp>
          <p:nvSpPr>
            <p:cNvPr name="Freeform 42" id="42"/>
            <p:cNvSpPr/>
            <p:nvPr/>
          </p:nvSpPr>
          <p:spPr>
            <a:xfrm flipH="false" flipV="false" rot="0">
              <a:off x="0" y="0"/>
              <a:ext cx="3128010" cy="1573530"/>
            </a:xfrm>
            <a:custGeom>
              <a:avLst/>
              <a:gdLst/>
              <a:ahLst/>
              <a:cxnLst/>
              <a:rect r="r" b="b" t="t" l="l"/>
              <a:pathLst>
                <a:path h="1573530" w="3128010">
                  <a:moveTo>
                    <a:pt x="0" y="222123"/>
                  </a:moveTo>
                  <a:cubicBezTo>
                    <a:pt x="0" y="99441"/>
                    <a:pt x="99441" y="0"/>
                    <a:pt x="222123" y="0"/>
                  </a:cubicBezTo>
                  <a:lnTo>
                    <a:pt x="2905887" y="0"/>
                  </a:lnTo>
                  <a:cubicBezTo>
                    <a:pt x="3028569" y="0"/>
                    <a:pt x="3128010" y="99441"/>
                    <a:pt x="3128010" y="222123"/>
                  </a:cubicBezTo>
                  <a:lnTo>
                    <a:pt x="3128010" y="1351407"/>
                  </a:lnTo>
                  <a:cubicBezTo>
                    <a:pt x="3128010" y="1474089"/>
                    <a:pt x="3028569" y="1573530"/>
                    <a:pt x="290588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43" id="43"/>
          <p:cNvGrpSpPr/>
          <p:nvPr/>
        </p:nvGrpSpPr>
        <p:grpSpPr>
          <a:xfrm rot="0">
            <a:off x="4087368" y="5554980"/>
            <a:ext cx="2112264" cy="1165860"/>
            <a:chOff x="0" y="0"/>
            <a:chExt cx="2816352" cy="1554480"/>
          </a:xfrm>
        </p:grpSpPr>
        <p:sp>
          <p:nvSpPr>
            <p:cNvPr name="Freeform 44" id="44"/>
            <p:cNvSpPr/>
            <p:nvPr/>
          </p:nvSpPr>
          <p:spPr>
            <a:xfrm flipH="false" flipV="false" rot="0">
              <a:off x="0" y="0"/>
              <a:ext cx="2816352" cy="1554480"/>
            </a:xfrm>
            <a:custGeom>
              <a:avLst/>
              <a:gdLst/>
              <a:ahLst/>
              <a:cxnLst/>
              <a:rect r="r" b="b" t="t" l="l"/>
              <a:pathLst>
                <a:path h="1554480" w="2816352">
                  <a:moveTo>
                    <a:pt x="0" y="0"/>
                  </a:moveTo>
                  <a:lnTo>
                    <a:pt x="2816352" y="0"/>
                  </a:lnTo>
                  <a:lnTo>
                    <a:pt x="2816352" y="1554480"/>
                  </a:lnTo>
                  <a:lnTo>
                    <a:pt x="0" y="1554480"/>
                  </a:lnTo>
                  <a:close/>
                </a:path>
              </a:pathLst>
            </a:custGeom>
            <a:blipFill>
              <a:blip r:embed="rId3">
                <a:alphaModFix amt="0"/>
              </a:blip>
              <a:stretch>
                <a:fillRect l="-20816" t="0" r="-20816" b="0"/>
              </a:stretch>
            </a:blipFill>
          </p:spPr>
        </p:sp>
        <p:sp>
          <p:nvSpPr>
            <p:cNvPr name="TextBox 45" id="45"/>
            <p:cNvSpPr txBox="true"/>
            <p:nvPr/>
          </p:nvSpPr>
          <p:spPr>
            <a:xfrm>
              <a:off x="0" y="0"/>
              <a:ext cx="281635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Teks + Gambar</a:t>
              </a:r>
            </a:p>
          </p:txBody>
        </p:sp>
      </p:grpSp>
      <p:grpSp>
        <p:nvGrpSpPr>
          <p:cNvPr name="Group 46" id="46"/>
          <p:cNvGrpSpPr/>
          <p:nvPr/>
        </p:nvGrpSpPr>
        <p:grpSpPr>
          <a:xfrm rot="0">
            <a:off x="6782276" y="5547836"/>
            <a:ext cx="2894648" cy="1180148"/>
            <a:chOff x="0" y="0"/>
            <a:chExt cx="3859530" cy="1573530"/>
          </a:xfrm>
        </p:grpSpPr>
        <p:sp>
          <p:nvSpPr>
            <p:cNvPr name="Freeform 47" id="47"/>
            <p:cNvSpPr/>
            <p:nvPr/>
          </p:nvSpPr>
          <p:spPr>
            <a:xfrm flipH="false" flipV="false" rot="0">
              <a:off x="0" y="0"/>
              <a:ext cx="3859530" cy="1573530"/>
            </a:xfrm>
            <a:custGeom>
              <a:avLst/>
              <a:gdLst/>
              <a:ahLst/>
              <a:cxnLst/>
              <a:rect r="r" b="b" t="t" l="l"/>
              <a:pathLst>
                <a:path h="1573530" w="3859530">
                  <a:moveTo>
                    <a:pt x="0" y="222123"/>
                  </a:moveTo>
                  <a:cubicBezTo>
                    <a:pt x="0" y="99441"/>
                    <a:pt x="99441" y="0"/>
                    <a:pt x="222123" y="0"/>
                  </a:cubicBezTo>
                  <a:lnTo>
                    <a:pt x="3637407" y="0"/>
                  </a:lnTo>
                  <a:cubicBezTo>
                    <a:pt x="3760089" y="0"/>
                    <a:pt x="3859530" y="99441"/>
                    <a:pt x="3859530" y="222123"/>
                  </a:cubicBezTo>
                  <a:lnTo>
                    <a:pt x="3859530" y="1351407"/>
                  </a:lnTo>
                  <a:cubicBezTo>
                    <a:pt x="3859530" y="1474089"/>
                    <a:pt x="3760089" y="1573530"/>
                    <a:pt x="363740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48" id="48"/>
          <p:cNvGrpSpPr/>
          <p:nvPr/>
        </p:nvGrpSpPr>
        <p:grpSpPr>
          <a:xfrm rot="0">
            <a:off x="6899148" y="5554980"/>
            <a:ext cx="2660904" cy="1165860"/>
            <a:chOff x="0" y="0"/>
            <a:chExt cx="3547872" cy="1554480"/>
          </a:xfrm>
        </p:grpSpPr>
        <p:sp>
          <p:nvSpPr>
            <p:cNvPr name="Freeform 49" id="49"/>
            <p:cNvSpPr/>
            <p:nvPr/>
          </p:nvSpPr>
          <p:spPr>
            <a:xfrm flipH="false" flipV="false" rot="0">
              <a:off x="0" y="0"/>
              <a:ext cx="3547872" cy="1554480"/>
            </a:xfrm>
            <a:custGeom>
              <a:avLst/>
              <a:gdLst/>
              <a:ahLst/>
              <a:cxnLst/>
              <a:rect r="r" b="b" t="t" l="l"/>
              <a:pathLst>
                <a:path h="1554480" w="3547872">
                  <a:moveTo>
                    <a:pt x="0" y="0"/>
                  </a:moveTo>
                  <a:lnTo>
                    <a:pt x="3547872" y="0"/>
                  </a:lnTo>
                  <a:lnTo>
                    <a:pt x="3547872" y="1554480"/>
                  </a:lnTo>
                  <a:lnTo>
                    <a:pt x="0" y="1554480"/>
                  </a:lnTo>
                  <a:close/>
                </a:path>
              </a:pathLst>
            </a:custGeom>
            <a:blipFill>
              <a:blip r:embed="rId3">
                <a:alphaModFix amt="0"/>
              </a:blip>
              <a:stretch>
                <a:fillRect l="-6215" t="0" r="-6215" b="0"/>
              </a:stretch>
            </a:blipFill>
          </p:spPr>
        </p:sp>
        <p:sp>
          <p:nvSpPr>
            <p:cNvPr name="TextBox 50" id="50"/>
            <p:cNvSpPr txBox="true"/>
            <p:nvPr/>
          </p:nvSpPr>
          <p:spPr>
            <a:xfrm>
              <a:off x="0" y="0"/>
              <a:ext cx="354787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IndoBERTweet + ViT</a:t>
              </a:r>
            </a:p>
          </p:txBody>
        </p:sp>
      </p:grpSp>
      <p:grpSp>
        <p:nvGrpSpPr>
          <p:cNvPr name="Group 51" id="51"/>
          <p:cNvGrpSpPr/>
          <p:nvPr/>
        </p:nvGrpSpPr>
        <p:grpSpPr>
          <a:xfrm rot="0">
            <a:off x="10142696" y="5547836"/>
            <a:ext cx="3168967" cy="1180148"/>
            <a:chOff x="0" y="0"/>
            <a:chExt cx="4225290" cy="1573530"/>
          </a:xfrm>
        </p:grpSpPr>
        <p:sp>
          <p:nvSpPr>
            <p:cNvPr name="Freeform 52" id="52"/>
            <p:cNvSpPr/>
            <p:nvPr/>
          </p:nvSpPr>
          <p:spPr>
            <a:xfrm flipH="false" flipV="false" rot="0">
              <a:off x="0" y="0"/>
              <a:ext cx="4225290" cy="1573530"/>
            </a:xfrm>
            <a:custGeom>
              <a:avLst/>
              <a:gdLst/>
              <a:ahLst/>
              <a:cxnLst/>
              <a:rect r="r" b="b" t="t" l="l"/>
              <a:pathLst>
                <a:path h="1573530" w="4225290">
                  <a:moveTo>
                    <a:pt x="0" y="222123"/>
                  </a:moveTo>
                  <a:cubicBezTo>
                    <a:pt x="0" y="99441"/>
                    <a:pt x="99441" y="0"/>
                    <a:pt x="222123" y="0"/>
                  </a:cubicBezTo>
                  <a:lnTo>
                    <a:pt x="4003167" y="0"/>
                  </a:lnTo>
                  <a:cubicBezTo>
                    <a:pt x="4125849" y="0"/>
                    <a:pt x="4225290" y="99441"/>
                    <a:pt x="4225290" y="222123"/>
                  </a:cubicBezTo>
                  <a:lnTo>
                    <a:pt x="4225290" y="1351407"/>
                  </a:lnTo>
                  <a:cubicBezTo>
                    <a:pt x="4225290" y="1474089"/>
                    <a:pt x="4125849" y="1573530"/>
                    <a:pt x="400316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53" id="53"/>
          <p:cNvGrpSpPr/>
          <p:nvPr/>
        </p:nvGrpSpPr>
        <p:grpSpPr>
          <a:xfrm rot="0">
            <a:off x="10259568" y="5554980"/>
            <a:ext cx="2935224" cy="1165860"/>
            <a:chOff x="0" y="0"/>
            <a:chExt cx="3913632" cy="1554480"/>
          </a:xfrm>
        </p:grpSpPr>
        <p:sp>
          <p:nvSpPr>
            <p:cNvPr name="Freeform 54" id="54"/>
            <p:cNvSpPr/>
            <p:nvPr/>
          </p:nvSpPr>
          <p:spPr>
            <a:xfrm flipH="false" flipV="false" rot="0">
              <a:off x="0" y="0"/>
              <a:ext cx="3913632" cy="1554480"/>
            </a:xfrm>
            <a:custGeom>
              <a:avLst/>
              <a:gdLst/>
              <a:ahLst/>
              <a:cxnLst/>
              <a:rect r="r" b="b" t="t" l="l"/>
              <a:pathLst>
                <a:path h="1554480" w="3913632">
                  <a:moveTo>
                    <a:pt x="0" y="0"/>
                  </a:moveTo>
                  <a:lnTo>
                    <a:pt x="3913632" y="0"/>
                  </a:lnTo>
                  <a:lnTo>
                    <a:pt x="3913632" y="1554480"/>
                  </a:lnTo>
                  <a:lnTo>
                    <a:pt x="0" y="1554480"/>
                  </a:lnTo>
                  <a:close/>
                </a:path>
              </a:pathLst>
            </a:custGeom>
            <a:blipFill>
              <a:blip r:embed="rId3">
                <a:alphaModFix amt="0"/>
              </a:blip>
              <a:stretch>
                <a:fillRect l="-961" t="0" r="-961" b="0"/>
              </a:stretch>
            </a:blipFill>
          </p:spPr>
        </p:sp>
        <p:sp>
          <p:nvSpPr>
            <p:cNvPr name="TextBox 55" id="55"/>
            <p:cNvSpPr txBox="true"/>
            <p:nvPr/>
          </p:nvSpPr>
          <p:spPr>
            <a:xfrm>
              <a:off x="0" y="0"/>
              <a:ext cx="391363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Feature Concatenation</a:t>
              </a:r>
            </a:p>
          </p:txBody>
        </p:sp>
      </p:grpSp>
      <p:grpSp>
        <p:nvGrpSpPr>
          <p:cNvPr name="Group 56" id="56"/>
          <p:cNvGrpSpPr/>
          <p:nvPr/>
        </p:nvGrpSpPr>
        <p:grpSpPr>
          <a:xfrm rot="0">
            <a:off x="13777436" y="5547836"/>
            <a:ext cx="1660208" cy="1180148"/>
            <a:chOff x="0" y="0"/>
            <a:chExt cx="2213610" cy="1573530"/>
          </a:xfrm>
        </p:grpSpPr>
        <p:sp>
          <p:nvSpPr>
            <p:cNvPr name="Freeform 57" id="57"/>
            <p:cNvSpPr/>
            <p:nvPr/>
          </p:nvSpPr>
          <p:spPr>
            <a:xfrm flipH="false" flipV="false" rot="0">
              <a:off x="0" y="0"/>
              <a:ext cx="2213610" cy="1573530"/>
            </a:xfrm>
            <a:custGeom>
              <a:avLst/>
              <a:gdLst/>
              <a:ahLst/>
              <a:cxnLst/>
              <a:rect r="r" b="b" t="t" l="l"/>
              <a:pathLst>
                <a:path h="1573530" w="2213610">
                  <a:moveTo>
                    <a:pt x="0" y="222123"/>
                  </a:moveTo>
                  <a:cubicBezTo>
                    <a:pt x="0" y="99441"/>
                    <a:pt x="99441" y="0"/>
                    <a:pt x="222123" y="0"/>
                  </a:cubicBezTo>
                  <a:lnTo>
                    <a:pt x="1991487" y="0"/>
                  </a:lnTo>
                  <a:cubicBezTo>
                    <a:pt x="2114169" y="0"/>
                    <a:pt x="2213610" y="99441"/>
                    <a:pt x="2213610" y="222123"/>
                  </a:cubicBezTo>
                  <a:lnTo>
                    <a:pt x="2213610" y="1351407"/>
                  </a:lnTo>
                  <a:cubicBezTo>
                    <a:pt x="2213610" y="1474089"/>
                    <a:pt x="2114169" y="1573530"/>
                    <a:pt x="199148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58" id="58"/>
          <p:cNvGrpSpPr/>
          <p:nvPr/>
        </p:nvGrpSpPr>
        <p:grpSpPr>
          <a:xfrm rot="0">
            <a:off x="13894308" y="5554980"/>
            <a:ext cx="1426464" cy="1165860"/>
            <a:chOff x="0" y="0"/>
            <a:chExt cx="1901952" cy="1554480"/>
          </a:xfrm>
        </p:grpSpPr>
        <p:sp>
          <p:nvSpPr>
            <p:cNvPr name="Freeform 59" id="59"/>
            <p:cNvSpPr/>
            <p:nvPr/>
          </p:nvSpPr>
          <p:spPr>
            <a:xfrm flipH="false" flipV="false" rot="0">
              <a:off x="0" y="0"/>
              <a:ext cx="1901952" cy="1554480"/>
            </a:xfrm>
            <a:custGeom>
              <a:avLst/>
              <a:gdLst/>
              <a:ahLst/>
              <a:cxnLst/>
              <a:rect r="r" b="b" t="t" l="l"/>
              <a:pathLst>
                <a:path h="1554480" w="1901952">
                  <a:moveTo>
                    <a:pt x="0" y="0"/>
                  </a:moveTo>
                  <a:lnTo>
                    <a:pt x="1901952" y="0"/>
                  </a:lnTo>
                  <a:lnTo>
                    <a:pt x="1901952" y="1554480"/>
                  </a:lnTo>
                  <a:lnTo>
                    <a:pt x="0" y="1554480"/>
                  </a:lnTo>
                  <a:close/>
                </a:path>
              </a:pathLst>
            </a:custGeom>
            <a:blipFill>
              <a:blip r:embed="rId3">
                <a:alphaModFix amt="0"/>
              </a:blip>
              <a:stretch>
                <a:fillRect l="-54863" t="0" r="-54863" b="0"/>
              </a:stretch>
            </a:blipFill>
          </p:spPr>
        </p:sp>
        <p:sp>
          <p:nvSpPr>
            <p:cNvPr name="TextBox 60" id="60"/>
            <p:cNvSpPr txBox="true"/>
            <p:nvPr/>
          </p:nvSpPr>
          <p:spPr>
            <a:xfrm>
              <a:off x="0" y="0"/>
              <a:ext cx="190195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Head</a:t>
              </a:r>
            </a:p>
          </p:txBody>
        </p:sp>
      </p:grpSp>
      <p:sp>
        <p:nvSpPr>
          <p:cNvPr name="TextBox 61" id="61"/>
          <p:cNvSpPr txBox="true"/>
          <p:nvPr/>
        </p:nvSpPr>
        <p:spPr>
          <a:xfrm rot="0">
            <a:off x="822960" y="7159752"/>
            <a:ext cx="3086100" cy="411480"/>
          </a:xfrm>
          <a:prstGeom prst="rect">
            <a:avLst/>
          </a:prstGeom>
        </p:spPr>
        <p:txBody>
          <a:bodyPr anchor="t" rtlCol="false" tIns="0" lIns="0" bIns="0" rIns="0">
            <a:spAutoFit/>
          </a:bodyPr>
          <a:lstStyle/>
          <a:p>
            <a:pPr algn="l">
              <a:lnSpc>
                <a:spcPts val="2340"/>
              </a:lnSpc>
            </a:pPr>
            <a:r>
              <a:rPr lang="en-US" sz="1950" b="true">
                <a:solidFill>
                  <a:srgbClr val="F5582E"/>
                </a:solidFill>
                <a:latin typeface="Helvetica World Bold"/>
                <a:ea typeface="Helvetica World Bold"/>
                <a:cs typeface="Helvetica World Bold"/>
                <a:sym typeface="Helvetica World Bold"/>
              </a:rPr>
              <a:t>Multitask</a:t>
            </a:r>
          </a:p>
        </p:txBody>
      </p:sp>
      <p:sp>
        <p:nvSpPr>
          <p:cNvPr name="TextBox 62" id="62"/>
          <p:cNvSpPr txBox="true"/>
          <p:nvPr/>
        </p:nvSpPr>
        <p:spPr>
          <a:xfrm rot="0">
            <a:off x="822960" y="7612380"/>
            <a:ext cx="288036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E101 · E110</a:t>
            </a:r>
          </a:p>
        </p:txBody>
      </p:sp>
      <p:grpSp>
        <p:nvGrpSpPr>
          <p:cNvPr name="Group 63" id="63"/>
          <p:cNvGrpSpPr/>
          <p:nvPr/>
        </p:nvGrpSpPr>
        <p:grpSpPr>
          <a:xfrm rot="0">
            <a:off x="3970496" y="6988016"/>
            <a:ext cx="2483167" cy="1180148"/>
            <a:chOff x="0" y="0"/>
            <a:chExt cx="3310890" cy="1573530"/>
          </a:xfrm>
        </p:grpSpPr>
        <p:sp>
          <p:nvSpPr>
            <p:cNvPr name="Freeform 64" id="64"/>
            <p:cNvSpPr/>
            <p:nvPr/>
          </p:nvSpPr>
          <p:spPr>
            <a:xfrm flipH="false" flipV="false" rot="0">
              <a:off x="0" y="0"/>
              <a:ext cx="3310890" cy="1573530"/>
            </a:xfrm>
            <a:custGeom>
              <a:avLst/>
              <a:gdLst/>
              <a:ahLst/>
              <a:cxnLst/>
              <a:rect r="r" b="b" t="t" l="l"/>
              <a:pathLst>
                <a:path h="1573530" w="3310890">
                  <a:moveTo>
                    <a:pt x="0" y="222123"/>
                  </a:moveTo>
                  <a:cubicBezTo>
                    <a:pt x="0" y="99441"/>
                    <a:pt x="99441" y="0"/>
                    <a:pt x="222123" y="0"/>
                  </a:cubicBezTo>
                  <a:lnTo>
                    <a:pt x="3088767" y="0"/>
                  </a:lnTo>
                  <a:cubicBezTo>
                    <a:pt x="3211449" y="0"/>
                    <a:pt x="3310890" y="99441"/>
                    <a:pt x="3310890" y="222123"/>
                  </a:cubicBezTo>
                  <a:lnTo>
                    <a:pt x="3310890" y="1351407"/>
                  </a:lnTo>
                  <a:cubicBezTo>
                    <a:pt x="3310890" y="1474089"/>
                    <a:pt x="3211449" y="1573530"/>
                    <a:pt x="308876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65" id="65"/>
          <p:cNvGrpSpPr/>
          <p:nvPr/>
        </p:nvGrpSpPr>
        <p:grpSpPr>
          <a:xfrm rot="0">
            <a:off x="4087368" y="6995160"/>
            <a:ext cx="2249424" cy="1165860"/>
            <a:chOff x="0" y="0"/>
            <a:chExt cx="2999232" cy="1554480"/>
          </a:xfrm>
        </p:grpSpPr>
        <p:sp>
          <p:nvSpPr>
            <p:cNvPr name="Freeform 66" id="66"/>
            <p:cNvSpPr/>
            <p:nvPr/>
          </p:nvSpPr>
          <p:spPr>
            <a:xfrm flipH="false" flipV="false" rot="0">
              <a:off x="0" y="0"/>
              <a:ext cx="2999232" cy="1554480"/>
            </a:xfrm>
            <a:custGeom>
              <a:avLst/>
              <a:gdLst/>
              <a:ahLst/>
              <a:cxnLst/>
              <a:rect r="r" b="b" t="t" l="l"/>
              <a:pathLst>
                <a:path h="1554480" w="2999232">
                  <a:moveTo>
                    <a:pt x="0" y="0"/>
                  </a:moveTo>
                  <a:lnTo>
                    <a:pt x="2999232" y="0"/>
                  </a:lnTo>
                  <a:lnTo>
                    <a:pt x="2999232" y="1554480"/>
                  </a:lnTo>
                  <a:lnTo>
                    <a:pt x="0" y="1554480"/>
                  </a:lnTo>
                  <a:close/>
                </a:path>
              </a:pathLst>
            </a:custGeom>
            <a:blipFill>
              <a:blip r:embed="rId3">
                <a:alphaModFix amt="0"/>
              </a:blip>
              <a:stretch>
                <a:fillRect l="-16498" t="0" r="-16498" b="0"/>
              </a:stretch>
            </a:blipFill>
          </p:spPr>
        </p:sp>
        <p:sp>
          <p:nvSpPr>
            <p:cNvPr name="TextBox 67" id="67"/>
            <p:cNvSpPr txBox="true"/>
            <p:nvPr/>
          </p:nvSpPr>
          <p:spPr>
            <a:xfrm>
              <a:off x="0" y="0"/>
              <a:ext cx="299923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Teks (+ Gambar)</a:t>
              </a:r>
            </a:p>
          </p:txBody>
        </p:sp>
      </p:grpSp>
      <p:grpSp>
        <p:nvGrpSpPr>
          <p:cNvPr name="Group 68" id="68"/>
          <p:cNvGrpSpPr/>
          <p:nvPr/>
        </p:nvGrpSpPr>
        <p:grpSpPr>
          <a:xfrm rot="0">
            <a:off x="6919436" y="6988016"/>
            <a:ext cx="3168967" cy="1180148"/>
            <a:chOff x="0" y="0"/>
            <a:chExt cx="4225290" cy="1573530"/>
          </a:xfrm>
        </p:grpSpPr>
        <p:sp>
          <p:nvSpPr>
            <p:cNvPr name="Freeform 69" id="69"/>
            <p:cNvSpPr/>
            <p:nvPr/>
          </p:nvSpPr>
          <p:spPr>
            <a:xfrm flipH="false" flipV="false" rot="0">
              <a:off x="0" y="0"/>
              <a:ext cx="4225290" cy="1573530"/>
            </a:xfrm>
            <a:custGeom>
              <a:avLst/>
              <a:gdLst/>
              <a:ahLst/>
              <a:cxnLst/>
              <a:rect r="r" b="b" t="t" l="l"/>
              <a:pathLst>
                <a:path h="1573530" w="4225290">
                  <a:moveTo>
                    <a:pt x="0" y="222123"/>
                  </a:moveTo>
                  <a:cubicBezTo>
                    <a:pt x="0" y="99441"/>
                    <a:pt x="99441" y="0"/>
                    <a:pt x="222123" y="0"/>
                  </a:cubicBezTo>
                  <a:lnTo>
                    <a:pt x="4003167" y="0"/>
                  </a:lnTo>
                  <a:cubicBezTo>
                    <a:pt x="4125849" y="0"/>
                    <a:pt x="4225290" y="99441"/>
                    <a:pt x="4225290" y="222123"/>
                  </a:cubicBezTo>
                  <a:lnTo>
                    <a:pt x="4225290" y="1351407"/>
                  </a:lnTo>
                  <a:cubicBezTo>
                    <a:pt x="4225290" y="1474089"/>
                    <a:pt x="4125849" y="1573530"/>
                    <a:pt x="400316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70" id="70"/>
          <p:cNvGrpSpPr/>
          <p:nvPr/>
        </p:nvGrpSpPr>
        <p:grpSpPr>
          <a:xfrm rot="0">
            <a:off x="7036308" y="6995160"/>
            <a:ext cx="2935224" cy="1165860"/>
            <a:chOff x="0" y="0"/>
            <a:chExt cx="3913632" cy="1554480"/>
          </a:xfrm>
        </p:grpSpPr>
        <p:sp>
          <p:nvSpPr>
            <p:cNvPr name="Freeform 71" id="71"/>
            <p:cNvSpPr/>
            <p:nvPr/>
          </p:nvSpPr>
          <p:spPr>
            <a:xfrm flipH="false" flipV="false" rot="0">
              <a:off x="0" y="0"/>
              <a:ext cx="3913632" cy="1554480"/>
            </a:xfrm>
            <a:custGeom>
              <a:avLst/>
              <a:gdLst/>
              <a:ahLst/>
              <a:cxnLst/>
              <a:rect r="r" b="b" t="t" l="l"/>
              <a:pathLst>
                <a:path h="1554480" w="3913632">
                  <a:moveTo>
                    <a:pt x="0" y="0"/>
                  </a:moveTo>
                  <a:lnTo>
                    <a:pt x="3913632" y="0"/>
                  </a:lnTo>
                  <a:lnTo>
                    <a:pt x="3913632" y="1554480"/>
                  </a:lnTo>
                  <a:lnTo>
                    <a:pt x="0" y="1554480"/>
                  </a:lnTo>
                  <a:close/>
                </a:path>
              </a:pathLst>
            </a:custGeom>
            <a:blipFill>
              <a:blip r:embed="rId3">
                <a:alphaModFix amt="0"/>
              </a:blip>
              <a:stretch>
                <a:fillRect l="-961" t="0" r="-961" b="0"/>
              </a:stretch>
            </a:blipFill>
          </p:spPr>
        </p:sp>
        <p:sp>
          <p:nvSpPr>
            <p:cNvPr name="TextBox 72" id="72"/>
            <p:cNvSpPr txBox="true"/>
            <p:nvPr/>
          </p:nvSpPr>
          <p:spPr>
            <a:xfrm>
              <a:off x="0" y="0"/>
              <a:ext cx="391363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Representasi Bersama</a:t>
              </a:r>
            </a:p>
          </p:txBody>
        </p:sp>
      </p:grpSp>
      <p:grpSp>
        <p:nvGrpSpPr>
          <p:cNvPr name="Group 73" id="73"/>
          <p:cNvGrpSpPr/>
          <p:nvPr/>
        </p:nvGrpSpPr>
        <p:grpSpPr>
          <a:xfrm rot="0">
            <a:off x="10554176" y="6988016"/>
            <a:ext cx="3306128" cy="1180148"/>
            <a:chOff x="0" y="0"/>
            <a:chExt cx="4408170" cy="1573530"/>
          </a:xfrm>
        </p:grpSpPr>
        <p:sp>
          <p:nvSpPr>
            <p:cNvPr name="Freeform 74" id="74"/>
            <p:cNvSpPr/>
            <p:nvPr/>
          </p:nvSpPr>
          <p:spPr>
            <a:xfrm flipH="false" flipV="false" rot="0">
              <a:off x="0" y="0"/>
              <a:ext cx="4408170" cy="1573530"/>
            </a:xfrm>
            <a:custGeom>
              <a:avLst/>
              <a:gdLst/>
              <a:ahLst/>
              <a:cxnLst/>
              <a:rect r="r" b="b" t="t" l="l"/>
              <a:pathLst>
                <a:path h="1573530" w="4408170">
                  <a:moveTo>
                    <a:pt x="0" y="222123"/>
                  </a:moveTo>
                  <a:cubicBezTo>
                    <a:pt x="0" y="99441"/>
                    <a:pt x="99441" y="0"/>
                    <a:pt x="222123" y="0"/>
                  </a:cubicBezTo>
                  <a:lnTo>
                    <a:pt x="4186047" y="0"/>
                  </a:lnTo>
                  <a:cubicBezTo>
                    <a:pt x="4308729" y="0"/>
                    <a:pt x="4408170" y="99441"/>
                    <a:pt x="4408170" y="222123"/>
                  </a:cubicBezTo>
                  <a:lnTo>
                    <a:pt x="4408170" y="1351407"/>
                  </a:lnTo>
                  <a:cubicBezTo>
                    <a:pt x="4408170" y="1474089"/>
                    <a:pt x="4308729" y="1573530"/>
                    <a:pt x="4186047" y="1573530"/>
                  </a:cubicBezTo>
                  <a:lnTo>
                    <a:pt x="222123" y="1573530"/>
                  </a:lnTo>
                  <a:cubicBezTo>
                    <a:pt x="99441" y="1573530"/>
                    <a:pt x="0" y="1474089"/>
                    <a:pt x="0" y="1351407"/>
                  </a:cubicBezTo>
                  <a:close/>
                </a:path>
              </a:pathLst>
            </a:custGeom>
            <a:solidFill>
              <a:srgbClr val="FFFFFF"/>
            </a:solidFill>
            <a:ln w="14288" cap="sq">
              <a:solidFill>
                <a:srgbClr val="000000"/>
              </a:solidFill>
              <a:prstDash val="solid"/>
              <a:miter/>
            </a:ln>
          </p:spPr>
        </p:sp>
      </p:grpSp>
      <p:grpSp>
        <p:nvGrpSpPr>
          <p:cNvPr name="Group 75" id="75"/>
          <p:cNvGrpSpPr/>
          <p:nvPr/>
        </p:nvGrpSpPr>
        <p:grpSpPr>
          <a:xfrm rot="0">
            <a:off x="10671048" y="6995160"/>
            <a:ext cx="3072384" cy="1165860"/>
            <a:chOff x="0" y="0"/>
            <a:chExt cx="4096512" cy="1554480"/>
          </a:xfrm>
        </p:grpSpPr>
        <p:sp>
          <p:nvSpPr>
            <p:cNvPr name="Freeform 76" id="76"/>
            <p:cNvSpPr/>
            <p:nvPr/>
          </p:nvSpPr>
          <p:spPr>
            <a:xfrm flipH="false" flipV="false" rot="0">
              <a:off x="0" y="0"/>
              <a:ext cx="4096512" cy="1554480"/>
            </a:xfrm>
            <a:custGeom>
              <a:avLst/>
              <a:gdLst/>
              <a:ahLst/>
              <a:cxnLst/>
              <a:rect r="r" b="b" t="t" l="l"/>
              <a:pathLst>
                <a:path h="1554480" w="4096512">
                  <a:moveTo>
                    <a:pt x="0" y="0"/>
                  </a:moveTo>
                  <a:lnTo>
                    <a:pt x="4096512" y="0"/>
                  </a:lnTo>
                  <a:lnTo>
                    <a:pt x="4096512" y="1554480"/>
                  </a:lnTo>
                  <a:lnTo>
                    <a:pt x="0" y="1554480"/>
                  </a:lnTo>
                  <a:close/>
                </a:path>
              </a:pathLst>
            </a:custGeom>
            <a:blipFill>
              <a:blip r:embed="rId3">
                <a:alphaModFix amt="0"/>
              </a:blip>
              <a:stretch>
                <a:fillRect l="0" t="-1348" r="0" b="-1348"/>
              </a:stretch>
            </a:blipFill>
          </p:spPr>
        </p:sp>
        <p:sp>
          <p:nvSpPr>
            <p:cNvPr name="TextBox 77" id="77"/>
            <p:cNvSpPr txBox="true"/>
            <p:nvPr/>
          </p:nvSpPr>
          <p:spPr>
            <a:xfrm>
              <a:off x="0" y="0"/>
              <a:ext cx="4096512" cy="1554480"/>
            </a:xfrm>
            <a:prstGeom prst="rect">
              <a:avLst/>
            </a:prstGeom>
          </p:spPr>
          <p:txBody>
            <a:bodyPr anchor="ctr" rtlCol="false" tIns="0" lIns="0" bIns="0" rIns="0"/>
            <a:lstStyle/>
            <a:p>
              <a:pPr algn="ctr">
                <a:lnSpc>
                  <a:spcPts val="2160"/>
                </a:lnSpc>
              </a:pPr>
              <a:r>
                <a:rPr lang="en-US" sz="1800" b="true">
                  <a:solidFill>
                    <a:srgbClr val="000000"/>
                  </a:solidFill>
                  <a:latin typeface="Helvetica World Bold"/>
                  <a:ea typeface="Helvetica World Bold"/>
                  <a:cs typeface="Helvetica World Bold"/>
                  <a:sym typeface="Helvetica World Bold"/>
                </a:rPr>
                <a:t>2 Classification Head</a:t>
              </a:r>
            </a:p>
          </p:txBody>
        </p:sp>
      </p:grpSp>
      <p:grpSp>
        <p:nvGrpSpPr>
          <p:cNvPr name="Group 78" id="78"/>
          <p:cNvGrpSpPr/>
          <p:nvPr/>
        </p:nvGrpSpPr>
        <p:grpSpPr>
          <a:xfrm rot="0">
            <a:off x="815816" y="8565356"/>
            <a:ext cx="16610648" cy="837248"/>
            <a:chOff x="0" y="0"/>
            <a:chExt cx="22147530" cy="1116330"/>
          </a:xfrm>
        </p:grpSpPr>
        <p:sp>
          <p:nvSpPr>
            <p:cNvPr name="Freeform 79" id="79"/>
            <p:cNvSpPr/>
            <p:nvPr/>
          </p:nvSpPr>
          <p:spPr>
            <a:xfrm flipH="false" flipV="false" rot="0">
              <a:off x="0" y="0"/>
              <a:ext cx="22147529" cy="1116330"/>
            </a:xfrm>
            <a:custGeom>
              <a:avLst/>
              <a:gdLst/>
              <a:ahLst/>
              <a:cxnLst/>
              <a:rect r="r" b="b" t="t" l="l"/>
              <a:pathLst>
                <a:path h="1116330" w="22147529">
                  <a:moveTo>
                    <a:pt x="0" y="223266"/>
                  </a:moveTo>
                  <a:cubicBezTo>
                    <a:pt x="0" y="99949"/>
                    <a:pt x="99949" y="0"/>
                    <a:pt x="223266" y="0"/>
                  </a:cubicBezTo>
                  <a:lnTo>
                    <a:pt x="21924263" y="0"/>
                  </a:lnTo>
                  <a:cubicBezTo>
                    <a:pt x="22047580" y="0"/>
                    <a:pt x="22147529" y="99949"/>
                    <a:pt x="22147529" y="223266"/>
                  </a:cubicBezTo>
                  <a:lnTo>
                    <a:pt x="22147529" y="893064"/>
                  </a:lnTo>
                  <a:cubicBezTo>
                    <a:pt x="22147529" y="1016381"/>
                    <a:pt x="22047580" y="1116330"/>
                    <a:pt x="21924263" y="1116330"/>
                  </a:cubicBezTo>
                  <a:lnTo>
                    <a:pt x="223266" y="1116330"/>
                  </a:lnTo>
                  <a:cubicBezTo>
                    <a:pt x="99949" y="1116330"/>
                    <a:pt x="0" y="1016381"/>
                    <a:pt x="0" y="893064"/>
                  </a:cubicBezTo>
                  <a:close/>
                </a:path>
              </a:pathLst>
            </a:custGeom>
            <a:solidFill>
              <a:srgbClr val="141221"/>
            </a:solidFill>
            <a:ln w="14288" cap="sq">
              <a:solidFill>
                <a:srgbClr val="000000"/>
              </a:solidFill>
              <a:prstDash val="solid"/>
              <a:miter/>
            </a:ln>
          </p:spPr>
        </p:sp>
      </p:grpSp>
      <p:grpSp>
        <p:nvGrpSpPr>
          <p:cNvPr name="Group 80" id="80"/>
          <p:cNvGrpSpPr/>
          <p:nvPr/>
        </p:nvGrpSpPr>
        <p:grpSpPr>
          <a:xfrm rot="0">
            <a:off x="1097280" y="8572500"/>
            <a:ext cx="16047720" cy="822960"/>
            <a:chOff x="0" y="0"/>
            <a:chExt cx="21396960" cy="1097280"/>
          </a:xfrm>
        </p:grpSpPr>
        <p:sp>
          <p:nvSpPr>
            <p:cNvPr name="Freeform 81" id="81"/>
            <p:cNvSpPr/>
            <p:nvPr/>
          </p:nvSpPr>
          <p:spPr>
            <a:xfrm flipH="false" flipV="false" rot="0">
              <a:off x="0" y="0"/>
              <a:ext cx="21396961" cy="1097280"/>
            </a:xfrm>
            <a:custGeom>
              <a:avLst/>
              <a:gdLst/>
              <a:ahLst/>
              <a:cxnLst/>
              <a:rect r="r" b="b" t="t" l="l"/>
              <a:pathLst>
                <a:path h="1097280" w="21396961">
                  <a:moveTo>
                    <a:pt x="0" y="0"/>
                  </a:moveTo>
                  <a:lnTo>
                    <a:pt x="21396961" y="0"/>
                  </a:lnTo>
                  <a:lnTo>
                    <a:pt x="21396961" y="1097280"/>
                  </a:lnTo>
                  <a:lnTo>
                    <a:pt x="0" y="1097280"/>
                  </a:lnTo>
                  <a:close/>
                </a:path>
              </a:pathLst>
            </a:custGeom>
            <a:blipFill>
              <a:blip r:embed="rId3">
                <a:alphaModFix amt="0"/>
              </a:blip>
              <a:stretch>
                <a:fillRect l="0" t="-329958" r="0" b="-329958"/>
              </a:stretch>
            </a:blipFill>
          </p:spPr>
        </p:sp>
        <p:sp>
          <p:nvSpPr>
            <p:cNvPr name="TextBox 82" id="82"/>
            <p:cNvSpPr txBox="true"/>
            <p:nvPr/>
          </p:nvSpPr>
          <p:spPr>
            <a:xfrm>
              <a:off x="0" y="0"/>
              <a:ext cx="21396960" cy="1097280"/>
            </a:xfrm>
            <a:prstGeom prst="rect">
              <a:avLst/>
            </a:prstGeom>
          </p:spPr>
          <p:txBody>
            <a:bodyPr anchor="ctr" rtlCol="false" tIns="0" lIns="0" bIns="0" rIns="0"/>
            <a:lstStyle/>
            <a:p>
              <a:pPr algn="l">
                <a:lnSpc>
                  <a:spcPts val="2520"/>
                </a:lnSpc>
              </a:pPr>
              <a:r>
                <a:rPr lang="en-US" sz="2100" b="true">
                  <a:solidFill>
                    <a:srgbClr val="FFFFFF"/>
                  </a:solidFill>
                  <a:latin typeface="Helvetica World Bold"/>
                  <a:ea typeface="Helvetica World Bold"/>
                  <a:cs typeface="Helvetica World Bold"/>
                  <a:sym typeface="Helvetica World Bold"/>
                </a:rPr>
                <a:t>Teks maksimal : 256 token, Ukuran Gambar 224×224, Penggunaan 5 epoch, Evaluasi Metrik utama: Macro-F1</a:t>
              </a:r>
            </a:p>
          </p:txBody>
        </p:sp>
      </p:grpSp>
      <p:sp>
        <p:nvSpPr>
          <p:cNvPr name="AutoShape 83" id="83"/>
          <p:cNvSpPr/>
          <p:nvPr/>
        </p:nvSpPr>
        <p:spPr>
          <a:xfrm>
            <a:off x="9676924" y="3257550"/>
            <a:ext cx="491972" cy="34290"/>
          </a:xfrm>
          <a:prstGeom prst="line">
            <a:avLst/>
          </a:prstGeom>
          <a:ln cap="rnd" w="38100">
            <a:solidFill>
              <a:srgbClr val="F5582E"/>
            </a:solidFill>
            <a:prstDash val="solid"/>
            <a:headEnd type="none" len="sm" w="sm"/>
            <a:tailEnd type="triangle" len="med" w="lg"/>
          </a:ln>
        </p:spPr>
      </p:sp>
      <p:sp>
        <p:nvSpPr>
          <p:cNvPr name="AutoShape 84" id="84"/>
          <p:cNvSpPr/>
          <p:nvPr/>
        </p:nvSpPr>
        <p:spPr>
          <a:xfrm flipV="true">
            <a:off x="8785384" y="4697730"/>
            <a:ext cx="465772" cy="12190"/>
          </a:xfrm>
          <a:prstGeom prst="line">
            <a:avLst/>
          </a:prstGeom>
          <a:ln cap="rnd" w="38100">
            <a:solidFill>
              <a:srgbClr val="F5582E"/>
            </a:solidFill>
            <a:prstDash val="solid"/>
            <a:headEnd type="none" len="sm" w="sm"/>
            <a:tailEnd type="triangle" len="med" w="lg"/>
          </a:ln>
        </p:spPr>
      </p:sp>
      <p:sp>
        <p:nvSpPr>
          <p:cNvPr name="AutoShape 85" id="85"/>
          <p:cNvSpPr/>
          <p:nvPr/>
        </p:nvSpPr>
        <p:spPr>
          <a:xfrm flipV="true">
            <a:off x="12008644" y="4697730"/>
            <a:ext cx="465773" cy="34290"/>
          </a:xfrm>
          <a:prstGeom prst="line">
            <a:avLst/>
          </a:prstGeom>
          <a:ln cap="rnd" w="38100">
            <a:solidFill>
              <a:srgbClr val="F5582E"/>
            </a:solidFill>
            <a:prstDash val="solid"/>
            <a:headEnd type="none" len="sm" w="sm"/>
            <a:tailEnd type="triangle" len="med" w="lg"/>
          </a:ln>
        </p:spPr>
      </p:sp>
      <p:sp>
        <p:nvSpPr>
          <p:cNvPr name="AutoShape 86" id="86"/>
          <p:cNvSpPr/>
          <p:nvPr/>
        </p:nvSpPr>
        <p:spPr>
          <a:xfrm flipV="true">
            <a:off x="6316504" y="6112004"/>
            <a:ext cx="465773" cy="25906"/>
          </a:xfrm>
          <a:prstGeom prst="line">
            <a:avLst/>
          </a:prstGeom>
          <a:ln cap="rnd" w="38100">
            <a:solidFill>
              <a:srgbClr val="F5582E"/>
            </a:solidFill>
            <a:prstDash val="solid"/>
            <a:headEnd type="none" len="sm" w="sm"/>
            <a:tailEnd type="triangle" len="med" w="lg"/>
          </a:ln>
        </p:spPr>
      </p:sp>
      <p:sp>
        <p:nvSpPr>
          <p:cNvPr name="AutoShape 87" id="87"/>
          <p:cNvSpPr/>
          <p:nvPr/>
        </p:nvSpPr>
        <p:spPr>
          <a:xfrm>
            <a:off x="6453664" y="7578090"/>
            <a:ext cx="486077" cy="58814"/>
          </a:xfrm>
          <a:prstGeom prst="line">
            <a:avLst/>
          </a:prstGeom>
          <a:ln cap="rnd" w="38100">
            <a:solidFill>
              <a:srgbClr val="F5582E"/>
            </a:solidFill>
            <a:prstDash val="solid"/>
            <a:headEnd type="none" len="sm" w="sm"/>
            <a:tailEnd type="triangle" len="med" w="lg"/>
          </a:ln>
        </p:spPr>
      </p:sp>
      <p:sp>
        <p:nvSpPr>
          <p:cNvPr name="AutoShape 88" id="88"/>
          <p:cNvSpPr/>
          <p:nvPr/>
        </p:nvSpPr>
        <p:spPr>
          <a:xfrm flipV="true">
            <a:off x="10088404" y="7571232"/>
            <a:ext cx="434930" cy="6858"/>
          </a:xfrm>
          <a:prstGeom prst="line">
            <a:avLst/>
          </a:prstGeom>
          <a:ln cap="rnd" w="38100">
            <a:solidFill>
              <a:srgbClr val="F5582E"/>
            </a:solidFill>
            <a:prstDash val="solid"/>
            <a:headEnd type="none" len="sm" w="sm"/>
            <a:tailEnd type="triangle" len="med" w="lg"/>
          </a:ln>
        </p:spPr>
      </p:sp>
      <p:sp>
        <p:nvSpPr>
          <p:cNvPr name="AutoShape 89" id="89"/>
          <p:cNvSpPr/>
          <p:nvPr/>
        </p:nvSpPr>
        <p:spPr>
          <a:xfrm flipV="true">
            <a:off x="13331952" y="6137910"/>
            <a:ext cx="445484" cy="34290"/>
          </a:xfrm>
          <a:prstGeom prst="line">
            <a:avLst/>
          </a:prstGeom>
          <a:ln cap="rnd" w="38100">
            <a:solidFill>
              <a:srgbClr val="F5582E"/>
            </a:solidFill>
            <a:prstDash val="solid"/>
            <a:headEnd type="none" len="sm" w="sm"/>
            <a:tailEnd type="triangle" len="med" w="lg"/>
          </a:ln>
        </p:spPr>
      </p:sp>
      <p:sp>
        <p:nvSpPr>
          <p:cNvPr name="AutoShape 90" id="90"/>
          <p:cNvSpPr/>
          <p:nvPr/>
        </p:nvSpPr>
        <p:spPr>
          <a:xfrm>
            <a:off x="9676924" y="6137910"/>
            <a:ext cx="440208" cy="0"/>
          </a:xfrm>
          <a:prstGeom prst="line">
            <a:avLst/>
          </a:prstGeom>
          <a:ln cap="rnd" w="38100">
            <a:solidFill>
              <a:srgbClr val="F5582E"/>
            </a:solidFill>
            <a:prstDash val="solid"/>
            <a:headEnd type="none" len="sm" w="sm"/>
            <a:tailEnd type="triangle" len="med" w="lg"/>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7</a:t>
            </a:r>
          </a:p>
        </p:txBody>
      </p:sp>
      <p:sp>
        <p:nvSpPr>
          <p:cNvPr name="TextBox 3" id="3"/>
          <p:cNvSpPr txBox="true"/>
          <p:nvPr/>
        </p:nvSpPr>
        <p:spPr>
          <a:xfrm rot="0">
            <a:off x="822960" y="645795"/>
            <a:ext cx="16596360" cy="1655445"/>
          </a:xfrm>
          <a:prstGeom prst="rect">
            <a:avLst/>
          </a:prstGeom>
        </p:spPr>
        <p:txBody>
          <a:bodyPr anchor="t" rtlCol="false" tIns="0" lIns="0" bIns="0" rIns="0">
            <a:spAutoFit/>
          </a:bodyPr>
          <a:lstStyle/>
          <a:p>
            <a:pPr algn="l">
              <a:lnSpc>
                <a:spcPts val="6155"/>
              </a:lnSpc>
            </a:pPr>
            <a:r>
              <a:rPr lang="en-US" sz="5400" b="true">
                <a:solidFill>
                  <a:srgbClr val="F5582E"/>
                </a:solidFill>
                <a:latin typeface="Helvetica World Bold"/>
                <a:ea typeface="Helvetica World Bold"/>
                <a:cs typeface="Helvetica World Bold"/>
                <a:sym typeface="Helvetica World Bold"/>
              </a:rPr>
              <a:t>SEBERAPA DEKAT HASIL KAMI</a:t>
            </a:r>
          </a:p>
          <a:p>
            <a:pPr algn="l">
              <a:lnSpc>
                <a:spcPts val="5472"/>
              </a:lnSpc>
            </a:pPr>
            <a:r>
              <a:rPr lang="en-US" sz="4800" i="true">
                <a:solidFill>
                  <a:srgbClr val="000000"/>
                </a:solidFill>
                <a:latin typeface="Noto Serif Italics"/>
                <a:ea typeface="Noto Serif Italics"/>
                <a:cs typeface="Noto Serif Italics"/>
                <a:sym typeface="Noto Serif Italics"/>
              </a:rPr>
              <a:t>dengan Penelitian Acuan?</a:t>
            </a:r>
          </a:p>
        </p:txBody>
      </p:sp>
      <p:sp>
        <p:nvSpPr>
          <p:cNvPr name="TextBox 4" id="4"/>
          <p:cNvSpPr txBox="true"/>
          <p:nvPr/>
        </p:nvSpPr>
        <p:spPr>
          <a:xfrm rot="0">
            <a:off x="822960" y="2546985"/>
            <a:ext cx="12344400" cy="333375"/>
          </a:xfrm>
          <a:prstGeom prst="rect">
            <a:avLst/>
          </a:prstGeom>
        </p:spPr>
        <p:txBody>
          <a:bodyPr anchor="t" rtlCol="false" tIns="0" lIns="0" bIns="0" rIns="0">
            <a:spAutoFit/>
          </a:bodyPr>
          <a:lstStyle/>
          <a:p>
            <a:pPr algn="l">
              <a:lnSpc>
                <a:spcPts val="1980"/>
              </a:lnSpc>
            </a:pPr>
            <a:r>
              <a:rPr lang="en-US" sz="1650">
                <a:solidFill>
                  <a:srgbClr val="595959"/>
                </a:solidFill>
                <a:latin typeface="Helvetica World"/>
                <a:ea typeface="Helvetica World"/>
                <a:cs typeface="Helvetica World"/>
                <a:sym typeface="Helvetica World"/>
              </a:rPr>
              <a:t>Selisih Macro-F1 (reproduksi − paper), poin persentase  ·  oranye: lebih tinggi  ·  gelap: lebih rendah</a:t>
            </a:r>
          </a:p>
        </p:txBody>
      </p:sp>
      <p:grpSp>
        <p:nvGrpSpPr>
          <p:cNvPr name="Group 5" id="5"/>
          <p:cNvGrpSpPr/>
          <p:nvPr/>
        </p:nvGrpSpPr>
        <p:grpSpPr>
          <a:xfrm rot="0">
            <a:off x="822960" y="3154680"/>
            <a:ext cx="3977640" cy="521208"/>
            <a:chOff x="0" y="0"/>
            <a:chExt cx="5303520" cy="694944"/>
          </a:xfrm>
        </p:grpSpPr>
        <p:sp>
          <p:nvSpPr>
            <p:cNvPr name="Freeform 6" id="6"/>
            <p:cNvSpPr/>
            <p:nvPr/>
          </p:nvSpPr>
          <p:spPr>
            <a:xfrm flipH="false" flipV="false" rot="0">
              <a:off x="0" y="0"/>
              <a:ext cx="5303520" cy="694944"/>
            </a:xfrm>
            <a:custGeom>
              <a:avLst/>
              <a:gdLst/>
              <a:ahLst/>
              <a:cxnLst/>
              <a:rect r="r" b="b" t="t" l="l"/>
              <a:pathLst>
                <a:path h="694944" w="5303520">
                  <a:moveTo>
                    <a:pt x="0" y="0"/>
                  </a:moveTo>
                  <a:lnTo>
                    <a:pt x="5303520" y="0"/>
                  </a:lnTo>
                  <a:lnTo>
                    <a:pt x="5303520" y="694944"/>
                  </a:lnTo>
                  <a:lnTo>
                    <a:pt x="0" y="694944"/>
                  </a:lnTo>
                  <a:close/>
                </a:path>
              </a:pathLst>
            </a:custGeom>
            <a:blipFill>
              <a:blip r:embed="rId3">
                <a:alphaModFix amt="0"/>
              </a:blip>
              <a:stretch>
                <a:fillRect l="0" t="-98701" r="0" b="-98701"/>
              </a:stretch>
            </a:blipFill>
          </p:spPr>
        </p:sp>
        <p:sp>
          <p:nvSpPr>
            <p:cNvPr name="TextBox 7" id="7"/>
            <p:cNvSpPr txBox="true"/>
            <p:nvPr/>
          </p:nvSpPr>
          <p:spPr>
            <a:xfrm>
              <a:off x="0" y="0"/>
              <a:ext cx="5303520" cy="694944"/>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E005 ViT · Hate</a:t>
              </a:r>
            </a:p>
          </p:txBody>
        </p:sp>
      </p:grpSp>
      <p:grpSp>
        <p:nvGrpSpPr>
          <p:cNvPr name="Group 8" id="8"/>
          <p:cNvGrpSpPr/>
          <p:nvPr/>
        </p:nvGrpSpPr>
        <p:grpSpPr>
          <a:xfrm rot="0">
            <a:off x="9180195" y="3227451"/>
            <a:ext cx="2241042" cy="375666"/>
            <a:chOff x="0" y="0"/>
            <a:chExt cx="2988056" cy="500888"/>
          </a:xfrm>
        </p:grpSpPr>
        <p:sp>
          <p:nvSpPr>
            <p:cNvPr name="Freeform 9" id="9"/>
            <p:cNvSpPr/>
            <p:nvPr/>
          </p:nvSpPr>
          <p:spPr>
            <a:xfrm flipH="false" flipV="false" rot="0">
              <a:off x="0" y="0"/>
              <a:ext cx="2988056" cy="500888"/>
            </a:xfrm>
            <a:custGeom>
              <a:avLst/>
              <a:gdLst/>
              <a:ahLst/>
              <a:cxnLst/>
              <a:rect r="r" b="b" t="t" l="l"/>
              <a:pathLst>
                <a:path h="500888" w="2988056">
                  <a:moveTo>
                    <a:pt x="0" y="0"/>
                  </a:moveTo>
                  <a:lnTo>
                    <a:pt x="2988056" y="0"/>
                  </a:lnTo>
                  <a:lnTo>
                    <a:pt x="2988056" y="500888"/>
                  </a:lnTo>
                  <a:lnTo>
                    <a:pt x="0" y="500888"/>
                  </a:lnTo>
                  <a:close/>
                </a:path>
              </a:pathLst>
            </a:custGeom>
            <a:solidFill>
              <a:srgbClr val="F5582E"/>
            </a:solidFill>
            <a:ln w="19050" cap="sq">
              <a:solidFill>
                <a:srgbClr val="F5582E"/>
              </a:solidFill>
              <a:prstDash val="solid"/>
              <a:miter/>
            </a:ln>
          </p:spPr>
        </p:sp>
      </p:grpSp>
      <p:grpSp>
        <p:nvGrpSpPr>
          <p:cNvPr name="Group 10" id="10"/>
          <p:cNvGrpSpPr/>
          <p:nvPr/>
        </p:nvGrpSpPr>
        <p:grpSpPr>
          <a:xfrm rot="0">
            <a:off x="11521440" y="3154680"/>
            <a:ext cx="960120" cy="521208"/>
            <a:chOff x="0" y="0"/>
            <a:chExt cx="1280160" cy="694944"/>
          </a:xfrm>
        </p:grpSpPr>
        <p:sp>
          <p:nvSpPr>
            <p:cNvPr name="Freeform 11" id="11"/>
            <p:cNvSpPr/>
            <p:nvPr/>
          </p:nvSpPr>
          <p:spPr>
            <a:xfrm flipH="false" flipV="false" rot="0">
              <a:off x="0" y="0"/>
              <a:ext cx="1280160" cy="694944"/>
            </a:xfrm>
            <a:custGeom>
              <a:avLst/>
              <a:gdLst/>
              <a:ahLst/>
              <a:cxnLst/>
              <a:rect r="r" b="b" t="t" l="l"/>
              <a:pathLst>
                <a:path h="694944" w="1280160">
                  <a:moveTo>
                    <a:pt x="0" y="0"/>
                  </a:moveTo>
                  <a:lnTo>
                    <a:pt x="1280160" y="0"/>
                  </a:lnTo>
                  <a:lnTo>
                    <a:pt x="1280160" y="694944"/>
                  </a:lnTo>
                  <a:lnTo>
                    <a:pt x="0" y="694944"/>
                  </a:lnTo>
                  <a:close/>
                </a:path>
              </a:pathLst>
            </a:custGeom>
            <a:blipFill>
              <a:blip r:embed="rId3">
                <a:alphaModFix amt="0"/>
              </a:blip>
              <a:stretch>
                <a:fillRect l="-19650" t="0" r="-19650" b="0"/>
              </a:stretch>
            </a:blipFill>
          </p:spPr>
        </p:sp>
        <p:sp>
          <p:nvSpPr>
            <p:cNvPr name="TextBox 12" id="12"/>
            <p:cNvSpPr txBox="true"/>
            <p:nvPr/>
          </p:nvSpPr>
          <p:spPr>
            <a:xfrm>
              <a:off x="0" y="0"/>
              <a:ext cx="1280160" cy="694944"/>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+1,08</a:t>
              </a:r>
            </a:p>
          </p:txBody>
        </p:sp>
      </p:grpSp>
      <p:grpSp>
        <p:nvGrpSpPr>
          <p:cNvPr name="Group 13" id="13"/>
          <p:cNvGrpSpPr/>
          <p:nvPr/>
        </p:nvGrpSpPr>
        <p:grpSpPr>
          <a:xfrm rot="0">
            <a:off x="822960" y="3744468"/>
            <a:ext cx="3977640" cy="521208"/>
            <a:chOff x="0" y="0"/>
            <a:chExt cx="5303520" cy="694944"/>
          </a:xfrm>
        </p:grpSpPr>
        <p:sp>
          <p:nvSpPr>
            <p:cNvPr name="Freeform 14" id="14"/>
            <p:cNvSpPr/>
            <p:nvPr/>
          </p:nvSpPr>
          <p:spPr>
            <a:xfrm flipH="false" flipV="false" rot="0">
              <a:off x="0" y="0"/>
              <a:ext cx="5303520" cy="694944"/>
            </a:xfrm>
            <a:custGeom>
              <a:avLst/>
              <a:gdLst/>
              <a:ahLst/>
              <a:cxnLst/>
              <a:rect r="r" b="b" t="t" l="l"/>
              <a:pathLst>
                <a:path h="694944" w="5303520">
                  <a:moveTo>
                    <a:pt x="0" y="0"/>
                  </a:moveTo>
                  <a:lnTo>
                    <a:pt x="5303520" y="0"/>
                  </a:lnTo>
                  <a:lnTo>
                    <a:pt x="5303520" y="694944"/>
                  </a:lnTo>
                  <a:lnTo>
                    <a:pt x="0" y="694944"/>
                  </a:lnTo>
                  <a:close/>
                </a:path>
              </a:pathLst>
            </a:custGeom>
            <a:blipFill>
              <a:blip r:embed="rId3">
                <a:alphaModFix amt="0"/>
              </a:blip>
              <a:stretch>
                <a:fillRect l="0" t="-98701" r="0" b="-98701"/>
              </a:stretch>
            </a:blipFill>
          </p:spPr>
        </p:sp>
        <p:sp>
          <p:nvSpPr>
            <p:cNvPr name="TextBox 15" id="15"/>
            <p:cNvSpPr txBox="true"/>
            <p:nvPr/>
          </p:nvSpPr>
          <p:spPr>
            <a:xfrm>
              <a:off x="0" y="0"/>
              <a:ext cx="5303520" cy="694944"/>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E006 ViT · Inappropriate</a:t>
              </a:r>
            </a:p>
          </p:txBody>
        </p:sp>
      </p:grpSp>
      <p:grpSp>
        <p:nvGrpSpPr>
          <p:cNvPr name="Group 16" id="16"/>
          <p:cNvGrpSpPr/>
          <p:nvPr/>
        </p:nvGrpSpPr>
        <p:grpSpPr>
          <a:xfrm rot="0">
            <a:off x="9180195" y="3817239"/>
            <a:ext cx="327660" cy="375666"/>
            <a:chOff x="0" y="0"/>
            <a:chExt cx="436880" cy="500888"/>
          </a:xfrm>
        </p:grpSpPr>
        <p:sp>
          <p:nvSpPr>
            <p:cNvPr name="Freeform 17" id="17"/>
            <p:cNvSpPr/>
            <p:nvPr/>
          </p:nvSpPr>
          <p:spPr>
            <a:xfrm flipH="false" flipV="false" rot="0">
              <a:off x="0" y="0"/>
              <a:ext cx="436880" cy="500888"/>
            </a:xfrm>
            <a:custGeom>
              <a:avLst/>
              <a:gdLst/>
              <a:ahLst/>
              <a:cxnLst/>
              <a:rect r="r" b="b" t="t" l="l"/>
              <a:pathLst>
                <a:path h="500888" w="436880">
                  <a:moveTo>
                    <a:pt x="0" y="0"/>
                  </a:moveTo>
                  <a:lnTo>
                    <a:pt x="436880" y="0"/>
                  </a:lnTo>
                  <a:lnTo>
                    <a:pt x="436880" y="500888"/>
                  </a:lnTo>
                  <a:lnTo>
                    <a:pt x="0" y="500888"/>
                  </a:lnTo>
                  <a:close/>
                </a:path>
              </a:pathLst>
            </a:custGeom>
            <a:solidFill>
              <a:srgbClr val="F5582E"/>
            </a:solidFill>
            <a:ln w="19050" cap="sq">
              <a:solidFill>
                <a:srgbClr val="F5582E"/>
              </a:solidFill>
              <a:prstDash val="solid"/>
              <a:miter/>
            </a:ln>
          </p:spPr>
        </p:sp>
      </p:grpSp>
      <p:grpSp>
        <p:nvGrpSpPr>
          <p:cNvPr name="Group 18" id="18"/>
          <p:cNvGrpSpPr/>
          <p:nvPr/>
        </p:nvGrpSpPr>
        <p:grpSpPr>
          <a:xfrm rot="0">
            <a:off x="9608058" y="3744468"/>
            <a:ext cx="960120" cy="521208"/>
            <a:chOff x="0" y="0"/>
            <a:chExt cx="1280160" cy="694944"/>
          </a:xfrm>
        </p:grpSpPr>
        <p:sp>
          <p:nvSpPr>
            <p:cNvPr name="Freeform 19" id="19"/>
            <p:cNvSpPr/>
            <p:nvPr/>
          </p:nvSpPr>
          <p:spPr>
            <a:xfrm flipH="false" flipV="false" rot="0">
              <a:off x="0" y="0"/>
              <a:ext cx="1280160" cy="694944"/>
            </a:xfrm>
            <a:custGeom>
              <a:avLst/>
              <a:gdLst/>
              <a:ahLst/>
              <a:cxnLst/>
              <a:rect r="r" b="b" t="t" l="l"/>
              <a:pathLst>
                <a:path h="694944" w="1280160">
                  <a:moveTo>
                    <a:pt x="0" y="0"/>
                  </a:moveTo>
                  <a:lnTo>
                    <a:pt x="1280160" y="0"/>
                  </a:lnTo>
                  <a:lnTo>
                    <a:pt x="1280160" y="694944"/>
                  </a:lnTo>
                  <a:lnTo>
                    <a:pt x="0" y="694944"/>
                  </a:lnTo>
                  <a:close/>
                </a:path>
              </a:pathLst>
            </a:custGeom>
            <a:blipFill>
              <a:blip r:embed="rId3">
                <a:alphaModFix amt="0"/>
              </a:blip>
              <a:stretch>
                <a:fillRect l="-19650" t="0" r="-19650" b="0"/>
              </a:stretch>
            </a:blipFill>
          </p:spPr>
        </p:sp>
        <p:sp>
          <p:nvSpPr>
            <p:cNvPr name="TextBox 20" id="20"/>
            <p:cNvSpPr txBox="true"/>
            <p:nvPr/>
          </p:nvSpPr>
          <p:spPr>
            <a:xfrm>
              <a:off x="0" y="0"/>
              <a:ext cx="1280160" cy="694944"/>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+0,15</a:t>
              </a:r>
            </a:p>
          </p:txBody>
        </p:sp>
      </p:grpSp>
      <p:grpSp>
        <p:nvGrpSpPr>
          <p:cNvPr name="Group 21" id="21"/>
          <p:cNvGrpSpPr/>
          <p:nvPr/>
        </p:nvGrpSpPr>
        <p:grpSpPr>
          <a:xfrm rot="0">
            <a:off x="822960" y="4334256"/>
            <a:ext cx="3977640" cy="521208"/>
            <a:chOff x="0" y="0"/>
            <a:chExt cx="5303520" cy="694944"/>
          </a:xfrm>
        </p:grpSpPr>
        <p:sp>
          <p:nvSpPr>
            <p:cNvPr name="Freeform 22" id="22"/>
            <p:cNvSpPr/>
            <p:nvPr/>
          </p:nvSpPr>
          <p:spPr>
            <a:xfrm flipH="false" flipV="false" rot="0">
              <a:off x="0" y="0"/>
              <a:ext cx="5303520" cy="694944"/>
            </a:xfrm>
            <a:custGeom>
              <a:avLst/>
              <a:gdLst/>
              <a:ahLst/>
              <a:cxnLst/>
              <a:rect r="r" b="b" t="t" l="l"/>
              <a:pathLst>
                <a:path h="694944" w="5303520">
                  <a:moveTo>
                    <a:pt x="0" y="0"/>
                  </a:moveTo>
                  <a:lnTo>
                    <a:pt x="5303520" y="0"/>
                  </a:lnTo>
                  <a:lnTo>
                    <a:pt x="5303520" y="694944"/>
                  </a:lnTo>
                  <a:lnTo>
                    <a:pt x="0" y="694944"/>
                  </a:lnTo>
                  <a:close/>
                </a:path>
              </a:pathLst>
            </a:custGeom>
            <a:blipFill>
              <a:blip r:embed="rId3">
                <a:alphaModFix amt="0"/>
              </a:blip>
              <a:stretch>
                <a:fillRect l="0" t="-98701" r="0" b="-98701"/>
              </a:stretch>
            </a:blipFill>
          </p:spPr>
        </p:sp>
        <p:sp>
          <p:nvSpPr>
            <p:cNvPr name="TextBox 23" id="23"/>
            <p:cNvSpPr txBox="true"/>
            <p:nvPr/>
          </p:nvSpPr>
          <p:spPr>
            <a:xfrm>
              <a:off x="0" y="0"/>
              <a:ext cx="5303520" cy="694944"/>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E041 IndoBERTweet · Hate</a:t>
              </a:r>
            </a:p>
          </p:txBody>
        </p:sp>
      </p:grpSp>
      <p:grpSp>
        <p:nvGrpSpPr>
          <p:cNvPr name="Group 24" id="24"/>
          <p:cNvGrpSpPr/>
          <p:nvPr/>
        </p:nvGrpSpPr>
        <p:grpSpPr>
          <a:xfrm rot="0">
            <a:off x="9180195" y="4407027"/>
            <a:ext cx="1212342" cy="375666"/>
            <a:chOff x="0" y="0"/>
            <a:chExt cx="1616456" cy="500888"/>
          </a:xfrm>
        </p:grpSpPr>
        <p:sp>
          <p:nvSpPr>
            <p:cNvPr name="Freeform 25" id="25"/>
            <p:cNvSpPr/>
            <p:nvPr/>
          </p:nvSpPr>
          <p:spPr>
            <a:xfrm flipH="false" flipV="false" rot="0">
              <a:off x="0" y="0"/>
              <a:ext cx="1616456" cy="500888"/>
            </a:xfrm>
            <a:custGeom>
              <a:avLst/>
              <a:gdLst/>
              <a:ahLst/>
              <a:cxnLst/>
              <a:rect r="r" b="b" t="t" l="l"/>
              <a:pathLst>
                <a:path h="500888" w="1616456">
                  <a:moveTo>
                    <a:pt x="0" y="0"/>
                  </a:moveTo>
                  <a:lnTo>
                    <a:pt x="1616456" y="0"/>
                  </a:lnTo>
                  <a:lnTo>
                    <a:pt x="1616456" y="500888"/>
                  </a:lnTo>
                  <a:lnTo>
                    <a:pt x="0" y="500888"/>
                  </a:lnTo>
                  <a:close/>
                </a:path>
              </a:pathLst>
            </a:custGeom>
            <a:solidFill>
              <a:srgbClr val="F5582E"/>
            </a:solidFill>
            <a:ln w="19050" cap="sq">
              <a:solidFill>
                <a:srgbClr val="F5582E"/>
              </a:solidFill>
              <a:prstDash val="solid"/>
              <a:miter/>
            </a:ln>
          </p:spPr>
        </p:sp>
      </p:grpSp>
      <p:grpSp>
        <p:nvGrpSpPr>
          <p:cNvPr name="Group 26" id="26"/>
          <p:cNvGrpSpPr/>
          <p:nvPr/>
        </p:nvGrpSpPr>
        <p:grpSpPr>
          <a:xfrm rot="0">
            <a:off x="10492740" y="4334256"/>
            <a:ext cx="960120" cy="521208"/>
            <a:chOff x="0" y="0"/>
            <a:chExt cx="1280160" cy="694944"/>
          </a:xfrm>
        </p:grpSpPr>
        <p:sp>
          <p:nvSpPr>
            <p:cNvPr name="Freeform 27" id="27"/>
            <p:cNvSpPr/>
            <p:nvPr/>
          </p:nvSpPr>
          <p:spPr>
            <a:xfrm flipH="false" flipV="false" rot="0">
              <a:off x="0" y="0"/>
              <a:ext cx="1280160" cy="694944"/>
            </a:xfrm>
            <a:custGeom>
              <a:avLst/>
              <a:gdLst/>
              <a:ahLst/>
              <a:cxnLst/>
              <a:rect r="r" b="b" t="t" l="l"/>
              <a:pathLst>
                <a:path h="694944" w="1280160">
                  <a:moveTo>
                    <a:pt x="0" y="0"/>
                  </a:moveTo>
                  <a:lnTo>
                    <a:pt x="1280160" y="0"/>
                  </a:lnTo>
                  <a:lnTo>
                    <a:pt x="1280160" y="694944"/>
                  </a:lnTo>
                  <a:lnTo>
                    <a:pt x="0" y="694944"/>
                  </a:lnTo>
                  <a:close/>
                </a:path>
              </a:pathLst>
            </a:custGeom>
            <a:blipFill>
              <a:blip r:embed="rId3">
                <a:alphaModFix amt="0"/>
              </a:blip>
              <a:stretch>
                <a:fillRect l="-19650" t="0" r="-19650" b="0"/>
              </a:stretch>
            </a:blipFill>
          </p:spPr>
        </p:sp>
        <p:sp>
          <p:nvSpPr>
            <p:cNvPr name="TextBox 28" id="28"/>
            <p:cNvSpPr txBox="true"/>
            <p:nvPr/>
          </p:nvSpPr>
          <p:spPr>
            <a:xfrm>
              <a:off x="0" y="0"/>
              <a:ext cx="1280160" cy="694944"/>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+0,58</a:t>
              </a:r>
            </a:p>
          </p:txBody>
        </p:sp>
      </p:grpSp>
      <p:grpSp>
        <p:nvGrpSpPr>
          <p:cNvPr name="Group 29" id="29"/>
          <p:cNvGrpSpPr/>
          <p:nvPr/>
        </p:nvGrpSpPr>
        <p:grpSpPr>
          <a:xfrm rot="0">
            <a:off x="822960" y="4924044"/>
            <a:ext cx="3977640" cy="521208"/>
            <a:chOff x="0" y="0"/>
            <a:chExt cx="5303520" cy="694944"/>
          </a:xfrm>
        </p:grpSpPr>
        <p:sp>
          <p:nvSpPr>
            <p:cNvPr name="Freeform 30" id="30"/>
            <p:cNvSpPr/>
            <p:nvPr/>
          </p:nvSpPr>
          <p:spPr>
            <a:xfrm flipH="false" flipV="false" rot="0">
              <a:off x="0" y="0"/>
              <a:ext cx="5303520" cy="694944"/>
            </a:xfrm>
            <a:custGeom>
              <a:avLst/>
              <a:gdLst/>
              <a:ahLst/>
              <a:cxnLst/>
              <a:rect r="r" b="b" t="t" l="l"/>
              <a:pathLst>
                <a:path h="694944" w="5303520">
                  <a:moveTo>
                    <a:pt x="0" y="0"/>
                  </a:moveTo>
                  <a:lnTo>
                    <a:pt x="5303520" y="0"/>
                  </a:lnTo>
                  <a:lnTo>
                    <a:pt x="5303520" y="694944"/>
                  </a:lnTo>
                  <a:lnTo>
                    <a:pt x="0" y="694944"/>
                  </a:lnTo>
                  <a:close/>
                </a:path>
              </a:pathLst>
            </a:custGeom>
            <a:blipFill>
              <a:blip r:embed="rId3">
                <a:alphaModFix amt="0"/>
              </a:blip>
              <a:stretch>
                <a:fillRect l="0" t="-98701" r="0" b="-98701"/>
              </a:stretch>
            </a:blipFill>
          </p:spPr>
        </p:sp>
        <p:sp>
          <p:nvSpPr>
            <p:cNvPr name="TextBox 31" id="31"/>
            <p:cNvSpPr txBox="true"/>
            <p:nvPr/>
          </p:nvSpPr>
          <p:spPr>
            <a:xfrm>
              <a:off x="0" y="0"/>
              <a:ext cx="5303520" cy="694944"/>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E042 IndoBERTweet · Inapp.</a:t>
              </a:r>
            </a:p>
          </p:txBody>
        </p:sp>
      </p:grpSp>
      <p:grpSp>
        <p:nvGrpSpPr>
          <p:cNvPr name="Group 32" id="32"/>
          <p:cNvGrpSpPr/>
          <p:nvPr/>
        </p:nvGrpSpPr>
        <p:grpSpPr>
          <a:xfrm rot="0">
            <a:off x="9180195" y="4996815"/>
            <a:ext cx="2158746" cy="375666"/>
            <a:chOff x="0" y="0"/>
            <a:chExt cx="2878328" cy="500888"/>
          </a:xfrm>
        </p:grpSpPr>
        <p:sp>
          <p:nvSpPr>
            <p:cNvPr name="Freeform 33" id="33"/>
            <p:cNvSpPr/>
            <p:nvPr/>
          </p:nvSpPr>
          <p:spPr>
            <a:xfrm flipH="false" flipV="false" rot="0">
              <a:off x="0" y="0"/>
              <a:ext cx="2878328" cy="500888"/>
            </a:xfrm>
            <a:custGeom>
              <a:avLst/>
              <a:gdLst/>
              <a:ahLst/>
              <a:cxnLst/>
              <a:rect r="r" b="b" t="t" l="l"/>
              <a:pathLst>
                <a:path h="500888" w="2878328">
                  <a:moveTo>
                    <a:pt x="0" y="0"/>
                  </a:moveTo>
                  <a:lnTo>
                    <a:pt x="2878328" y="0"/>
                  </a:lnTo>
                  <a:lnTo>
                    <a:pt x="2878328" y="500888"/>
                  </a:lnTo>
                  <a:lnTo>
                    <a:pt x="0" y="500888"/>
                  </a:lnTo>
                  <a:close/>
                </a:path>
              </a:pathLst>
            </a:custGeom>
            <a:solidFill>
              <a:srgbClr val="F5582E"/>
            </a:solidFill>
            <a:ln w="19050" cap="sq">
              <a:solidFill>
                <a:srgbClr val="F5582E"/>
              </a:solidFill>
              <a:prstDash val="solid"/>
              <a:miter/>
            </a:ln>
          </p:spPr>
        </p:sp>
      </p:grpSp>
      <p:grpSp>
        <p:nvGrpSpPr>
          <p:cNvPr name="Group 34" id="34"/>
          <p:cNvGrpSpPr/>
          <p:nvPr/>
        </p:nvGrpSpPr>
        <p:grpSpPr>
          <a:xfrm rot="0">
            <a:off x="11439144" y="4924044"/>
            <a:ext cx="960120" cy="521208"/>
            <a:chOff x="0" y="0"/>
            <a:chExt cx="1280160" cy="694944"/>
          </a:xfrm>
        </p:grpSpPr>
        <p:sp>
          <p:nvSpPr>
            <p:cNvPr name="Freeform 35" id="35"/>
            <p:cNvSpPr/>
            <p:nvPr/>
          </p:nvSpPr>
          <p:spPr>
            <a:xfrm flipH="false" flipV="false" rot="0">
              <a:off x="0" y="0"/>
              <a:ext cx="1280160" cy="694944"/>
            </a:xfrm>
            <a:custGeom>
              <a:avLst/>
              <a:gdLst/>
              <a:ahLst/>
              <a:cxnLst/>
              <a:rect r="r" b="b" t="t" l="l"/>
              <a:pathLst>
                <a:path h="694944" w="1280160">
                  <a:moveTo>
                    <a:pt x="0" y="0"/>
                  </a:moveTo>
                  <a:lnTo>
                    <a:pt x="1280160" y="0"/>
                  </a:lnTo>
                  <a:lnTo>
                    <a:pt x="1280160" y="694944"/>
                  </a:lnTo>
                  <a:lnTo>
                    <a:pt x="0" y="694944"/>
                  </a:lnTo>
                  <a:close/>
                </a:path>
              </a:pathLst>
            </a:custGeom>
            <a:blipFill>
              <a:blip r:embed="rId3">
                <a:alphaModFix amt="0"/>
              </a:blip>
              <a:stretch>
                <a:fillRect l="-19650" t="0" r="-19650" b="0"/>
              </a:stretch>
            </a:blipFill>
          </p:spPr>
        </p:sp>
        <p:sp>
          <p:nvSpPr>
            <p:cNvPr name="TextBox 36" id="36"/>
            <p:cNvSpPr txBox="true"/>
            <p:nvPr/>
          </p:nvSpPr>
          <p:spPr>
            <a:xfrm>
              <a:off x="0" y="0"/>
              <a:ext cx="1280160" cy="694944"/>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+1,04</a:t>
              </a:r>
            </a:p>
          </p:txBody>
        </p:sp>
      </p:grpSp>
      <p:grpSp>
        <p:nvGrpSpPr>
          <p:cNvPr name="Group 37" id="37"/>
          <p:cNvGrpSpPr/>
          <p:nvPr/>
        </p:nvGrpSpPr>
        <p:grpSpPr>
          <a:xfrm rot="0">
            <a:off x="822960" y="5513832"/>
            <a:ext cx="3977640" cy="521208"/>
            <a:chOff x="0" y="0"/>
            <a:chExt cx="5303520" cy="694944"/>
          </a:xfrm>
        </p:grpSpPr>
        <p:sp>
          <p:nvSpPr>
            <p:cNvPr name="Freeform 38" id="38"/>
            <p:cNvSpPr/>
            <p:nvPr/>
          </p:nvSpPr>
          <p:spPr>
            <a:xfrm flipH="false" flipV="false" rot="0">
              <a:off x="0" y="0"/>
              <a:ext cx="5303520" cy="694944"/>
            </a:xfrm>
            <a:custGeom>
              <a:avLst/>
              <a:gdLst/>
              <a:ahLst/>
              <a:cxnLst/>
              <a:rect r="r" b="b" t="t" l="l"/>
              <a:pathLst>
                <a:path h="694944" w="5303520">
                  <a:moveTo>
                    <a:pt x="0" y="0"/>
                  </a:moveTo>
                  <a:lnTo>
                    <a:pt x="5303520" y="0"/>
                  </a:lnTo>
                  <a:lnTo>
                    <a:pt x="5303520" y="694944"/>
                  </a:lnTo>
                  <a:lnTo>
                    <a:pt x="0" y="694944"/>
                  </a:lnTo>
                  <a:close/>
                </a:path>
              </a:pathLst>
            </a:custGeom>
            <a:blipFill>
              <a:blip r:embed="rId3">
                <a:alphaModFix amt="0"/>
              </a:blip>
              <a:stretch>
                <a:fillRect l="0" t="-98701" r="0" b="-98701"/>
              </a:stretch>
            </a:blipFill>
          </p:spPr>
        </p:sp>
        <p:sp>
          <p:nvSpPr>
            <p:cNvPr name="TextBox 39" id="39"/>
            <p:cNvSpPr txBox="true"/>
            <p:nvPr/>
          </p:nvSpPr>
          <p:spPr>
            <a:xfrm>
              <a:off x="0" y="0"/>
              <a:ext cx="5303520" cy="694944"/>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E059 Fusi · Hate</a:t>
              </a:r>
            </a:p>
          </p:txBody>
        </p:sp>
      </p:grpSp>
      <p:grpSp>
        <p:nvGrpSpPr>
          <p:cNvPr name="Group 40" id="40"/>
          <p:cNvGrpSpPr/>
          <p:nvPr/>
        </p:nvGrpSpPr>
        <p:grpSpPr>
          <a:xfrm rot="0">
            <a:off x="5950077" y="5586603"/>
            <a:ext cx="3249168" cy="375666"/>
            <a:chOff x="0" y="0"/>
            <a:chExt cx="4332224" cy="500888"/>
          </a:xfrm>
        </p:grpSpPr>
        <p:sp>
          <p:nvSpPr>
            <p:cNvPr name="Freeform 41" id="41"/>
            <p:cNvSpPr/>
            <p:nvPr/>
          </p:nvSpPr>
          <p:spPr>
            <a:xfrm flipH="false" flipV="false" rot="0">
              <a:off x="0" y="0"/>
              <a:ext cx="4332224" cy="500888"/>
            </a:xfrm>
            <a:custGeom>
              <a:avLst/>
              <a:gdLst/>
              <a:ahLst/>
              <a:cxnLst/>
              <a:rect r="r" b="b" t="t" l="l"/>
              <a:pathLst>
                <a:path h="500888" w="4332224">
                  <a:moveTo>
                    <a:pt x="0" y="0"/>
                  </a:moveTo>
                  <a:lnTo>
                    <a:pt x="4332224" y="0"/>
                  </a:lnTo>
                  <a:lnTo>
                    <a:pt x="4332224" y="500888"/>
                  </a:lnTo>
                  <a:lnTo>
                    <a:pt x="0" y="500888"/>
                  </a:lnTo>
                  <a:close/>
                </a:path>
              </a:pathLst>
            </a:custGeom>
            <a:solidFill>
              <a:srgbClr val="141221"/>
            </a:solidFill>
            <a:ln w="19050" cap="sq">
              <a:solidFill>
                <a:srgbClr val="141221"/>
              </a:solidFill>
              <a:prstDash val="solid"/>
              <a:miter/>
            </a:ln>
          </p:spPr>
        </p:sp>
      </p:grpSp>
      <p:grpSp>
        <p:nvGrpSpPr>
          <p:cNvPr name="Group 42" id="42"/>
          <p:cNvGrpSpPr/>
          <p:nvPr/>
        </p:nvGrpSpPr>
        <p:grpSpPr>
          <a:xfrm rot="0">
            <a:off x="4889754" y="5513832"/>
            <a:ext cx="960120" cy="521208"/>
            <a:chOff x="0" y="0"/>
            <a:chExt cx="1280160" cy="694944"/>
          </a:xfrm>
        </p:grpSpPr>
        <p:sp>
          <p:nvSpPr>
            <p:cNvPr name="Freeform 43" id="43"/>
            <p:cNvSpPr/>
            <p:nvPr/>
          </p:nvSpPr>
          <p:spPr>
            <a:xfrm flipH="false" flipV="false" rot="0">
              <a:off x="0" y="0"/>
              <a:ext cx="1280160" cy="694944"/>
            </a:xfrm>
            <a:custGeom>
              <a:avLst/>
              <a:gdLst/>
              <a:ahLst/>
              <a:cxnLst/>
              <a:rect r="r" b="b" t="t" l="l"/>
              <a:pathLst>
                <a:path h="694944" w="1280160">
                  <a:moveTo>
                    <a:pt x="0" y="0"/>
                  </a:moveTo>
                  <a:lnTo>
                    <a:pt x="1280160" y="0"/>
                  </a:lnTo>
                  <a:lnTo>
                    <a:pt x="1280160" y="694944"/>
                  </a:lnTo>
                  <a:lnTo>
                    <a:pt x="0" y="694944"/>
                  </a:lnTo>
                  <a:close/>
                </a:path>
              </a:pathLst>
            </a:custGeom>
            <a:blipFill>
              <a:blip r:embed="rId3">
                <a:alphaModFix amt="0"/>
              </a:blip>
              <a:stretch>
                <a:fillRect l="-19650" t="0" r="-19650" b="0"/>
              </a:stretch>
            </a:blipFill>
          </p:spPr>
        </p:sp>
        <p:sp>
          <p:nvSpPr>
            <p:cNvPr name="TextBox 44" id="44"/>
            <p:cNvSpPr txBox="true"/>
            <p:nvPr/>
          </p:nvSpPr>
          <p:spPr>
            <a:xfrm>
              <a:off x="0" y="0"/>
              <a:ext cx="1280160" cy="694944"/>
            </a:xfrm>
            <a:prstGeom prst="rect">
              <a:avLst/>
            </a:prstGeom>
          </p:spPr>
          <p:txBody>
            <a:bodyPr anchor="ctr" rtlCol="false" tIns="0" lIns="0" bIns="0" rIns="0"/>
            <a:lstStyle/>
            <a:p>
              <a:pPr algn="r">
                <a:lnSpc>
                  <a:spcPts val="2160"/>
                </a:lnSpc>
              </a:pPr>
              <a:r>
                <a:rPr lang="en-US" sz="1800" b="true">
                  <a:solidFill>
                    <a:srgbClr val="000000"/>
                  </a:solidFill>
                  <a:latin typeface="Helvetica World Bold"/>
                  <a:ea typeface="Helvetica World Bold"/>
                  <a:cs typeface="Helvetica World Bold"/>
                  <a:sym typeface="Helvetica World Bold"/>
                </a:rPr>
                <a:t>−1,57</a:t>
              </a:r>
            </a:p>
          </p:txBody>
        </p:sp>
      </p:grpSp>
      <p:grpSp>
        <p:nvGrpSpPr>
          <p:cNvPr name="Group 45" id="45"/>
          <p:cNvGrpSpPr/>
          <p:nvPr/>
        </p:nvGrpSpPr>
        <p:grpSpPr>
          <a:xfrm rot="0">
            <a:off x="822960" y="6103620"/>
            <a:ext cx="3977640" cy="521208"/>
            <a:chOff x="0" y="0"/>
            <a:chExt cx="5303520" cy="694944"/>
          </a:xfrm>
        </p:grpSpPr>
        <p:sp>
          <p:nvSpPr>
            <p:cNvPr name="Freeform 46" id="46"/>
            <p:cNvSpPr/>
            <p:nvPr/>
          </p:nvSpPr>
          <p:spPr>
            <a:xfrm flipH="false" flipV="false" rot="0">
              <a:off x="0" y="0"/>
              <a:ext cx="5303520" cy="694944"/>
            </a:xfrm>
            <a:custGeom>
              <a:avLst/>
              <a:gdLst/>
              <a:ahLst/>
              <a:cxnLst/>
              <a:rect r="r" b="b" t="t" l="l"/>
              <a:pathLst>
                <a:path h="694944" w="5303520">
                  <a:moveTo>
                    <a:pt x="0" y="0"/>
                  </a:moveTo>
                  <a:lnTo>
                    <a:pt x="5303520" y="0"/>
                  </a:lnTo>
                  <a:lnTo>
                    <a:pt x="5303520" y="694944"/>
                  </a:lnTo>
                  <a:lnTo>
                    <a:pt x="0" y="694944"/>
                  </a:lnTo>
                  <a:close/>
                </a:path>
              </a:pathLst>
            </a:custGeom>
            <a:blipFill>
              <a:blip r:embed="rId3">
                <a:alphaModFix amt="0"/>
              </a:blip>
              <a:stretch>
                <a:fillRect l="0" t="-98701" r="0" b="-98701"/>
              </a:stretch>
            </a:blipFill>
          </p:spPr>
        </p:sp>
        <p:sp>
          <p:nvSpPr>
            <p:cNvPr name="TextBox 47" id="47"/>
            <p:cNvSpPr txBox="true"/>
            <p:nvPr/>
          </p:nvSpPr>
          <p:spPr>
            <a:xfrm>
              <a:off x="0" y="0"/>
              <a:ext cx="5303520" cy="694944"/>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E060 Fusi · Inappropriate</a:t>
              </a:r>
            </a:p>
          </p:txBody>
        </p:sp>
      </p:grpSp>
      <p:grpSp>
        <p:nvGrpSpPr>
          <p:cNvPr name="Group 48" id="48"/>
          <p:cNvGrpSpPr/>
          <p:nvPr/>
        </p:nvGrpSpPr>
        <p:grpSpPr>
          <a:xfrm rot="0">
            <a:off x="9180195" y="6176391"/>
            <a:ext cx="739140" cy="375666"/>
            <a:chOff x="0" y="0"/>
            <a:chExt cx="985520" cy="500888"/>
          </a:xfrm>
        </p:grpSpPr>
        <p:sp>
          <p:nvSpPr>
            <p:cNvPr name="Freeform 49" id="49"/>
            <p:cNvSpPr/>
            <p:nvPr/>
          </p:nvSpPr>
          <p:spPr>
            <a:xfrm flipH="false" flipV="false" rot="0">
              <a:off x="0" y="0"/>
              <a:ext cx="985520" cy="500888"/>
            </a:xfrm>
            <a:custGeom>
              <a:avLst/>
              <a:gdLst/>
              <a:ahLst/>
              <a:cxnLst/>
              <a:rect r="r" b="b" t="t" l="l"/>
              <a:pathLst>
                <a:path h="500888" w="985520">
                  <a:moveTo>
                    <a:pt x="0" y="0"/>
                  </a:moveTo>
                  <a:lnTo>
                    <a:pt x="985520" y="0"/>
                  </a:lnTo>
                  <a:lnTo>
                    <a:pt x="985520" y="500888"/>
                  </a:lnTo>
                  <a:lnTo>
                    <a:pt x="0" y="500888"/>
                  </a:lnTo>
                  <a:close/>
                </a:path>
              </a:pathLst>
            </a:custGeom>
            <a:solidFill>
              <a:srgbClr val="F5582E"/>
            </a:solidFill>
            <a:ln w="19050" cap="sq">
              <a:solidFill>
                <a:srgbClr val="F5582E"/>
              </a:solidFill>
              <a:prstDash val="solid"/>
              <a:miter/>
            </a:ln>
          </p:spPr>
        </p:sp>
      </p:grpSp>
      <p:grpSp>
        <p:nvGrpSpPr>
          <p:cNvPr name="Group 50" id="50"/>
          <p:cNvGrpSpPr/>
          <p:nvPr/>
        </p:nvGrpSpPr>
        <p:grpSpPr>
          <a:xfrm rot="0">
            <a:off x="10019538" y="6103620"/>
            <a:ext cx="960120" cy="521208"/>
            <a:chOff x="0" y="0"/>
            <a:chExt cx="1280160" cy="694944"/>
          </a:xfrm>
        </p:grpSpPr>
        <p:sp>
          <p:nvSpPr>
            <p:cNvPr name="Freeform 51" id="51"/>
            <p:cNvSpPr/>
            <p:nvPr/>
          </p:nvSpPr>
          <p:spPr>
            <a:xfrm flipH="false" flipV="false" rot="0">
              <a:off x="0" y="0"/>
              <a:ext cx="1280160" cy="694944"/>
            </a:xfrm>
            <a:custGeom>
              <a:avLst/>
              <a:gdLst/>
              <a:ahLst/>
              <a:cxnLst/>
              <a:rect r="r" b="b" t="t" l="l"/>
              <a:pathLst>
                <a:path h="694944" w="1280160">
                  <a:moveTo>
                    <a:pt x="0" y="0"/>
                  </a:moveTo>
                  <a:lnTo>
                    <a:pt x="1280160" y="0"/>
                  </a:lnTo>
                  <a:lnTo>
                    <a:pt x="1280160" y="694944"/>
                  </a:lnTo>
                  <a:lnTo>
                    <a:pt x="0" y="694944"/>
                  </a:lnTo>
                  <a:close/>
                </a:path>
              </a:pathLst>
            </a:custGeom>
            <a:blipFill>
              <a:blip r:embed="rId3">
                <a:alphaModFix amt="0"/>
              </a:blip>
              <a:stretch>
                <a:fillRect l="-19650" t="0" r="-19650" b="0"/>
              </a:stretch>
            </a:blipFill>
          </p:spPr>
        </p:sp>
        <p:sp>
          <p:nvSpPr>
            <p:cNvPr name="TextBox 52" id="52"/>
            <p:cNvSpPr txBox="true"/>
            <p:nvPr/>
          </p:nvSpPr>
          <p:spPr>
            <a:xfrm>
              <a:off x="0" y="0"/>
              <a:ext cx="1280160" cy="694944"/>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+0,35</a:t>
              </a:r>
            </a:p>
          </p:txBody>
        </p:sp>
      </p:grpSp>
      <p:grpSp>
        <p:nvGrpSpPr>
          <p:cNvPr name="Group 53" id="53"/>
          <p:cNvGrpSpPr/>
          <p:nvPr/>
        </p:nvGrpSpPr>
        <p:grpSpPr>
          <a:xfrm rot="0">
            <a:off x="822960" y="6693408"/>
            <a:ext cx="3977640" cy="521208"/>
            <a:chOff x="0" y="0"/>
            <a:chExt cx="5303520" cy="694944"/>
          </a:xfrm>
        </p:grpSpPr>
        <p:sp>
          <p:nvSpPr>
            <p:cNvPr name="Freeform 54" id="54"/>
            <p:cNvSpPr/>
            <p:nvPr/>
          </p:nvSpPr>
          <p:spPr>
            <a:xfrm flipH="false" flipV="false" rot="0">
              <a:off x="0" y="0"/>
              <a:ext cx="5303520" cy="694944"/>
            </a:xfrm>
            <a:custGeom>
              <a:avLst/>
              <a:gdLst/>
              <a:ahLst/>
              <a:cxnLst/>
              <a:rect r="r" b="b" t="t" l="l"/>
              <a:pathLst>
                <a:path h="694944" w="5303520">
                  <a:moveTo>
                    <a:pt x="0" y="0"/>
                  </a:moveTo>
                  <a:lnTo>
                    <a:pt x="5303520" y="0"/>
                  </a:lnTo>
                  <a:lnTo>
                    <a:pt x="5303520" y="694944"/>
                  </a:lnTo>
                  <a:lnTo>
                    <a:pt x="0" y="694944"/>
                  </a:lnTo>
                  <a:close/>
                </a:path>
              </a:pathLst>
            </a:custGeom>
            <a:blipFill>
              <a:blip r:embed="rId3">
                <a:alphaModFix amt="0"/>
              </a:blip>
              <a:stretch>
                <a:fillRect l="0" t="-98701" r="0" b="-98701"/>
              </a:stretch>
            </a:blipFill>
          </p:spPr>
        </p:sp>
        <p:sp>
          <p:nvSpPr>
            <p:cNvPr name="TextBox 55" id="55"/>
            <p:cNvSpPr txBox="true"/>
            <p:nvPr/>
          </p:nvSpPr>
          <p:spPr>
            <a:xfrm>
              <a:off x="0" y="0"/>
              <a:ext cx="5303520" cy="694944"/>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E101 Multitask · Hate</a:t>
              </a:r>
            </a:p>
          </p:txBody>
        </p:sp>
      </p:grpSp>
      <p:grpSp>
        <p:nvGrpSpPr>
          <p:cNvPr name="Group 56" id="56"/>
          <p:cNvGrpSpPr/>
          <p:nvPr/>
        </p:nvGrpSpPr>
        <p:grpSpPr>
          <a:xfrm rot="0">
            <a:off x="7801737" y="6766179"/>
            <a:ext cx="1397508" cy="375666"/>
            <a:chOff x="0" y="0"/>
            <a:chExt cx="1863344" cy="500888"/>
          </a:xfrm>
        </p:grpSpPr>
        <p:sp>
          <p:nvSpPr>
            <p:cNvPr name="Freeform 57" id="57"/>
            <p:cNvSpPr/>
            <p:nvPr/>
          </p:nvSpPr>
          <p:spPr>
            <a:xfrm flipH="false" flipV="false" rot="0">
              <a:off x="0" y="0"/>
              <a:ext cx="1863344" cy="500888"/>
            </a:xfrm>
            <a:custGeom>
              <a:avLst/>
              <a:gdLst/>
              <a:ahLst/>
              <a:cxnLst/>
              <a:rect r="r" b="b" t="t" l="l"/>
              <a:pathLst>
                <a:path h="500888" w="1863344">
                  <a:moveTo>
                    <a:pt x="0" y="0"/>
                  </a:moveTo>
                  <a:lnTo>
                    <a:pt x="1863344" y="0"/>
                  </a:lnTo>
                  <a:lnTo>
                    <a:pt x="1863344" y="500888"/>
                  </a:lnTo>
                  <a:lnTo>
                    <a:pt x="0" y="500888"/>
                  </a:lnTo>
                  <a:close/>
                </a:path>
              </a:pathLst>
            </a:custGeom>
            <a:solidFill>
              <a:srgbClr val="141221"/>
            </a:solidFill>
            <a:ln w="19050" cap="sq">
              <a:solidFill>
                <a:srgbClr val="141221"/>
              </a:solidFill>
              <a:prstDash val="solid"/>
              <a:miter/>
            </a:ln>
          </p:spPr>
        </p:sp>
      </p:grpSp>
      <p:grpSp>
        <p:nvGrpSpPr>
          <p:cNvPr name="Group 58" id="58"/>
          <p:cNvGrpSpPr/>
          <p:nvPr/>
        </p:nvGrpSpPr>
        <p:grpSpPr>
          <a:xfrm rot="0">
            <a:off x="6741414" y="6693408"/>
            <a:ext cx="960120" cy="521208"/>
            <a:chOff x="0" y="0"/>
            <a:chExt cx="1280160" cy="694944"/>
          </a:xfrm>
        </p:grpSpPr>
        <p:sp>
          <p:nvSpPr>
            <p:cNvPr name="Freeform 59" id="59"/>
            <p:cNvSpPr/>
            <p:nvPr/>
          </p:nvSpPr>
          <p:spPr>
            <a:xfrm flipH="false" flipV="false" rot="0">
              <a:off x="0" y="0"/>
              <a:ext cx="1280160" cy="694944"/>
            </a:xfrm>
            <a:custGeom>
              <a:avLst/>
              <a:gdLst/>
              <a:ahLst/>
              <a:cxnLst/>
              <a:rect r="r" b="b" t="t" l="l"/>
              <a:pathLst>
                <a:path h="694944" w="1280160">
                  <a:moveTo>
                    <a:pt x="0" y="0"/>
                  </a:moveTo>
                  <a:lnTo>
                    <a:pt x="1280160" y="0"/>
                  </a:lnTo>
                  <a:lnTo>
                    <a:pt x="1280160" y="694944"/>
                  </a:lnTo>
                  <a:lnTo>
                    <a:pt x="0" y="694944"/>
                  </a:lnTo>
                  <a:close/>
                </a:path>
              </a:pathLst>
            </a:custGeom>
            <a:blipFill>
              <a:blip r:embed="rId3">
                <a:alphaModFix amt="0"/>
              </a:blip>
              <a:stretch>
                <a:fillRect l="-19650" t="0" r="-19650" b="0"/>
              </a:stretch>
            </a:blipFill>
          </p:spPr>
        </p:sp>
        <p:sp>
          <p:nvSpPr>
            <p:cNvPr name="TextBox 60" id="60"/>
            <p:cNvSpPr txBox="true"/>
            <p:nvPr/>
          </p:nvSpPr>
          <p:spPr>
            <a:xfrm>
              <a:off x="0" y="0"/>
              <a:ext cx="1280160" cy="694944"/>
            </a:xfrm>
            <a:prstGeom prst="rect">
              <a:avLst/>
            </a:prstGeom>
          </p:spPr>
          <p:txBody>
            <a:bodyPr anchor="ctr" rtlCol="false" tIns="0" lIns="0" bIns="0" rIns="0"/>
            <a:lstStyle/>
            <a:p>
              <a:pPr algn="r">
                <a:lnSpc>
                  <a:spcPts val="2160"/>
                </a:lnSpc>
              </a:pPr>
              <a:r>
                <a:rPr lang="en-US" sz="1800" b="true">
                  <a:solidFill>
                    <a:srgbClr val="000000"/>
                  </a:solidFill>
                  <a:latin typeface="Helvetica World Bold"/>
                  <a:ea typeface="Helvetica World Bold"/>
                  <a:cs typeface="Helvetica World Bold"/>
                  <a:sym typeface="Helvetica World Bold"/>
                </a:rPr>
                <a:t>−0,67</a:t>
              </a:r>
            </a:p>
          </p:txBody>
        </p:sp>
      </p:grpSp>
      <p:grpSp>
        <p:nvGrpSpPr>
          <p:cNvPr name="Group 61" id="61"/>
          <p:cNvGrpSpPr/>
          <p:nvPr/>
        </p:nvGrpSpPr>
        <p:grpSpPr>
          <a:xfrm rot="0">
            <a:off x="822960" y="7283196"/>
            <a:ext cx="3977640" cy="521208"/>
            <a:chOff x="0" y="0"/>
            <a:chExt cx="5303520" cy="694944"/>
          </a:xfrm>
        </p:grpSpPr>
        <p:sp>
          <p:nvSpPr>
            <p:cNvPr name="Freeform 62" id="62"/>
            <p:cNvSpPr/>
            <p:nvPr/>
          </p:nvSpPr>
          <p:spPr>
            <a:xfrm flipH="false" flipV="false" rot="0">
              <a:off x="0" y="0"/>
              <a:ext cx="5303520" cy="694944"/>
            </a:xfrm>
            <a:custGeom>
              <a:avLst/>
              <a:gdLst/>
              <a:ahLst/>
              <a:cxnLst/>
              <a:rect r="r" b="b" t="t" l="l"/>
              <a:pathLst>
                <a:path h="694944" w="5303520">
                  <a:moveTo>
                    <a:pt x="0" y="0"/>
                  </a:moveTo>
                  <a:lnTo>
                    <a:pt x="5303520" y="0"/>
                  </a:lnTo>
                  <a:lnTo>
                    <a:pt x="5303520" y="694944"/>
                  </a:lnTo>
                  <a:lnTo>
                    <a:pt x="0" y="694944"/>
                  </a:lnTo>
                  <a:close/>
                </a:path>
              </a:pathLst>
            </a:custGeom>
            <a:blipFill>
              <a:blip r:embed="rId3">
                <a:alphaModFix amt="0"/>
              </a:blip>
              <a:stretch>
                <a:fillRect l="0" t="-98701" r="0" b="-98701"/>
              </a:stretch>
            </a:blipFill>
          </p:spPr>
        </p:sp>
        <p:sp>
          <p:nvSpPr>
            <p:cNvPr name="TextBox 63" id="63"/>
            <p:cNvSpPr txBox="true"/>
            <p:nvPr/>
          </p:nvSpPr>
          <p:spPr>
            <a:xfrm>
              <a:off x="0" y="0"/>
              <a:ext cx="5303520" cy="694944"/>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E101 Multitask · Inapp.</a:t>
              </a:r>
            </a:p>
          </p:txBody>
        </p:sp>
      </p:grpSp>
      <p:grpSp>
        <p:nvGrpSpPr>
          <p:cNvPr name="Group 64" id="64"/>
          <p:cNvGrpSpPr/>
          <p:nvPr/>
        </p:nvGrpSpPr>
        <p:grpSpPr>
          <a:xfrm rot="0">
            <a:off x="5703189" y="7355967"/>
            <a:ext cx="3496056" cy="375666"/>
            <a:chOff x="0" y="0"/>
            <a:chExt cx="4661408" cy="500888"/>
          </a:xfrm>
        </p:grpSpPr>
        <p:sp>
          <p:nvSpPr>
            <p:cNvPr name="Freeform 65" id="65"/>
            <p:cNvSpPr/>
            <p:nvPr/>
          </p:nvSpPr>
          <p:spPr>
            <a:xfrm flipH="false" flipV="false" rot="0">
              <a:off x="0" y="0"/>
              <a:ext cx="4661408" cy="500888"/>
            </a:xfrm>
            <a:custGeom>
              <a:avLst/>
              <a:gdLst/>
              <a:ahLst/>
              <a:cxnLst/>
              <a:rect r="r" b="b" t="t" l="l"/>
              <a:pathLst>
                <a:path h="500888" w="4661408">
                  <a:moveTo>
                    <a:pt x="0" y="0"/>
                  </a:moveTo>
                  <a:lnTo>
                    <a:pt x="4661408" y="0"/>
                  </a:lnTo>
                  <a:lnTo>
                    <a:pt x="4661408" y="500888"/>
                  </a:lnTo>
                  <a:lnTo>
                    <a:pt x="0" y="500888"/>
                  </a:lnTo>
                  <a:close/>
                </a:path>
              </a:pathLst>
            </a:custGeom>
            <a:solidFill>
              <a:srgbClr val="141221"/>
            </a:solidFill>
            <a:ln w="19050" cap="sq">
              <a:solidFill>
                <a:srgbClr val="141221"/>
              </a:solidFill>
              <a:prstDash val="solid"/>
              <a:miter/>
            </a:ln>
          </p:spPr>
        </p:sp>
      </p:grpSp>
      <p:grpSp>
        <p:nvGrpSpPr>
          <p:cNvPr name="Group 66" id="66"/>
          <p:cNvGrpSpPr/>
          <p:nvPr/>
        </p:nvGrpSpPr>
        <p:grpSpPr>
          <a:xfrm rot="0">
            <a:off x="4642866" y="7283196"/>
            <a:ext cx="960120" cy="521208"/>
            <a:chOff x="0" y="0"/>
            <a:chExt cx="1280160" cy="694944"/>
          </a:xfrm>
        </p:grpSpPr>
        <p:sp>
          <p:nvSpPr>
            <p:cNvPr name="Freeform 67" id="67"/>
            <p:cNvSpPr/>
            <p:nvPr/>
          </p:nvSpPr>
          <p:spPr>
            <a:xfrm flipH="false" flipV="false" rot="0">
              <a:off x="0" y="0"/>
              <a:ext cx="1280160" cy="694944"/>
            </a:xfrm>
            <a:custGeom>
              <a:avLst/>
              <a:gdLst/>
              <a:ahLst/>
              <a:cxnLst/>
              <a:rect r="r" b="b" t="t" l="l"/>
              <a:pathLst>
                <a:path h="694944" w="1280160">
                  <a:moveTo>
                    <a:pt x="0" y="0"/>
                  </a:moveTo>
                  <a:lnTo>
                    <a:pt x="1280160" y="0"/>
                  </a:lnTo>
                  <a:lnTo>
                    <a:pt x="1280160" y="694944"/>
                  </a:lnTo>
                  <a:lnTo>
                    <a:pt x="0" y="694944"/>
                  </a:lnTo>
                  <a:close/>
                </a:path>
              </a:pathLst>
            </a:custGeom>
            <a:blipFill>
              <a:blip r:embed="rId3">
                <a:alphaModFix amt="0"/>
              </a:blip>
              <a:stretch>
                <a:fillRect l="-19650" t="0" r="-19650" b="0"/>
              </a:stretch>
            </a:blipFill>
          </p:spPr>
        </p:sp>
        <p:sp>
          <p:nvSpPr>
            <p:cNvPr name="TextBox 68" id="68"/>
            <p:cNvSpPr txBox="true"/>
            <p:nvPr/>
          </p:nvSpPr>
          <p:spPr>
            <a:xfrm>
              <a:off x="0" y="0"/>
              <a:ext cx="1280160" cy="694944"/>
            </a:xfrm>
            <a:prstGeom prst="rect">
              <a:avLst/>
            </a:prstGeom>
          </p:spPr>
          <p:txBody>
            <a:bodyPr anchor="ctr" rtlCol="false" tIns="0" lIns="0" bIns="0" rIns="0"/>
            <a:lstStyle/>
            <a:p>
              <a:pPr algn="r">
                <a:lnSpc>
                  <a:spcPts val="2160"/>
                </a:lnSpc>
              </a:pPr>
              <a:r>
                <a:rPr lang="en-US" sz="1800" b="true">
                  <a:solidFill>
                    <a:srgbClr val="000000"/>
                  </a:solidFill>
                  <a:latin typeface="Helvetica World Bold"/>
                  <a:ea typeface="Helvetica World Bold"/>
                  <a:cs typeface="Helvetica World Bold"/>
                  <a:sym typeface="Helvetica World Bold"/>
                </a:rPr>
                <a:t>−1,69</a:t>
              </a:r>
            </a:p>
          </p:txBody>
        </p:sp>
      </p:grpSp>
      <p:grpSp>
        <p:nvGrpSpPr>
          <p:cNvPr name="Group 69" id="69"/>
          <p:cNvGrpSpPr/>
          <p:nvPr/>
        </p:nvGrpSpPr>
        <p:grpSpPr>
          <a:xfrm rot="0">
            <a:off x="822960" y="7872984"/>
            <a:ext cx="3977640" cy="521208"/>
            <a:chOff x="0" y="0"/>
            <a:chExt cx="5303520" cy="694944"/>
          </a:xfrm>
        </p:grpSpPr>
        <p:sp>
          <p:nvSpPr>
            <p:cNvPr name="Freeform 70" id="70"/>
            <p:cNvSpPr/>
            <p:nvPr/>
          </p:nvSpPr>
          <p:spPr>
            <a:xfrm flipH="false" flipV="false" rot="0">
              <a:off x="0" y="0"/>
              <a:ext cx="5303520" cy="694944"/>
            </a:xfrm>
            <a:custGeom>
              <a:avLst/>
              <a:gdLst/>
              <a:ahLst/>
              <a:cxnLst/>
              <a:rect r="r" b="b" t="t" l="l"/>
              <a:pathLst>
                <a:path h="694944" w="5303520">
                  <a:moveTo>
                    <a:pt x="0" y="0"/>
                  </a:moveTo>
                  <a:lnTo>
                    <a:pt x="5303520" y="0"/>
                  </a:lnTo>
                  <a:lnTo>
                    <a:pt x="5303520" y="694944"/>
                  </a:lnTo>
                  <a:lnTo>
                    <a:pt x="0" y="694944"/>
                  </a:lnTo>
                  <a:close/>
                </a:path>
              </a:pathLst>
            </a:custGeom>
            <a:blipFill>
              <a:blip r:embed="rId3">
                <a:alphaModFix amt="0"/>
              </a:blip>
              <a:stretch>
                <a:fillRect l="0" t="-98701" r="0" b="-98701"/>
              </a:stretch>
            </a:blipFill>
          </p:spPr>
        </p:sp>
        <p:sp>
          <p:nvSpPr>
            <p:cNvPr name="TextBox 71" id="71"/>
            <p:cNvSpPr txBox="true"/>
            <p:nvPr/>
          </p:nvSpPr>
          <p:spPr>
            <a:xfrm>
              <a:off x="0" y="0"/>
              <a:ext cx="5303520" cy="694944"/>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E110 Multitask Fusi · Hate</a:t>
              </a:r>
            </a:p>
          </p:txBody>
        </p:sp>
      </p:grpSp>
      <p:grpSp>
        <p:nvGrpSpPr>
          <p:cNvPr name="Group 72" id="72"/>
          <p:cNvGrpSpPr/>
          <p:nvPr/>
        </p:nvGrpSpPr>
        <p:grpSpPr>
          <a:xfrm rot="0">
            <a:off x="9180195" y="7945755"/>
            <a:ext cx="409956" cy="375666"/>
            <a:chOff x="0" y="0"/>
            <a:chExt cx="546608" cy="500888"/>
          </a:xfrm>
        </p:grpSpPr>
        <p:sp>
          <p:nvSpPr>
            <p:cNvPr name="Freeform 73" id="73"/>
            <p:cNvSpPr/>
            <p:nvPr/>
          </p:nvSpPr>
          <p:spPr>
            <a:xfrm flipH="false" flipV="false" rot="0">
              <a:off x="0" y="0"/>
              <a:ext cx="546608" cy="500888"/>
            </a:xfrm>
            <a:custGeom>
              <a:avLst/>
              <a:gdLst/>
              <a:ahLst/>
              <a:cxnLst/>
              <a:rect r="r" b="b" t="t" l="l"/>
              <a:pathLst>
                <a:path h="500888" w="546608">
                  <a:moveTo>
                    <a:pt x="0" y="0"/>
                  </a:moveTo>
                  <a:lnTo>
                    <a:pt x="546608" y="0"/>
                  </a:lnTo>
                  <a:lnTo>
                    <a:pt x="546608" y="500888"/>
                  </a:lnTo>
                  <a:lnTo>
                    <a:pt x="0" y="500888"/>
                  </a:lnTo>
                  <a:close/>
                </a:path>
              </a:pathLst>
            </a:custGeom>
            <a:solidFill>
              <a:srgbClr val="F5582E"/>
            </a:solidFill>
            <a:ln w="19050" cap="sq">
              <a:solidFill>
                <a:srgbClr val="F5582E"/>
              </a:solidFill>
              <a:prstDash val="solid"/>
              <a:miter/>
            </a:ln>
          </p:spPr>
        </p:sp>
      </p:grpSp>
      <p:grpSp>
        <p:nvGrpSpPr>
          <p:cNvPr name="Group 74" id="74"/>
          <p:cNvGrpSpPr/>
          <p:nvPr/>
        </p:nvGrpSpPr>
        <p:grpSpPr>
          <a:xfrm rot="0">
            <a:off x="9690354" y="7872984"/>
            <a:ext cx="960120" cy="521208"/>
            <a:chOff x="0" y="0"/>
            <a:chExt cx="1280160" cy="694944"/>
          </a:xfrm>
        </p:grpSpPr>
        <p:sp>
          <p:nvSpPr>
            <p:cNvPr name="Freeform 75" id="75"/>
            <p:cNvSpPr/>
            <p:nvPr/>
          </p:nvSpPr>
          <p:spPr>
            <a:xfrm flipH="false" flipV="false" rot="0">
              <a:off x="0" y="0"/>
              <a:ext cx="1280160" cy="694944"/>
            </a:xfrm>
            <a:custGeom>
              <a:avLst/>
              <a:gdLst/>
              <a:ahLst/>
              <a:cxnLst/>
              <a:rect r="r" b="b" t="t" l="l"/>
              <a:pathLst>
                <a:path h="694944" w="1280160">
                  <a:moveTo>
                    <a:pt x="0" y="0"/>
                  </a:moveTo>
                  <a:lnTo>
                    <a:pt x="1280160" y="0"/>
                  </a:lnTo>
                  <a:lnTo>
                    <a:pt x="1280160" y="694944"/>
                  </a:lnTo>
                  <a:lnTo>
                    <a:pt x="0" y="694944"/>
                  </a:lnTo>
                  <a:close/>
                </a:path>
              </a:pathLst>
            </a:custGeom>
            <a:blipFill>
              <a:blip r:embed="rId3">
                <a:alphaModFix amt="0"/>
              </a:blip>
              <a:stretch>
                <a:fillRect l="-19650" t="0" r="-19650" b="0"/>
              </a:stretch>
            </a:blipFill>
          </p:spPr>
        </p:sp>
        <p:sp>
          <p:nvSpPr>
            <p:cNvPr name="TextBox 76" id="76"/>
            <p:cNvSpPr txBox="true"/>
            <p:nvPr/>
          </p:nvSpPr>
          <p:spPr>
            <a:xfrm>
              <a:off x="0" y="0"/>
              <a:ext cx="1280160" cy="694944"/>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+0,19</a:t>
              </a:r>
            </a:p>
          </p:txBody>
        </p:sp>
      </p:grpSp>
      <p:grpSp>
        <p:nvGrpSpPr>
          <p:cNvPr name="Group 77" id="77"/>
          <p:cNvGrpSpPr/>
          <p:nvPr/>
        </p:nvGrpSpPr>
        <p:grpSpPr>
          <a:xfrm rot="0">
            <a:off x="822960" y="8462772"/>
            <a:ext cx="3977640" cy="521208"/>
            <a:chOff x="0" y="0"/>
            <a:chExt cx="5303520" cy="694944"/>
          </a:xfrm>
        </p:grpSpPr>
        <p:sp>
          <p:nvSpPr>
            <p:cNvPr name="Freeform 78" id="78"/>
            <p:cNvSpPr/>
            <p:nvPr/>
          </p:nvSpPr>
          <p:spPr>
            <a:xfrm flipH="false" flipV="false" rot="0">
              <a:off x="0" y="0"/>
              <a:ext cx="5303520" cy="694944"/>
            </a:xfrm>
            <a:custGeom>
              <a:avLst/>
              <a:gdLst/>
              <a:ahLst/>
              <a:cxnLst/>
              <a:rect r="r" b="b" t="t" l="l"/>
              <a:pathLst>
                <a:path h="694944" w="5303520">
                  <a:moveTo>
                    <a:pt x="0" y="0"/>
                  </a:moveTo>
                  <a:lnTo>
                    <a:pt x="5303520" y="0"/>
                  </a:lnTo>
                  <a:lnTo>
                    <a:pt x="5303520" y="694944"/>
                  </a:lnTo>
                  <a:lnTo>
                    <a:pt x="0" y="694944"/>
                  </a:lnTo>
                  <a:close/>
                </a:path>
              </a:pathLst>
            </a:custGeom>
            <a:blipFill>
              <a:blip r:embed="rId3">
                <a:alphaModFix amt="0"/>
              </a:blip>
              <a:stretch>
                <a:fillRect l="0" t="-98701" r="0" b="-98701"/>
              </a:stretch>
            </a:blipFill>
          </p:spPr>
        </p:sp>
        <p:sp>
          <p:nvSpPr>
            <p:cNvPr name="TextBox 79" id="79"/>
            <p:cNvSpPr txBox="true"/>
            <p:nvPr/>
          </p:nvSpPr>
          <p:spPr>
            <a:xfrm>
              <a:off x="0" y="0"/>
              <a:ext cx="5303520" cy="694944"/>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E110 Multitask Fusi · Inapp.</a:t>
              </a:r>
            </a:p>
          </p:txBody>
        </p:sp>
      </p:grpSp>
      <p:grpSp>
        <p:nvGrpSpPr>
          <p:cNvPr name="Group 80" id="80"/>
          <p:cNvGrpSpPr/>
          <p:nvPr/>
        </p:nvGrpSpPr>
        <p:grpSpPr>
          <a:xfrm rot="0">
            <a:off x="9180195" y="8535543"/>
            <a:ext cx="1644396" cy="375666"/>
            <a:chOff x="0" y="0"/>
            <a:chExt cx="2192528" cy="500888"/>
          </a:xfrm>
        </p:grpSpPr>
        <p:sp>
          <p:nvSpPr>
            <p:cNvPr name="Freeform 81" id="81"/>
            <p:cNvSpPr/>
            <p:nvPr/>
          </p:nvSpPr>
          <p:spPr>
            <a:xfrm flipH="false" flipV="false" rot="0">
              <a:off x="0" y="0"/>
              <a:ext cx="2192528" cy="500888"/>
            </a:xfrm>
            <a:custGeom>
              <a:avLst/>
              <a:gdLst/>
              <a:ahLst/>
              <a:cxnLst/>
              <a:rect r="r" b="b" t="t" l="l"/>
              <a:pathLst>
                <a:path h="500888" w="2192528">
                  <a:moveTo>
                    <a:pt x="0" y="0"/>
                  </a:moveTo>
                  <a:lnTo>
                    <a:pt x="2192528" y="0"/>
                  </a:lnTo>
                  <a:lnTo>
                    <a:pt x="2192528" y="500888"/>
                  </a:lnTo>
                  <a:lnTo>
                    <a:pt x="0" y="500888"/>
                  </a:lnTo>
                  <a:close/>
                </a:path>
              </a:pathLst>
            </a:custGeom>
            <a:solidFill>
              <a:srgbClr val="F5582E"/>
            </a:solidFill>
            <a:ln w="19050" cap="sq">
              <a:solidFill>
                <a:srgbClr val="F5582E"/>
              </a:solidFill>
              <a:prstDash val="solid"/>
              <a:miter/>
            </a:ln>
          </p:spPr>
        </p:sp>
      </p:grpSp>
      <p:grpSp>
        <p:nvGrpSpPr>
          <p:cNvPr name="Group 82" id="82"/>
          <p:cNvGrpSpPr/>
          <p:nvPr/>
        </p:nvGrpSpPr>
        <p:grpSpPr>
          <a:xfrm rot="0">
            <a:off x="10924794" y="8462772"/>
            <a:ext cx="960120" cy="521208"/>
            <a:chOff x="0" y="0"/>
            <a:chExt cx="1280160" cy="694944"/>
          </a:xfrm>
        </p:grpSpPr>
        <p:sp>
          <p:nvSpPr>
            <p:cNvPr name="Freeform 83" id="83"/>
            <p:cNvSpPr/>
            <p:nvPr/>
          </p:nvSpPr>
          <p:spPr>
            <a:xfrm flipH="false" flipV="false" rot="0">
              <a:off x="0" y="0"/>
              <a:ext cx="1280160" cy="694944"/>
            </a:xfrm>
            <a:custGeom>
              <a:avLst/>
              <a:gdLst/>
              <a:ahLst/>
              <a:cxnLst/>
              <a:rect r="r" b="b" t="t" l="l"/>
              <a:pathLst>
                <a:path h="694944" w="1280160">
                  <a:moveTo>
                    <a:pt x="0" y="0"/>
                  </a:moveTo>
                  <a:lnTo>
                    <a:pt x="1280160" y="0"/>
                  </a:lnTo>
                  <a:lnTo>
                    <a:pt x="1280160" y="694944"/>
                  </a:lnTo>
                  <a:lnTo>
                    <a:pt x="0" y="694944"/>
                  </a:lnTo>
                  <a:close/>
                </a:path>
              </a:pathLst>
            </a:custGeom>
            <a:blipFill>
              <a:blip r:embed="rId3">
                <a:alphaModFix amt="0"/>
              </a:blip>
              <a:stretch>
                <a:fillRect l="-19650" t="0" r="-19650" b="0"/>
              </a:stretch>
            </a:blipFill>
          </p:spPr>
        </p:sp>
        <p:sp>
          <p:nvSpPr>
            <p:cNvPr name="TextBox 84" id="84"/>
            <p:cNvSpPr txBox="true"/>
            <p:nvPr/>
          </p:nvSpPr>
          <p:spPr>
            <a:xfrm>
              <a:off x="0" y="0"/>
              <a:ext cx="1280160" cy="694944"/>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+0,79</a:t>
              </a:r>
            </a:p>
          </p:txBody>
        </p:sp>
      </p:grpSp>
      <p:sp>
        <p:nvSpPr>
          <p:cNvPr name="AutoShape 85" id="85"/>
          <p:cNvSpPr/>
          <p:nvPr/>
        </p:nvSpPr>
        <p:spPr>
          <a:xfrm rot="5386500">
            <a:off x="6160275" y="6098858"/>
            <a:ext cx="6058900" cy="0"/>
          </a:xfrm>
          <a:prstGeom prst="line">
            <a:avLst/>
          </a:prstGeom>
          <a:ln cap="rnd" w="9525">
            <a:solidFill>
              <a:srgbClr val="000000"/>
            </a:solidFill>
            <a:prstDash val="solid"/>
            <a:headEnd type="none" len="sm" w="sm"/>
            <a:tailEnd type="none" len="sm" w="sm"/>
          </a:ln>
        </p:spPr>
      </p:sp>
      <p:sp>
        <p:nvSpPr>
          <p:cNvPr name="TextBox 86" id="86"/>
          <p:cNvSpPr txBox="true"/>
          <p:nvPr/>
        </p:nvSpPr>
        <p:spPr>
          <a:xfrm rot="0">
            <a:off x="9052560" y="9130665"/>
            <a:ext cx="274320" cy="264795"/>
          </a:xfrm>
          <a:prstGeom prst="rect">
            <a:avLst/>
          </a:prstGeom>
        </p:spPr>
        <p:txBody>
          <a:bodyPr anchor="t" rtlCol="false" tIns="0" lIns="0" bIns="0" rIns="0">
            <a:spAutoFit/>
          </a:bodyPr>
          <a:lstStyle/>
          <a:p>
            <a:pPr algn="ctr">
              <a:lnSpc>
                <a:spcPts val="1980"/>
              </a:lnSpc>
            </a:pPr>
            <a:r>
              <a:rPr lang="en-US" sz="1650">
                <a:solidFill>
                  <a:srgbClr val="000000"/>
                </a:solidFill>
                <a:latin typeface="Helvetica World"/>
                <a:ea typeface="Helvetica World"/>
                <a:cs typeface="Helvetica World"/>
                <a:sym typeface="Helvetica World"/>
              </a:rPr>
              <a:t>0</a:t>
            </a:r>
          </a:p>
        </p:txBody>
      </p:sp>
      <p:grpSp>
        <p:nvGrpSpPr>
          <p:cNvPr name="Group 87" id="87"/>
          <p:cNvGrpSpPr/>
          <p:nvPr/>
        </p:nvGrpSpPr>
        <p:grpSpPr>
          <a:xfrm rot="0">
            <a:off x="13733907" y="2898267"/>
            <a:ext cx="3859530" cy="3310890"/>
            <a:chOff x="0" y="0"/>
            <a:chExt cx="5146040" cy="4414520"/>
          </a:xfrm>
        </p:grpSpPr>
        <p:sp>
          <p:nvSpPr>
            <p:cNvPr name="Freeform 88" id="88"/>
            <p:cNvSpPr/>
            <p:nvPr/>
          </p:nvSpPr>
          <p:spPr>
            <a:xfrm flipH="false" flipV="false" rot="0">
              <a:off x="0" y="0"/>
              <a:ext cx="5146040" cy="4414520"/>
            </a:xfrm>
            <a:custGeom>
              <a:avLst/>
              <a:gdLst/>
              <a:ahLst/>
              <a:cxnLst/>
              <a:rect r="r" b="b" t="t" l="l"/>
              <a:pathLst>
                <a:path h="4414520" w="5146040">
                  <a:moveTo>
                    <a:pt x="0" y="220726"/>
                  </a:moveTo>
                  <a:cubicBezTo>
                    <a:pt x="0" y="98806"/>
                    <a:pt x="98806" y="0"/>
                    <a:pt x="220726" y="0"/>
                  </a:cubicBezTo>
                  <a:lnTo>
                    <a:pt x="4925314" y="0"/>
                  </a:lnTo>
                  <a:cubicBezTo>
                    <a:pt x="5047234" y="0"/>
                    <a:pt x="5146040" y="98806"/>
                    <a:pt x="5146040" y="220726"/>
                  </a:cubicBezTo>
                  <a:lnTo>
                    <a:pt x="5146040" y="4193794"/>
                  </a:lnTo>
                  <a:cubicBezTo>
                    <a:pt x="5146040" y="4315714"/>
                    <a:pt x="5047234" y="4414520"/>
                    <a:pt x="4925314" y="4414520"/>
                  </a:cubicBezTo>
                  <a:lnTo>
                    <a:pt x="220726" y="4414520"/>
                  </a:lnTo>
                  <a:cubicBezTo>
                    <a:pt x="98806" y="4414520"/>
                    <a:pt x="0" y="4315714"/>
                    <a:pt x="0" y="4193794"/>
                  </a:cubicBezTo>
                  <a:close/>
                </a:path>
              </a:pathLst>
            </a:custGeom>
            <a:solidFill>
              <a:srgbClr val="F5582E"/>
            </a:solidFill>
            <a:ln w="19050" cap="sq">
              <a:solidFill>
                <a:srgbClr val="F5582E"/>
              </a:solidFill>
              <a:prstDash val="solid"/>
              <a:miter/>
            </a:ln>
          </p:spPr>
        </p:sp>
      </p:grpSp>
      <p:grpSp>
        <p:nvGrpSpPr>
          <p:cNvPr name="Group 89" id="89"/>
          <p:cNvGrpSpPr/>
          <p:nvPr/>
        </p:nvGrpSpPr>
        <p:grpSpPr>
          <a:xfrm rot="0">
            <a:off x="13571696" y="2736056"/>
            <a:ext cx="3854767" cy="3306128"/>
            <a:chOff x="0" y="0"/>
            <a:chExt cx="5139690" cy="4408170"/>
          </a:xfrm>
        </p:grpSpPr>
        <p:sp>
          <p:nvSpPr>
            <p:cNvPr name="Freeform 90" id="90"/>
            <p:cNvSpPr/>
            <p:nvPr/>
          </p:nvSpPr>
          <p:spPr>
            <a:xfrm flipH="false" flipV="false" rot="0">
              <a:off x="0" y="0"/>
              <a:ext cx="5139690" cy="4408170"/>
            </a:xfrm>
            <a:custGeom>
              <a:avLst/>
              <a:gdLst/>
              <a:ahLst/>
              <a:cxnLst/>
              <a:rect r="r" b="b" t="t" l="l"/>
              <a:pathLst>
                <a:path h="4408170" w="5139690">
                  <a:moveTo>
                    <a:pt x="0" y="220472"/>
                  </a:moveTo>
                  <a:cubicBezTo>
                    <a:pt x="0" y="98679"/>
                    <a:pt x="98679" y="0"/>
                    <a:pt x="220345" y="0"/>
                  </a:cubicBezTo>
                  <a:lnTo>
                    <a:pt x="4919218" y="0"/>
                  </a:lnTo>
                  <a:cubicBezTo>
                    <a:pt x="5040884" y="0"/>
                    <a:pt x="5139690" y="98679"/>
                    <a:pt x="5139690" y="220345"/>
                  </a:cubicBezTo>
                  <a:lnTo>
                    <a:pt x="5139690" y="4187825"/>
                  </a:lnTo>
                  <a:cubicBezTo>
                    <a:pt x="5139690" y="4309491"/>
                    <a:pt x="5041011" y="4408170"/>
                    <a:pt x="4919218" y="4408170"/>
                  </a:cubicBezTo>
                  <a:lnTo>
                    <a:pt x="220472" y="4408170"/>
                  </a:lnTo>
                  <a:cubicBezTo>
                    <a:pt x="98679" y="4408170"/>
                    <a:pt x="0" y="4309491"/>
                    <a:pt x="0" y="4187825"/>
                  </a:cubicBezTo>
                  <a:close/>
                </a:path>
              </a:pathLst>
            </a:custGeom>
            <a:solidFill>
              <a:srgbClr val="FFFFFF"/>
            </a:solidFill>
            <a:ln w="14288" cap="sq">
              <a:solidFill>
                <a:srgbClr val="000000"/>
              </a:solidFill>
              <a:prstDash val="solid"/>
              <a:miter/>
            </a:ln>
          </p:spPr>
        </p:sp>
      </p:grpSp>
      <p:grpSp>
        <p:nvGrpSpPr>
          <p:cNvPr name="Group 91" id="91"/>
          <p:cNvGrpSpPr/>
          <p:nvPr/>
        </p:nvGrpSpPr>
        <p:grpSpPr>
          <a:xfrm rot="0">
            <a:off x="13716000" y="3273933"/>
            <a:ext cx="3566160" cy="1508760"/>
            <a:chOff x="0" y="0"/>
            <a:chExt cx="4754880" cy="2011680"/>
          </a:xfrm>
        </p:grpSpPr>
        <p:sp>
          <p:nvSpPr>
            <p:cNvPr name="Freeform 92" id="92"/>
            <p:cNvSpPr/>
            <p:nvPr/>
          </p:nvSpPr>
          <p:spPr>
            <a:xfrm flipH="false" flipV="false" rot="0">
              <a:off x="0" y="0"/>
              <a:ext cx="4754880" cy="2011680"/>
            </a:xfrm>
            <a:custGeom>
              <a:avLst/>
              <a:gdLst/>
              <a:ahLst/>
              <a:cxnLst/>
              <a:rect r="r" b="b" t="t" l="l"/>
              <a:pathLst>
                <a:path h="2011680" w="4754880">
                  <a:moveTo>
                    <a:pt x="0" y="0"/>
                  </a:moveTo>
                  <a:lnTo>
                    <a:pt x="4754880" y="0"/>
                  </a:lnTo>
                  <a:lnTo>
                    <a:pt x="4754880" y="2011680"/>
                  </a:lnTo>
                  <a:lnTo>
                    <a:pt x="0" y="2011680"/>
                  </a:lnTo>
                  <a:close/>
                </a:path>
              </a:pathLst>
            </a:custGeom>
            <a:blipFill>
              <a:blip r:embed="rId3">
                <a:alphaModFix amt="0"/>
              </a:blip>
              <a:stretch>
                <a:fillRect l="-4282" t="0" r="-4282" b="0"/>
              </a:stretch>
            </a:blipFill>
          </p:spPr>
        </p:sp>
        <p:sp>
          <p:nvSpPr>
            <p:cNvPr name="TextBox 93" id="93"/>
            <p:cNvSpPr txBox="true"/>
            <p:nvPr/>
          </p:nvSpPr>
          <p:spPr>
            <a:xfrm>
              <a:off x="0" y="-9525"/>
              <a:ext cx="4754880" cy="2021205"/>
            </a:xfrm>
            <a:prstGeom prst="rect">
              <a:avLst/>
            </a:prstGeom>
          </p:spPr>
          <p:txBody>
            <a:bodyPr anchor="ctr" rtlCol="false" tIns="0" lIns="0" bIns="0" rIns="0"/>
            <a:lstStyle/>
            <a:p>
              <a:pPr algn="ctr">
                <a:lnSpc>
                  <a:spcPts val="6839"/>
                </a:lnSpc>
              </a:pPr>
              <a:r>
                <a:rPr lang="en-US" sz="5700" b="true">
                  <a:solidFill>
                    <a:srgbClr val="F5582E"/>
                  </a:solidFill>
                  <a:latin typeface="Helvetica World Bold"/>
                  <a:ea typeface="Helvetica World Bold"/>
                  <a:cs typeface="Helvetica World Bold"/>
                  <a:sym typeface="Helvetica World Bold"/>
                </a:rPr>
                <a:t>1,69 pp</a:t>
              </a:r>
            </a:p>
          </p:txBody>
        </p:sp>
      </p:grpSp>
      <p:sp>
        <p:nvSpPr>
          <p:cNvPr name="TextBox 94" id="94"/>
          <p:cNvSpPr txBox="true"/>
          <p:nvPr/>
        </p:nvSpPr>
        <p:spPr>
          <a:xfrm rot="0">
            <a:off x="13784580" y="4996815"/>
            <a:ext cx="3429000" cy="590550"/>
          </a:xfrm>
          <a:prstGeom prst="rect">
            <a:avLst/>
          </a:prstGeom>
        </p:spPr>
        <p:txBody>
          <a:bodyPr anchor="t" rtlCol="false" tIns="0" lIns="0" bIns="0" rIns="0">
            <a:spAutoFit/>
          </a:bodyPr>
          <a:lstStyle/>
          <a:p>
            <a:pPr algn="ctr">
              <a:lnSpc>
                <a:spcPts val="2340"/>
              </a:lnSpc>
            </a:pPr>
            <a:r>
              <a:rPr lang="en-US" sz="1950">
                <a:solidFill>
                  <a:srgbClr val="000000"/>
                </a:solidFill>
                <a:latin typeface="Helvetica World"/>
                <a:ea typeface="Helvetica World"/>
                <a:cs typeface="Helvetica World"/>
                <a:sym typeface="Helvetica World"/>
              </a:rPr>
              <a:t>deviasi absolut maksimum dari 10 perbandingan</a:t>
            </a:r>
          </a:p>
        </p:txBody>
      </p:sp>
      <p:grpSp>
        <p:nvGrpSpPr>
          <p:cNvPr name="Group 95" id="95"/>
          <p:cNvGrpSpPr/>
          <p:nvPr/>
        </p:nvGrpSpPr>
        <p:grpSpPr>
          <a:xfrm rot="0">
            <a:off x="13571696" y="6576536"/>
            <a:ext cx="3854767" cy="2620328"/>
            <a:chOff x="0" y="0"/>
            <a:chExt cx="5139690" cy="3493770"/>
          </a:xfrm>
        </p:grpSpPr>
        <p:sp>
          <p:nvSpPr>
            <p:cNvPr name="Freeform 96" id="96"/>
            <p:cNvSpPr/>
            <p:nvPr/>
          </p:nvSpPr>
          <p:spPr>
            <a:xfrm flipH="false" flipV="false" rot="0">
              <a:off x="0" y="0"/>
              <a:ext cx="5139690" cy="3493770"/>
            </a:xfrm>
            <a:custGeom>
              <a:avLst/>
              <a:gdLst/>
              <a:ahLst/>
              <a:cxnLst/>
              <a:rect r="r" b="b" t="t" l="l"/>
              <a:pathLst>
                <a:path h="3493770" w="5139690">
                  <a:moveTo>
                    <a:pt x="0" y="220726"/>
                  </a:moveTo>
                  <a:cubicBezTo>
                    <a:pt x="0" y="98806"/>
                    <a:pt x="98806" y="0"/>
                    <a:pt x="220726" y="0"/>
                  </a:cubicBezTo>
                  <a:lnTo>
                    <a:pt x="4918964" y="0"/>
                  </a:lnTo>
                  <a:cubicBezTo>
                    <a:pt x="5040884" y="0"/>
                    <a:pt x="5139690" y="98806"/>
                    <a:pt x="5139690" y="220726"/>
                  </a:cubicBezTo>
                  <a:lnTo>
                    <a:pt x="5139690" y="3273044"/>
                  </a:lnTo>
                  <a:cubicBezTo>
                    <a:pt x="5139690" y="3394964"/>
                    <a:pt x="5040884" y="3493770"/>
                    <a:pt x="4918964" y="3493770"/>
                  </a:cubicBezTo>
                  <a:lnTo>
                    <a:pt x="220726" y="3493770"/>
                  </a:lnTo>
                  <a:cubicBezTo>
                    <a:pt x="98806" y="3493770"/>
                    <a:pt x="0" y="3394964"/>
                    <a:pt x="0" y="3273044"/>
                  </a:cubicBezTo>
                  <a:close/>
                </a:path>
              </a:pathLst>
            </a:custGeom>
            <a:solidFill>
              <a:srgbClr val="FFFFFF"/>
            </a:solidFill>
            <a:ln w="14288" cap="sq">
              <a:solidFill>
                <a:srgbClr val="000000"/>
              </a:solidFill>
              <a:prstDash val="solid"/>
              <a:miter/>
            </a:ln>
          </p:spPr>
        </p:sp>
      </p:grpSp>
      <p:grpSp>
        <p:nvGrpSpPr>
          <p:cNvPr name="Group 97" id="97"/>
          <p:cNvGrpSpPr/>
          <p:nvPr/>
        </p:nvGrpSpPr>
        <p:grpSpPr>
          <a:xfrm rot="0">
            <a:off x="13784580" y="6789420"/>
            <a:ext cx="3429000" cy="2194560"/>
            <a:chOff x="0" y="0"/>
            <a:chExt cx="4572000" cy="2926080"/>
          </a:xfrm>
        </p:grpSpPr>
        <p:sp>
          <p:nvSpPr>
            <p:cNvPr name="Freeform 98" id="98"/>
            <p:cNvSpPr/>
            <p:nvPr/>
          </p:nvSpPr>
          <p:spPr>
            <a:xfrm flipH="false" flipV="false" rot="0">
              <a:off x="0" y="0"/>
              <a:ext cx="4572000" cy="2926080"/>
            </a:xfrm>
            <a:custGeom>
              <a:avLst/>
              <a:gdLst/>
              <a:ahLst/>
              <a:cxnLst/>
              <a:rect r="r" b="b" t="t" l="l"/>
              <a:pathLst>
                <a:path h="2926080" w="4572000">
                  <a:moveTo>
                    <a:pt x="0" y="0"/>
                  </a:moveTo>
                  <a:lnTo>
                    <a:pt x="4572000" y="0"/>
                  </a:lnTo>
                  <a:lnTo>
                    <a:pt x="4572000" y="2926080"/>
                  </a:lnTo>
                  <a:lnTo>
                    <a:pt x="0" y="2926080"/>
                  </a:lnTo>
                  <a:close/>
                </a:path>
              </a:pathLst>
            </a:custGeom>
            <a:blipFill>
              <a:blip r:embed="rId3">
                <a:alphaModFix amt="0"/>
              </a:blip>
              <a:stretch>
                <a:fillRect l="-32114" t="0" r="-32114" b="0"/>
              </a:stretch>
            </a:blipFill>
          </p:spPr>
        </p:sp>
        <p:sp>
          <p:nvSpPr>
            <p:cNvPr name="TextBox 99" id="99"/>
            <p:cNvSpPr txBox="true"/>
            <p:nvPr/>
          </p:nvSpPr>
          <p:spPr>
            <a:xfrm>
              <a:off x="0" y="0"/>
              <a:ext cx="4572000" cy="2926080"/>
            </a:xfrm>
            <a:prstGeom prst="rect">
              <a:avLst/>
            </a:prstGeom>
          </p:spPr>
          <p:txBody>
            <a:bodyPr anchor="ctr" rtlCol="false" tIns="0" lIns="0" bIns="0" rIns="0"/>
            <a:lstStyle/>
            <a:p>
              <a:pPr algn="l">
                <a:lnSpc>
                  <a:spcPts val="2520"/>
                </a:lnSpc>
              </a:pPr>
              <a:r>
                <a:rPr lang="en-US" sz="2100" i="true">
                  <a:solidFill>
                    <a:srgbClr val="000000"/>
                  </a:solidFill>
                  <a:latin typeface="Noto Serif Italics"/>
                  <a:ea typeface="Noto Serif Italics"/>
                  <a:cs typeface="Noto Serif Italics"/>
                  <a:sym typeface="Noto Serif Italics"/>
                </a:rPr>
                <a:t>Kedekatan numerik tidak membuktikan ekuivalensi statistik.</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8</a:t>
            </a:r>
          </a:p>
        </p:txBody>
      </p:sp>
      <p:sp>
        <p:nvSpPr>
          <p:cNvPr name="TextBox 3" id="3"/>
          <p:cNvSpPr txBox="true"/>
          <p:nvPr/>
        </p:nvSpPr>
        <p:spPr>
          <a:xfrm rot="0">
            <a:off x="822960" y="645795"/>
            <a:ext cx="16596360" cy="1655445"/>
          </a:xfrm>
          <a:prstGeom prst="rect">
            <a:avLst/>
          </a:prstGeom>
        </p:spPr>
        <p:txBody>
          <a:bodyPr anchor="t" rtlCol="false" tIns="0" lIns="0" bIns="0" rIns="0">
            <a:spAutoFit/>
          </a:bodyPr>
          <a:lstStyle/>
          <a:p>
            <a:pPr algn="l">
              <a:lnSpc>
                <a:spcPts val="6155"/>
              </a:lnSpc>
            </a:pPr>
            <a:r>
              <a:rPr lang="en-US" sz="5400" b="true">
                <a:solidFill>
                  <a:srgbClr val="F5582E"/>
                </a:solidFill>
                <a:latin typeface="Helvetica World Bold"/>
                <a:ea typeface="Helvetica World Bold"/>
                <a:cs typeface="Helvetica World Bold"/>
                <a:sym typeface="Helvetica World Bold"/>
              </a:rPr>
              <a:t>MODEL TERBAIK</a:t>
            </a:r>
          </a:p>
          <a:p>
            <a:pPr algn="l">
              <a:lnSpc>
                <a:spcPts val="5472"/>
              </a:lnSpc>
            </a:pPr>
            <a:r>
              <a:rPr lang="en-US" sz="4800" i="true">
                <a:solidFill>
                  <a:srgbClr val="000000"/>
                </a:solidFill>
                <a:latin typeface="Noto Serif Italics"/>
                <a:ea typeface="Noto Serif Italics"/>
                <a:cs typeface="Noto Serif Italics"/>
                <a:sym typeface="Noto Serif Italics"/>
              </a:rPr>
              <a:t>Bergantung pada Tugas Klasifikasi.</a:t>
            </a:r>
          </a:p>
        </p:txBody>
      </p:sp>
      <p:grpSp>
        <p:nvGrpSpPr>
          <p:cNvPr name="Group 4" id="4"/>
          <p:cNvGrpSpPr/>
          <p:nvPr/>
        </p:nvGrpSpPr>
        <p:grpSpPr>
          <a:xfrm rot="0">
            <a:off x="815816" y="2667476"/>
            <a:ext cx="8106728" cy="6666547"/>
            <a:chOff x="0" y="0"/>
            <a:chExt cx="10808970" cy="8888730"/>
          </a:xfrm>
        </p:grpSpPr>
        <p:sp>
          <p:nvSpPr>
            <p:cNvPr name="Freeform 5" id="5"/>
            <p:cNvSpPr/>
            <p:nvPr/>
          </p:nvSpPr>
          <p:spPr>
            <a:xfrm flipH="false" flipV="false" rot="0">
              <a:off x="0" y="0"/>
              <a:ext cx="10808970" cy="8888730"/>
            </a:xfrm>
            <a:custGeom>
              <a:avLst/>
              <a:gdLst/>
              <a:ahLst/>
              <a:cxnLst/>
              <a:rect r="r" b="b" t="t" l="l"/>
              <a:pathLst>
                <a:path h="8888730" w="10808970">
                  <a:moveTo>
                    <a:pt x="0" y="219964"/>
                  </a:moveTo>
                  <a:cubicBezTo>
                    <a:pt x="0" y="98425"/>
                    <a:pt x="98425" y="0"/>
                    <a:pt x="219964" y="0"/>
                  </a:cubicBezTo>
                  <a:lnTo>
                    <a:pt x="10589006" y="0"/>
                  </a:lnTo>
                  <a:cubicBezTo>
                    <a:pt x="10710418" y="0"/>
                    <a:pt x="10808970" y="98425"/>
                    <a:pt x="10808970" y="219964"/>
                  </a:cubicBezTo>
                  <a:lnTo>
                    <a:pt x="10808970" y="8668766"/>
                  </a:lnTo>
                  <a:cubicBezTo>
                    <a:pt x="10808970" y="8790178"/>
                    <a:pt x="10710545" y="8888730"/>
                    <a:pt x="10589006" y="8888730"/>
                  </a:cubicBezTo>
                  <a:lnTo>
                    <a:pt x="219964" y="8888730"/>
                  </a:lnTo>
                  <a:cubicBezTo>
                    <a:pt x="98425" y="8888730"/>
                    <a:pt x="0" y="8790305"/>
                    <a:pt x="0" y="8668766"/>
                  </a:cubicBezTo>
                  <a:close/>
                </a:path>
              </a:pathLst>
            </a:custGeom>
            <a:solidFill>
              <a:srgbClr val="FFFFFF"/>
            </a:solidFill>
            <a:ln w="14288" cap="sq">
              <a:solidFill>
                <a:srgbClr val="000000"/>
              </a:solidFill>
              <a:prstDash val="solid"/>
              <a:miter/>
            </a:ln>
          </p:spPr>
        </p:sp>
      </p:grpSp>
      <p:grpSp>
        <p:nvGrpSpPr>
          <p:cNvPr name="Group 6" id="6"/>
          <p:cNvGrpSpPr/>
          <p:nvPr/>
        </p:nvGrpSpPr>
        <p:grpSpPr>
          <a:xfrm rot="0">
            <a:off x="815816" y="2667476"/>
            <a:ext cx="8106728" cy="453200"/>
            <a:chOff x="0" y="0"/>
            <a:chExt cx="10808970" cy="604266"/>
          </a:xfrm>
        </p:grpSpPr>
        <p:sp>
          <p:nvSpPr>
            <p:cNvPr name="Freeform 7" id="7"/>
            <p:cNvSpPr/>
            <p:nvPr/>
          </p:nvSpPr>
          <p:spPr>
            <a:xfrm flipH="false" flipV="false" rot="0">
              <a:off x="0" y="0"/>
              <a:ext cx="10808970" cy="604266"/>
            </a:xfrm>
            <a:custGeom>
              <a:avLst/>
              <a:gdLst/>
              <a:ahLst/>
              <a:cxnLst/>
              <a:rect r="r" b="b" t="t" l="l"/>
              <a:pathLst>
                <a:path h="604266" w="10808970">
                  <a:moveTo>
                    <a:pt x="0" y="226568"/>
                  </a:moveTo>
                  <a:cubicBezTo>
                    <a:pt x="0" y="101473"/>
                    <a:pt x="101473" y="0"/>
                    <a:pt x="226568" y="0"/>
                  </a:cubicBezTo>
                  <a:lnTo>
                    <a:pt x="10582402" y="0"/>
                  </a:lnTo>
                  <a:cubicBezTo>
                    <a:pt x="10707497" y="0"/>
                    <a:pt x="10808970" y="101473"/>
                    <a:pt x="10808970" y="226568"/>
                  </a:cubicBezTo>
                  <a:lnTo>
                    <a:pt x="10808970" y="377698"/>
                  </a:lnTo>
                  <a:cubicBezTo>
                    <a:pt x="10808970" y="502793"/>
                    <a:pt x="10707497" y="604266"/>
                    <a:pt x="105824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8" id="8"/>
          <p:cNvGrpSpPr/>
          <p:nvPr/>
        </p:nvGrpSpPr>
        <p:grpSpPr>
          <a:xfrm rot="0">
            <a:off x="827151" y="2884551"/>
            <a:ext cx="8084058" cy="238506"/>
            <a:chOff x="0" y="0"/>
            <a:chExt cx="10778744" cy="318008"/>
          </a:xfrm>
        </p:grpSpPr>
        <p:sp>
          <p:nvSpPr>
            <p:cNvPr name="Freeform 9" id="9"/>
            <p:cNvSpPr/>
            <p:nvPr/>
          </p:nvSpPr>
          <p:spPr>
            <a:xfrm flipH="false" flipV="false" rot="0">
              <a:off x="0" y="0"/>
              <a:ext cx="10778744" cy="318008"/>
            </a:xfrm>
            <a:custGeom>
              <a:avLst/>
              <a:gdLst/>
              <a:ahLst/>
              <a:cxnLst/>
              <a:rect r="r" b="b" t="t" l="l"/>
              <a:pathLst>
                <a:path h="318008" w="10778744">
                  <a:moveTo>
                    <a:pt x="0" y="0"/>
                  </a:moveTo>
                  <a:lnTo>
                    <a:pt x="10778744" y="0"/>
                  </a:lnTo>
                  <a:lnTo>
                    <a:pt x="10778744" y="318008"/>
                  </a:lnTo>
                  <a:lnTo>
                    <a:pt x="0" y="318008"/>
                  </a:lnTo>
                  <a:close/>
                </a:path>
              </a:pathLst>
            </a:custGeom>
            <a:solidFill>
              <a:srgbClr val="F5582E"/>
            </a:solidFill>
            <a:ln w="19050" cap="sq">
              <a:solidFill>
                <a:srgbClr val="F5582E"/>
              </a:solidFill>
              <a:prstDash val="solid"/>
              <a:miter/>
            </a:ln>
          </p:spPr>
        </p:sp>
      </p:grpSp>
      <p:sp>
        <p:nvSpPr>
          <p:cNvPr name="AutoShape 10" id="10"/>
          <p:cNvSpPr/>
          <p:nvPr/>
        </p:nvSpPr>
        <p:spPr>
          <a:xfrm rot="6060">
            <a:off x="815807" y="3108770"/>
            <a:ext cx="8106737" cy="0"/>
          </a:xfrm>
          <a:prstGeom prst="line">
            <a:avLst/>
          </a:prstGeom>
          <a:ln cap="rnd" w="9525">
            <a:solidFill>
              <a:srgbClr val="000000"/>
            </a:solidFill>
            <a:prstDash val="solid"/>
            <a:headEnd type="none" len="sm" w="sm"/>
            <a:tailEnd type="none" len="sm" w="sm"/>
          </a:ln>
        </p:spPr>
      </p:sp>
      <p:sp>
        <p:nvSpPr>
          <p:cNvPr name="TextBox 11" id="11"/>
          <p:cNvSpPr txBox="true"/>
          <p:nvPr/>
        </p:nvSpPr>
        <p:spPr>
          <a:xfrm rot="0">
            <a:off x="1165860" y="3360420"/>
            <a:ext cx="74066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A · HATEFULNESS</a:t>
            </a:r>
          </a:p>
        </p:txBody>
      </p:sp>
      <p:grpSp>
        <p:nvGrpSpPr>
          <p:cNvPr name="Group 12" id="12"/>
          <p:cNvGrpSpPr/>
          <p:nvPr/>
        </p:nvGrpSpPr>
        <p:grpSpPr>
          <a:xfrm rot="0">
            <a:off x="1165860" y="3909060"/>
            <a:ext cx="2743200" cy="685800"/>
            <a:chOff x="0" y="0"/>
            <a:chExt cx="3657600" cy="914400"/>
          </a:xfrm>
        </p:grpSpPr>
        <p:sp>
          <p:nvSpPr>
            <p:cNvPr name="Freeform 13" id="13"/>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14" id="14"/>
            <p:cNvSpPr txBox="true"/>
            <p:nvPr/>
          </p:nvSpPr>
          <p:spPr>
            <a:xfrm>
              <a:off x="0" y="0"/>
              <a:ext cx="3657600" cy="914400"/>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ViT · E005</a:t>
              </a:r>
            </a:p>
          </p:txBody>
        </p:sp>
      </p:grpSp>
      <p:grpSp>
        <p:nvGrpSpPr>
          <p:cNvPr name="Group 15" id="15"/>
          <p:cNvGrpSpPr/>
          <p:nvPr/>
        </p:nvGrpSpPr>
        <p:grpSpPr>
          <a:xfrm rot="0">
            <a:off x="4036695" y="4009263"/>
            <a:ext cx="2128456" cy="485394"/>
            <a:chOff x="0" y="0"/>
            <a:chExt cx="2837942" cy="647192"/>
          </a:xfrm>
        </p:grpSpPr>
        <p:sp>
          <p:nvSpPr>
            <p:cNvPr name="Freeform 16" id="16"/>
            <p:cNvSpPr/>
            <p:nvPr/>
          </p:nvSpPr>
          <p:spPr>
            <a:xfrm flipH="false" flipV="false" rot="0">
              <a:off x="0" y="0"/>
              <a:ext cx="2837942" cy="647192"/>
            </a:xfrm>
            <a:custGeom>
              <a:avLst/>
              <a:gdLst/>
              <a:ahLst/>
              <a:cxnLst/>
              <a:rect r="r" b="b" t="t" l="l"/>
              <a:pathLst>
                <a:path h="647192" w="2837942">
                  <a:moveTo>
                    <a:pt x="0" y="95123"/>
                  </a:moveTo>
                  <a:cubicBezTo>
                    <a:pt x="0" y="42672"/>
                    <a:pt x="42672" y="0"/>
                    <a:pt x="95123" y="0"/>
                  </a:cubicBezTo>
                  <a:lnTo>
                    <a:pt x="2742819" y="0"/>
                  </a:lnTo>
                  <a:cubicBezTo>
                    <a:pt x="2795397" y="0"/>
                    <a:pt x="2837942" y="42672"/>
                    <a:pt x="2837942" y="95123"/>
                  </a:cubicBezTo>
                  <a:lnTo>
                    <a:pt x="2837942" y="552069"/>
                  </a:lnTo>
                  <a:cubicBezTo>
                    <a:pt x="2837942" y="604647"/>
                    <a:pt x="2795270" y="647192"/>
                    <a:pt x="2742819" y="647192"/>
                  </a:cubicBezTo>
                  <a:lnTo>
                    <a:pt x="95123" y="647192"/>
                  </a:lnTo>
                  <a:cubicBezTo>
                    <a:pt x="42672" y="647192"/>
                    <a:pt x="0" y="604520"/>
                    <a:pt x="0" y="552069"/>
                  </a:cubicBezTo>
                  <a:close/>
                </a:path>
              </a:pathLst>
            </a:custGeom>
            <a:solidFill>
              <a:srgbClr val="9A9A9A"/>
            </a:solidFill>
            <a:ln w="19050" cap="sq">
              <a:solidFill>
                <a:srgbClr val="9A9A9A"/>
              </a:solidFill>
              <a:prstDash val="solid"/>
              <a:miter/>
            </a:ln>
          </p:spPr>
        </p:sp>
      </p:grpSp>
      <p:grpSp>
        <p:nvGrpSpPr>
          <p:cNvPr name="Group 17" id="17"/>
          <p:cNvGrpSpPr/>
          <p:nvPr/>
        </p:nvGrpSpPr>
        <p:grpSpPr>
          <a:xfrm rot="0">
            <a:off x="6265354" y="3909060"/>
            <a:ext cx="1165860" cy="685800"/>
            <a:chOff x="0" y="0"/>
            <a:chExt cx="1554480" cy="914400"/>
          </a:xfrm>
        </p:grpSpPr>
        <p:sp>
          <p:nvSpPr>
            <p:cNvPr name="Freeform 18" id="18"/>
            <p:cNvSpPr/>
            <p:nvPr/>
          </p:nvSpPr>
          <p:spPr>
            <a:xfrm flipH="false" flipV="false" rot="0">
              <a:off x="0" y="0"/>
              <a:ext cx="1554480" cy="914400"/>
            </a:xfrm>
            <a:custGeom>
              <a:avLst/>
              <a:gdLst/>
              <a:ahLst/>
              <a:cxnLst/>
              <a:rect r="r" b="b" t="t" l="l"/>
              <a:pathLst>
                <a:path h="914400" w="1554480">
                  <a:moveTo>
                    <a:pt x="0" y="0"/>
                  </a:moveTo>
                  <a:lnTo>
                    <a:pt x="1554480" y="0"/>
                  </a:lnTo>
                  <a:lnTo>
                    <a:pt x="1554480" y="914400"/>
                  </a:lnTo>
                  <a:lnTo>
                    <a:pt x="0" y="914400"/>
                  </a:lnTo>
                  <a:close/>
                </a:path>
              </a:pathLst>
            </a:custGeom>
            <a:blipFill>
              <a:blip r:embed="rId3">
                <a:alphaModFix amt="0"/>
              </a:blip>
              <a:stretch>
                <a:fillRect l="-25472" t="0" r="-25472" b="0"/>
              </a:stretch>
            </a:blipFill>
          </p:spPr>
        </p:sp>
        <p:sp>
          <p:nvSpPr>
            <p:cNvPr name="TextBox 19" id="19"/>
            <p:cNvSpPr txBox="true"/>
            <p:nvPr/>
          </p:nvSpPr>
          <p:spPr>
            <a:xfrm>
              <a:off x="0" y="0"/>
              <a:ext cx="1554480" cy="914400"/>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0,6408</a:t>
              </a:r>
            </a:p>
          </p:txBody>
        </p:sp>
      </p:grpSp>
      <p:grpSp>
        <p:nvGrpSpPr>
          <p:cNvPr name="Group 20" id="20"/>
          <p:cNvGrpSpPr/>
          <p:nvPr/>
        </p:nvGrpSpPr>
        <p:grpSpPr>
          <a:xfrm rot="0">
            <a:off x="1165860" y="4732020"/>
            <a:ext cx="2743200" cy="685800"/>
            <a:chOff x="0" y="0"/>
            <a:chExt cx="3657600" cy="914400"/>
          </a:xfrm>
        </p:grpSpPr>
        <p:sp>
          <p:nvSpPr>
            <p:cNvPr name="Freeform 21" id="21"/>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22" id="22"/>
            <p:cNvSpPr txBox="true"/>
            <p:nvPr/>
          </p:nvSpPr>
          <p:spPr>
            <a:xfrm>
              <a:off x="0" y="0"/>
              <a:ext cx="3657600" cy="914400"/>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IndoBERTweet · E041</a:t>
              </a:r>
            </a:p>
          </p:txBody>
        </p:sp>
      </p:grpSp>
      <p:grpSp>
        <p:nvGrpSpPr>
          <p:cNvPr name="Group 23" id="23"/>
          <p:cNvGrpSpPr/>
          <p:nvPr/>
        </p:nvGrpSpPr>
        <p:grpSpPr>
          <a:xfrm rot="0">
            <a:off x="4036695" y="4832223"/>
            <a:ext cx="2671610" cy="485394"/>
            <a:chOff x="0" y="0"/>
            <a:chExt cx="3562147" cy="647192"/>
          </a:xfrm>
        </p:grpSpPr>
        <p:sp>
          <p:nvSpPr>
            <p:cNvPr name="Freeform 24" id="24"/>
            <p:cNvSpPr/>
            <p:nvPr/>
          </p:nvSpPr>
          <p:spPr>
            <a:xfrm flipH="false" flipV="false" rot="0">
              <a:off x="0" y="0"/>
              <a:ext cx="3562096" cy="647192"/>
            </a:xfrm>
            <a:custGeom>
              <a:avLst/>
              <a:gdLst/>
              <a:ahLst/>
              <a:cxnLst/>
              <a:rect r="r" b="b" t="t" l="l"/>
              <a:pathLst>
                <a:path h="647192" w="3562096">
                  <a:moveTo>
                    <a:pt x="0" y="95123"/>
                  </a:moveTo>
                  <a:cubicBezTo>
                    <a:pt x="0" y="42672"/>
                    <a:pt x="42672" y="0"/>
                    <a:pt x="95123" y="0"/>
                  </a:cubicBezTo>
                  <a:lnTo>
                    <a:pt x="3466973" y="0"/>
                  </a:lnTo>
                  <a:cubicBezTo>
                    <a:pt x="3519551" y="0"/>
                    <a:pt x="3562096" y="42672"/>
                    <a:pt x="3562096" y="95123"/>
                  </a:cubicBezTo>
                  <a:lnTo>
                    <a:pt x="3562096" y="552069"/>
                  </a:lnTo>
                  <a:cubicBezTo>
                    <a:pt x="3562096" y="604647"/>
                    <a:pt x="3519424" y="647192"/>
                    <a:pt x="3466973" y="647192"/>
                  </a:cubicBezTo>
                  <a:lnTo>
                    <a:pt x="95123" y="647192"/>
                  </a:lnTo>
                  <a:cubicBezTo>
                    <a:pt x="42672" y="647192"/>
                    <a:pt x="0" y="604520"/>
                    <a:pt x="0" y="552069"/>
                  </a:cubicBezTo>
                  <a:close/>
                </a:path>
              </a:pathLst>
            </a:custGeom>
            <a:solidFill>
              <a:srgbClr val="F5582E"/>
            </a:solidFill>
            <a:ln w="19050" cap="sq">
              <a:solidFill>
                <a:srgbClr val="F5582E"/>
              </a:solidFill>
              <a:prstDash val="solid"/>
              <a:miter/>
            </a:ln>
          </p:spPr>
        </p:sp>
      </p:grpSp>
      <p:grpSp>
        <p:nvGrpSpPr>
          <p:cNvPr name="Group 25" id="25"/>
          <p:cNvGrpSpPr/>
          <p:nvPr/>
        </p:nvGrpSpPr>
        <p:grpSpPr>
          <a:xfrm rot="0">
            <a:off x="6808508" y="4732020"/>
            <a:ext cx="1165860" cy="685800"/>
            <a:chOff x="0" y="0"/>
            <a:chExt cx="1554480" cy="914400"/>
          </a:xfrm>
        </p:grpSpPr>
        <p:sp>
          <p:nvSpPr>
            <p:cNvPr name="Freeform 26" id="26"/>
            <p:cNvSpPr/>
            <p:nvPr/>
          </p:nvSpPr>
          <p:spPr>
            <a:xfrm flipH="false" flipV="false" rot="0">
              <a:off x="0" y="0"/>
              <a:ext cx="1554480" cy="914400"/>
            </a:xfrm>
            <a:custGeom>
              <a:avLst/>
              <a:gdLst/>
              <a:ahLst/>
              <a:cxnLst/>
              <a:rect r="r" b="b" t="t" l="l"/>
              <a:pathLst>
                <a:path h="914400" w="1554480">
                  <a:moveTo>
                    <a:pt x="0" y="0"/>
                  </a:moveTo>
                  <a:lnTo>
                    <a:pt x="1554480" y="0"/>
                  </a:lnTo>
                  <a:lnTo>
                    <a:pt x="1554480" y="914400"/>
                  </a:lnTo>
                  <a:lnTo>
                    <a:pt x="0" y="914400"/>
                  </a:lnTo>
                  <a:close/>
                </a:path>
              </a:pathLst>
            </a:custGeom>
            <a:blipFill>
              <a:blip r:embed="rId3">
                <a:alphaModFix amt="0"/>
              </a:blip>
              <a:stretch>
                <a:fillRect l="-25472" t="0" r="-25472" b="0"/>
              </a:stretch>
            </a:blipFill>
          </p:spPr>
        </p:sp>
        <p:sp>
          <p:nvSpPr>
            <p:cNvPr name="TextBox 27" id="27"/>
            <p:cNvSpPr txBox="true"/>
            <p:nvPr/>
          </p:nvSpPr>
          <p:spPr>
            <a:xfrm>
              <a:off x="0" y="0"/>
              <a:ext cx="1554480" cy="914400"/>
            </a:xfrm>
            <a:prstGeom prst="rect">
              <a:avLst/>
            </a:prstGeom>
          </p:spPr>
          <p:txBody>
            <a:bodyPr anchor="ctr" rtlCol="false" tIns="0" lIns="0" bIns="0" rIns="0"/>
            <a:lstStyle/>
            <a:p>
              <a:pPr algn="l">
                <a:lnSpc>
                  <a:spcPts val="2160"/>
                </a:lnSpc>
              </a:pPr>
              <a:r>
                <a:rPr lang="en-US" sz="1800" b="true">
                  <a:solidFill>
                    <a:srgbClr val="F5582E"/>
                  </a:solidFill>
                  <a:latin typeface="Helvetica World Bold"/>
                  <a:ea typeface="Helvetica World Bold"/>
                  <a:cs typeface="Helvetica World Bold"/>
                  <a:sym typeface="Helvetica World Bold"/>
                </a:rPr>
                <a:t>0,8058</a:t>
              </a:r>
            </a:p>
          </p:txBody>
        </p:sp>
      </p:grpSp>
      <p:grpSp>
        <p:nvGrpSpPr>
          <p:cNvPr name="Group 28" id="28"/>
          <p:cNvGrpSpPr/>
          <p:nvPr/>
        </p:nvGrpSpPr>
        <p:grpSpPr>
          <a:xfrm rot="0">
            <a:off x="1165860" y="5554980"/>
            <a:ext cx="2743200" cy="685800"/>
            <a:chOff x="0" y="0"/>
            <a:chExt cx="3657600" cy="914400"/>
          </a:xfrm>
        </p:grpSpPr>
        <p:sp>
          <p:nvSpPr>
            <p:cNvPr name="Freeform 29" id="29"/>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30" id="30"/>
            <p:cNvSpPr txBox="true"/>
            <p:nvPr/>
          </p:nvSpPr>
          <p:spPr>
            <a:xfrm>
              <a:off x="0" y="0"/>
              <a:ext cx="3657600" cy="914400"/>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Fusi · E059</a:t>
              </a:r>
            </a:p>
          </p:txBody>
        </p:sp>
      </p:grpSp>
      <p:grpSp>
        <p:nvGrpSpPr>
          <p:cNvPr name="Group 31" id="31"/>
          <p:cNvGrpSpPr/>
          <p:nvPr/>
        </p:nvGrpSpPr>
        <p:grpSpPr>
          <a:xfrm rot="0">
            <a:off x="4036695" y="5655183"/>
            <a:ext cx="2666676" cy="485394"/>
            <a:chOff x="0" y="0"/>
            <a:chExt cx="3555568" cy="647192"/>
          </a:xfrm>
        </p:grpSpPr>
        <p:sp>
          <p:nvSpPr>
            <p:cNvPr name="Freeform 32" id="32"/>
            <p:cNvSpPr/>
            <p:nvPr/>
          </p:nvSpPr>
          <p:spPr>
            <a:xfrm flipH="false" flipV="false" rot="0">
              <a:off x="0" y="0"/>
              <a:ext cx="3555492" cy="647192"/>
            </a:xfrm>
            <a:custGeom>
              <a:avLst/>
              <a:gdLst/>
              <a:ahLst/>
              <a:cxnLst/>
              <a:rect r="r" b="b" t="t" l="l"/>
              <a:pathLst>
                <a:path h="647192" w="3555492">
                  <a:moveTo>
                    <a:pt x="0" y="95123"/>
                  </a:moveTo>
                  <a:cubicBezTo>
                    <a:pt x="0" y="42672"/>
                    <a:pt x="42672" y="0"/>
                    <a:pt x="95123" y="0"/>
                  </a:cubicBezTo>
                  <a:lnTo>
                    <a:pt x="3460369" y="0"/>
                  </a:lnTo>
                  <a:cubicBezTo>
                    <a:pt x="3512947" y="0"/>
                    <a:pt x="3555492" y="42672"/>
                    <a:pt x="3555492" y="95123"/>
                  </a:cubicBezTo>
                  <a:lnTo>
                    <a:pt x="3555492" y="552069"/>
                  </a:lnTo>
                  <a:cubicBezTo>
                    <a:pt x="3555492" y="604647"/>
                    <a:pt x="3512820" y="647192"/>
                    <a:pt x="3460369" y="647192"/>
                  </a:cubicBezTo>
                  <a:lnTo>
                    <a:pt x="95123" y="647192"/>
                  </a:lnTo>
                  <a:cubicBezTo>
                    <a:pt x="42672" y="647192"/>
                    <a:pt x="0" y="604520"/>
                    <a:pt x="0" y="552069"/>
                  </a:cubicBezTo>
                  <a:close/>
                </a:path>
              </a:pathLst>
            </a:custGeom>
            <a:solidFill>
              <a:srgbClr val="9A9A9A"/>
            </a:solidFill>
            <a:ln w="19050" cap="sq">
              <a:solidFill>
                <a:srgbClr val="9A9A9A"/>
              </a:solidFill>
              <a:prstDash val="solid"/>
              <a:miter/>
            </a:ln>
          </p:spPr>
        </p:sp>
      </p:grpSp>
      <p:grpSp>
        <p:nvGrpSpPr>
          <p:cNvPr name="Group 33" id="33"/>
          <p:cNvGrpSpPr/>
          <p:nvPr/>
        </p:nvGrpSpPr>
        <p:grpSpPr>
          <a:xfrm rot="0">
            <a:off x="6803574" y="5554980"/>
            <a:ext cx="1165860" cy="685800"/>
            <a:chOff x="0" y="0"/>
            <a:chExt cx="1554480" cy="914400"/>
          </a:xfrm>
        </p:grpSpPr>
        <p:sp>
          <p:nvSpPr>
            <p:cNvPr name="Freeform 34" id="34"/>
            <p:cNvSpPr/>
            <p:nvPr/>
          </p:nvSpPr>
          <p:spPr>
            <a:xfrm flipH="false" flipV="false" rot="0">
              <a:off x="0" y="0"/>
              <a:ext cx="1554480" cy="914400"/>
            </a:xfrm>
            <a:custGeom>
              <a:avLst/>
              <a:gdLst/>
              <a:ahLst/>
              <a:cxnLst/>
              <a:rect r="r" b="b" t="t" l="l"/>
              <a:pathLst>
                <a:path h="914400" w="1554480">
                  <a:moveTo>
                    <a:pt x="0" y="0"/>
                  </a:moveTo>
                  <a:lnTo>
                    <a:pt x="1554480" y="0"/>
                  </a:lnTo>
                  <a:lnTo>
                    <a:pt x="1554480" y="914400"/>
                  </a:lnTo>
                  <a:lnTo>
                    <a:pt x="0" y="914400"/>
                  </a:lnTo>
                  <a:close/>
                </a:path>
              </a:pathLst>
            </a:custGeom>
            <a:blipFill>
              <a:blip r:embed="rId3">
                <a:alphaModFix amt="0"/>
              </a:blip>
              <a:stretch>
                <a:fillRect l="-25472" t="0" r="-25472" b="0"/>
              </a:stretch>
            </a:blipFill>
          </p:spPr>
        </p:sp>
        <p:sp>
          <p:nvSpPr>
            <p:cNvPr name="TextBox 35" id="35"/>
            <p:cNvSpPr txBox="true"/>
            <p:nvPr/>
          </p:nvSpPr>
          <p:spPr>
            <a:xfrm>
              <a:off x="0" y="0"/>
              <a:ext cx="1554480" cy="914400"/>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0,8043</a:t>
              </a:r>
            </a:p>
          </p:txBody>
        </p:sp>
      </p:grpSp>
      <p:grpSp>
        <p:nvGrpSpPr>
          <p:cNvPr name="Group 36" id="36"/>
          <p:cNvGrpSpPr/>
          <p:nvPr/>
        </p:nvGrpSpPr>
        <p:grpSpPr>
          <a:xfrm rot="0">
            <a:off x="1165860" y="6377940"/>
            <a:ext cx="2743200" cy="685800"/>
            <a:chOff x="0" y="0"/>
            <a:chExt cx="3657600" cy="914400"/>
          </a:xfrm>
        </p:grpSpPr>
        <p:sp>
          <p:nvSpPr>
            <p:cNvPr name="Freeform 37" id="37"/>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38" id="38"/>
            <p:cNvSpPr txBox="true"/>
            <p:nvPr/>
          </p:nvSpPr>
          <p:spPr>
            <a:xfrm>
              <a:off x="0" y="0"/>
              <a:ext cx="3657600" cy="914400"/>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Multitask Teks · E101</a:t>
              </a:r>
            </a:p>
          </p:txBody>
        </p:sp>
      </p:grpSp>
      <p:grpSp>
        <p:nvGrpSpPr>
          <p:cNvPr name="Group 39" id="39"/>
          <p:cNvGrpSpPr/>
          <p:nvPr/>
        </p:nvGrpSpPr>
        <p:grpSpPr>
          <a:xfrm rot="0">
            <a:off x="4036695" y="6478143"/>
            <a:ext cx="2666676" cy="485394"/>
            <a:chOff x="0" y="0"/>
            <a:chExt cx="3555568" cy="647192"/>
          </a:xfrm>
        </p:grpSpPr>
        <p:sp>
          <p:nvSpPr>
            <p:cNvPr name="Freeform 40" id="40"/>
            <p:cNvSpPr/>
            <p:nvPr/>
          </p:nvSpPr>
          <p:spPr>
            <a:xfrm flipH="false" flipV="false" rot="0">
              <a:off x="0" y="0"/>
              <a:ext cx="3555492" cy="647192"/>
            </a:xfrm>
            <a:custGeom>
              <a:avLst/>
              <a:gdLst/>
              <a:ahLst/>
              <a:cxnLst/>
              <a:rect r="r" b="b" t="t" l="l"/>
              <a:pathLst>
                <a:path h="647192" w="3555492">
                  <a:moveTo>
                    <a:pt x="0" y="95123"/>
                  </a:moveTo>
                  <a:cubicBezTo>
                    <a:pt x="0" y="42672"/>
                    <a:pt x="42672" y="0"/>
                    <a:pt x="95123" y="0"/>
                  </a:cubicBezTo>
                  <a:lnTo>
                    <a:pt x="3460369" y="0"/>
                  </a:lnTo>
                  <a:cubicBezTo>
                    <a:pt x="3512947" y="0"/>
                    <a:pt x="3555492" y="42672"/>
                    <a:pt x="3555492" y="95123"/>
                  </a:cubicBezTo>
                  <a:lnTo>
                    <a:pt x="3555492" y="552069"/>
                  </a:lnTo>
                  <a:cubicBezTo>
                    <a:pt x="3555492" y="604647"/>
                    <a:pt x="3512820" y="647192"/>
                    <a:pt x="3460369" y="647192"/>
                  </a:cubicBezTo>
                  <a:lnTo>
                    <a:pt x="95123" y="647192"/>
                  </a:lnTo>
                  <a:cubicBezTo>
                    <a:pt x="42672" y="647192"/>
                    <a:pt x="0" y="604520"/>
                    <a:pt x="0" y="552069"/>
                  </a:cubicBezTo>
                  <a:close/>
                </a:path>
              </a:pathLst>
            </a:custGeom>
            <a:solidFill>
              <a:srgbClr val="9A9A9A"/>
            </a:solidFill>
            <a:ln w="19050" cap="sq">
              <a:solidFill>
                <a:srgbClr val="9A9A9A"/>
              </a:solidFill>
              <a:prstDash val="solid"/>
              <a:miter/>
            </a:ln>
          </p:spPr>
        </p:sp>
      </p:grpSp>
      <p:grpSp>
        <p:nvGrpSpPr>
          <p:cNvPr name="Group 41" id="41"/>
          <p:cNvGrpSpPr/>
          <p:nvPr/>
        </p:nvGrpSpPr>
        <p:grpSpPr>
          <a:xfrm rot="0">
            <a:off x="6803574" y="6377940"/>
            <a:ext cx="1165860" cy="685800"/>
            <a:chOff x="0" y="0"/>
            <a:chExt cx="1554480" cy="914400"/>
          </a:xfrm>
        </p:grpSpPr>
        <p:sp>
          <p:nvSpPr>
            <p:cNvPr name="Freeform 42" id="42"/>
            <p:cNvSpPr/>
            <p:nvPr/>
          </p:nvSpPr>
          <p:spPr>
            <a:xfrm flipH="false" flipV="false" rot="0">
              <a:off x="0" y="0"/>
              <a:ext cx="1554480" cy="914400"/>
            </a:xfrm>
            <a:custGeom>
              <a:avLst/>
              <a:gdLst/>
              <a:ahLst/>
              <a:cxnLst/>
              <a:rect r="r" b="b" t="t" l="l"/>
              <a:pathLst>
                <a:path h="914400" w="1554480">
                  <a:moveTo>
                    <a:pt x="0" y="0"/>
                  </a:moveTo>
                  <a:lnTo>
                    <a:pt x="1554480" y="0"/>
                  </a:lnTo>
                  <a:lnTo>
                    <a:pt x="1554480" y="914400"/>
                  </a:lnTo>
                  <a:lnTo>
                    <a:pt x="0" y="914400"/>
                  </a:lnTo>
                  <a:close/>
                </a:path>
              </a:pathLst>
            </a:custGeom>
            <a:blipFill>
              <a:blip r:embed="rId3">
                <a:alphaModFix amt="0"/>
              </a:blip>
              <a:stretch>
                <a:fillRect l="-25472" t="0" r="-25472" b="0"/>
              </a:stretch>
            </a:blipFill>
          </p:spPr>
        </p:sp>
        <p:sp>
          <p:nvSpPr>
            <p:cNvPr name="TextBox 43" id="43"/>
            <p:cNvSpPr txBox="true"/>
            <p:nvPr/>
          </p:nvSpPr>
          <p:spPr>
            <a:xfrm>
              <a:off x="0" y="0"/>
              <a:ext cx="1554480" cy="914400"/>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0,8043</a:t>
              </a:r>
            </a:p>
          </p:txBody>
        </p:sp>
      </p:grpSp>
      <p:grpSp>
        <p:nvGrpSpPr>
          <p:cNvPr name="Group 44" id="44"/>
          <p:cNvGrpSpPr/>
          <p:nvPr/>
        </p:nvGrpSpPr>
        <p:grpSpPr>
          <a:xfrm rot="0">
            <a:off x="1165860" y="7200900"/>
            <a:ext cx="2743200" cy="685800"/>
            <a:chOff x="0" y="0"/>
            <a:chExt cx="3657600" cy="914400"/>
          </a:xfrm>
        </p:grpSpPr>
        <p:sp>
          <p:nvSpPr>
            <p:cNvPr name="Freeform 45" id="45"/>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46" id="46"/>
            <p:cNvSpPr txBox="true"/>
            <p:nvPr/>
          </p:nvSpPr>
          <p:spPr>
            <a:xfrm>
              <a:off x="0" y="0"/>
              <a:ext cx="3657600" cy="914400"/>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Multitask Fusi · E110</a:t>
              </a:r>
            </a:p>
          </p:txBody>
        </p:sp>
      </p:grpSp>
      <p:grpSp>
        <p:nvGrpSpPr>
          <p:cNvPr name="Group 47" id="47"/>
          <p:cNvGrpSpPr/>
          <p:nvPr/>
        </p:nvGrpSpPr>
        <p:grpSpPr>
          <a:xfrm rot="0">
            <a:off x="4036695" y="7301103"/>
            <a:ext cx="2662066" cy="485394"/>
            <a:chOff x="0" y="0"/>
            <a:chExt cx="3549421" cy="647192"/>
          </a:xfrm>
        </p:grpSpPr>
        <p:sp>
          <p:nvSpPr>
            <p:cNvPr name="Freeform 48" id="48"/>
            <p:cNvSpPr/>
            <p:nvPr/>
          </p:nvSpPr>
          <p:spPr>
            <a:xfrm flipH="false" flipV="false" rot="0">
              <a:off x="0" y="0"/>
              <a:ext cx="3549396" cy="647192"/>
            </a:xfrm>
            <a:custGeom>
              <a:avLst/>
              <a:gdLst/>
              <a:ahLst/>
              <a:cxnLst/>
              <a:rect r="r" b="b" t="t" l="l"/>
              <a:pathLst>
                <a:path h="647192" w="3549396">
                  <a:moveTo>
                    <a:pt x="0" y="95123"/>
                  </a:moveTo>
                  <a:cubicBezTo>
                    <a:pt x="0" y="42672"/>
                    <a:pt x="42672" y="0"/>
                    <a:pt x="95123" y="0"/>
                  </a:cubicBezTo>
                  <a:lnTo>
                    <a:pt x="3454273" y="0"/>
                  </a:lnTo>
                  <a:cubicBezTo>
                    <a:pt x="3506851" y="0"/>
                    <a:pt x="3549396" y="42672"/>
                    <a:pt x="3549396" y="95123"/>
                  </a:cubicBezTo>
                  <a:lnTo>
                    <a:pt x="3549396" y="552069"/>
                  </a:lnTo>
                  <a:cubicBezTo>
                    <a:pt x="3549396" y="604647"/>
                    <a:pt x="3506724" y="647192"/>
                    <a:pt x="3454273" y="647192"/>
                  </a:cubicBezTo>
                  <a:lnTo>
                    <a:pt x="95123" y="647192"/>
                  </a:lnTo>
                  <a:cubicBezTo>
                    <a:pt x="42672" y="647192"/>
                    <a:pt x="0" y="604520"/>
                    <a:pt x="0" y="552069"/>
                  </a:cubicBezTo>
                  <a:close/>
                </a:path>
              </a:pathLst>
            </a:custGeom>
            <a:solidFill>
              <a:srgbClr val="9A9A9A"/>
            </a:solidFill>
            <a:ln w="19050" cap="sq">
              <a:solidFill>
                <a:srgbClr val="9A9A9A"/>
              </a:solidFill>
              <a:prstDash val="solid"/>
              <a:miter/>
            </a:ln>
          </p:spPr>
        </p:sp>
      </p:grpSp>
      <p:grpSp>
        <p:nvGrpSpPr>
          <p:cNvPr name="Group 49" id="49"/>
          <p:cNvGrpSpPr/>
          <p:nvPr/>
        </p:nvGrpSpPr>
        <p:grpSpPr>
          <a:xfrm rot="0">
            <a:off x="6798964" y="7200900"/>
            <a:ext cx="1165860" cy="685800"/>
            <a:chOff x="0" y="0"/>
            <a:chExt cx="1554480" cy="914400"/>
          </a:xfrm>
        </p:grpSpPr>
        <p:sp>
          <p:nvSpPr>
            <p:cNvPr name="Freeform 50" id="50"/>
            <p:cNvSpPr/>
            <p:nvPr/>
          </p:nvSpPr>
          <p:spPr>
            <a:xfrm flipH="false" flipV="false" rot="0">
              <a:off x="0" y="0"/>
              <a:ext cx="1554480" cy="914400"/>
            </a:xfrm>
            <a:custGeom>
              <a:avLst/>
              <a:gdLst/>
              <a:ahLst/>
              <a:cxnLst/>
              <a:rect r="r" b="b" t="t" l="l"/>
              <a:pathLst>
                <a:path h="914400" w="1554480">
                  <a:moveTo>
                    <a:pt x="0" y="0"/>
                  </a:moveTo>
                  <a:lnTo>
                    <a:pt x="1554480" y="0"/>
                  </a:lnTo>
                  <a:lnTo>
                    <a:pt x="1554480" y="914400"/>
                  </a:lnTo>
                  <a:lnTo>
                    <a:pt x="0" y="914400"/>
                  </a:lnTo>
                  <a:close/>
                </a:path>
              </a:pathLst>
            </a:custGeom>
            <a:blipFill>
              <a:blip r:embed="rId3">
                <a:alphaModFix amt="0"/>
              </a:blip>
              <a:stretch>
                <a:fillRect l="-25472" t="0" r="-25472" b="0"/>
              </a:stretch>
            </a:blipFill>
          </p:spPr>
        </p:sp>
        <p:sp>
          <p:nvSpPr>
            <p:cNvPr name="TextBox 51" id="51"/>
            <p:cNvSpPr txBox="true"/>
            <p:nvPr/>
          </p:nvSpPr>
          <p:spPr>
            <a:xfrm>
              <a:off x="0" y="0"/>
              <a:ext cx="1554480" cy="914400"/>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0,8029</a:t>
              </a:r>
            </a:p>
          </p:txBody>
        </p:sp>
      </p:grpSp>
      <p:sp>
        <p:nvSpPr>
          <p:cNvPr name="TextBox 52" id="52"/>
          <p:cNvSpPr txBox="true"/>
          <p:nvPr/>
        </p:nvSpPr>
        <p:spPr>
          <a:xfrm rot="0">
            <a:off x="1165860" y="8170545"/>
            <a:ext cx="7406640" cy="333375"/>
          </a:xfrm>
          <a:prstGeom prst="rect">
            <a:avLst/>
          </a:prstGeom>
        </p:spPr>
        <p:txBody>
          <a:bodyPr anchor="t" rtlCol="false" tIns="0" lIns="0" bIns="0" rIns="0">
            <a:spAutoFit/>
          </a:bodyPr>
          <a:lstStyle/>
          <a:p>
            <a:pPr algn="l">
              <a:lnSpc>
                <a:spcPts val="1980"/>
              </a:lnSpc>
            </a:pPr>
            <a:r>
              <a:rPr lang="en-US" sz="1650">
                <a:solidFill>
                  <a:srgbClr val="595959"/>
                </a:solidFill>
                <a:latin typeface="Helvetica World"/>
                <a:ea typeface="Helvetica World"/>
                <a:cs typeface="Helvetica World"/>
                <a:sym typeface="Helvetica World"/>
              </a:rPr>
              <a:t>Macro-F1 data uji resmi (1.005 meme) · skala 0–1,0 penuh</a:t>
            </a:r>
          </a:p>
        </p:txBody>
      </p:sp>
      <p:sp>
        <p:nvSpPr>
          <p:cNvPr name="TextBox 53" id="53"/>
          <p:cNvSpPr txBox="true"/>
          <p:nvPr/>
        </p:nvSpPr>
        <p:spPr>
          <a:xfrm rot="0">
            <a:off x="1165860" y="8641080"/>
            <a:ext cx="7406640" cy="411480"/>
          </a:xfrm>
          <a:prstGeom prst="rect">
            <a:avLst/>
          </a:prstGeom>
        </p:spPr>
        <p:txBody>
          <a:bodyPr anchor="t" rtlCol="false" tIns="0" lIns="0" bIns="0" rIns="0">
            <a:spAutoFit/>
          </a:bodyPr>
          <a:lstStyle/>
          <a:p>
            <a:pPr algn="l">
              <a:lnSpc>
                <a:spcPts val="2340"/>
              </a:lnSpc>
            </a:pPr>
            <a:r>
              <a:rPr lang="en-US" sz="1950" b="true">
                <a:solidFill>
                  <a:srgbClr val="000000"/>
                </a:solidFill>
                <a:latin typeface="Helvetica World Bold"/>
                <a:ea typeface="Helvetica World Bold"/>
                <a:cs typeface="Helvetica World Bold"/>
                <a:sym typeface="Helvetica World Bold"/>
              </a:rPr>
              <a:t>Tertinggi: E041 IndoBERTweet, 0,8058</a:t>
            </a:r>
          </a:p>
        </p:txBody>
      </p:sp>
      <p:grpSp>
        <p:nvGrpSpPr>
          <p:cNvPr name="Group 54" id="54"/>
          <p:cNvGrpSpPr/>
          <p:nvPr/>
        </p:nvGrpSpPr>
        <p:grpSpPr>
          <a:xfrm rot="0">
            <a:off x="9319736" y="2667476"/>
            <a:ext cx="8106728" cy="6666547"/>
            <a:chOff x="0" y="0"/>
            <a:chExt cx="10808970" cy="8888730"/>
          </a:xfrm>
        </p:grpSpPr>
        <p:sp>
          <p:nvSpPr>
            <p:cNvPr name="Freeform 55" id="55"/>
            <p:cNvSpPr/>
            <p:nvPr/>
          </p:nvSpPr>
          <p:spPr>
            <a:xfrm flipH="false" flipV="false" rot="0">
              <a:off x="0" y="0"/>
              <a:ext cx="10808970" cy="8888730"/>
            </a:xfrm>
            <a:custGeom>
              <a:avLst/>
              <a:gdLst/>
              <a:ahLst/>
              <a:cxnLst/>
              <a:rect r="r" b="b" t="t" l="l"/>
              <a:pathLst>
                <a:path h="8888730" w="10808970">
                  <a:moveTo>
                    <a:pt x="0" y="219964"/>
                  </a:moveTo>
                  <a:cubicBezTo>
                    <a:pt x="0" y="98425"/>
                    <a:pt x="98425" y="0"/>
                    <a:pt x="219964" y="0"/>
                  </a:cubicBezTo>
                  <a:lnTo>
                    <a:pt x="10589006" y="0"/>
                  </a:lnTo>
                  <a:cubicBezTo>
                    <a:pt x="10710418" y="0"/>
                    <a:pt x="10808970" y="98425"/>
                    <a:pt x="10808970" y="219964"/>
                  </a:cubicBezTo>
                  <a:lnTo>
                    <a:pt x="10808970" y="8668766"/>
                  </a:lnTo>
                  <a:cubicBezTo>
                    <a:pt x="10808970" y="8790178"/>
                    <a:pt x="10710545" y="8888730"/>
                    <a:pt x="10589006" y="8888730"/>
                  </a:cubicBezTo>
                  <a:lnTo>
                    <a:pt x="219964" y="8888730"/>
                  </a:lnTo>
                  <a:cubicBezTo>
                    <a:pt x="98425" y="8888730"/>
                    <a:pt x="0" y="8790305"/>
                    <a:pt x="0" y="8668766"/>
                  </a:cubicBezTo>
                  <a:close/>
                </a:path>
              </a:pathLst>
            </a:custGeom>
            <a:solidFill>
              <a:srgbClr val="FFFFFF"/>
            </a:solidFill>
            <a:ln w="14288" cap="sq">
              <a:solidFill>
                <a:srgbClr val="000000"/>
              </a:solidFill>
              <a:prstDash val="solid"/>
              <a:miter/>
            </a:ln>
          </p:spPr>
        </p:sp>
      </p:grpSp>
      <p:grpSp>
        <p:nvGrpSpPr>
          <p:cNvPr name="Group 56" id="56"/>
          <p:cNvGrpSpPr/>
          <p:nvPr/>
        </p:nvGrpSpPr>
        <p:grpSpPr>
          <a:xfrm rot="0">
            <a:off x="9319736" y="2667476"/>
            <a:ext cx="8106728" cy="453200"/>
            <a:chOff x="0" y="0"/>
            <a:chExt cx="10808970" cy="604266"/>
          </a:xfrm>
        </p:grpSpPr>
        <p:sp>
          <p:nvSpPr>
            <p:cNvPr name="Freeform 57" id="57"/>
            <p:cNvSpPr/>
            <p:nvPr/>
          </p:nvSpPr>
          <p:spPr>
            <a:xfrm flipH="false" flipV="false" rot="0">
              <a:off x="0" y="0"/>
              <a:ext cx="10808970" cy="604266"/>
            </a:xfrm>
            <a:custGeom>
              <a:avLst/>
              <a:gdLst/>
              <a:ahLst/>
              <a:cxnLst/>
              <a:rect r="r" b="b" t="t" l="l"/>
              <a:pathLst>
                <a:path h="604266" w="10808970">
                  <a:moveTo>
                    <a:pt x="0" y="226568"/>
                  </a:moveTo>
                  <a:cubicBezTo>
                    <a:pt x="0" y="101473"/>
                    <a:pt x="101473" y="0"/>
                    <a:pt x="226568" y="0"/>
                  </a:cubicBezTo>
                  <a:lnTo>
                    <a:pt x="10582402" y="0"/>
                  </a:lnTo>
                  <a:cubicBezTo>
                    <a:pt x="10707497" y="0"/>
                    <a:pt x="10808970" y="101473"/>
                    <a:pt x="10808970" y="226568"/>
                  </a:cubicBezTo>
                  <a:lnTo>
                    <a:pt x="10808970" y="377698"/>
                  </a:lnTo>
                  <a:cubicBezTo>
                    <a:pt x="10808970" y="502793"/>
                    <a:pt x="10707497" y="604266"/>
                    <a:pt x="105824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58" id="58"/>
          <p:cNvGrpSpPr/>
          <p:nvPr/>
        </p:nvGrpSpPr>
        <p:grpSpPr>
          <a:xfrm rot="0">
            <a:off x="9331071" y="2884551"/>
            <a:ext cx="8084058" cy="238506"/>
            <a:chOff x="0" y="0"/>
            <a:chExt cx="10778744" cy="318008"/>
          </a:xfrm>
        </p:grpSpPr>
        <p:sp>
          <p:nvSpPr>
            <p:cNvPr name="Freeform 59" id="59"/>
            <p:cNvSpPr/>
            <p:nvPr/>
          </p:nvSpPr>
          <p:spPr>
            <a:xfrm flipH="false" flipV="false" rot="0">
              <a:off x="0" y="0"/>
              <a:ext cx="10778744" cy="318008"/>
            </a:xfrm>
            <a:custGeom>
              <a:avLst/>
              <a:gdLst/>
              <a:ahLst/>
              <a:cxnLst/>
              <a:rect r="r" b="b" t="t" l="l"/>
              <a:pathLst>
                <a:path h="318008" w="10778744">
                  <a:moveTo>
                    <a:pt x="0" y="0"/>
                  </a:moveTo>
                  <a:lnTo>
                    <a:pt x="10778744" y="0"/>
                  </a:lnTo>
                  <a:lnTo>
                    <a:pt x="10778744" y="318008"/>
                  </a:lnTo>
                  <a:lnTo>
                    <a:pt x="0" y="318008"/>
                  </a:lnTo>
                  <a:close/>
                </a:path>
              </a:pathLst>
            </a:custGeom>
            <a:solidFill>
              <a:srgbClr val="F5582E"/>
            </a:solidFill>
            <a:ln w="19050" cap="sq">
              <a:solidFill>
                <a:srgbClr val="F5582E"/>
              </a:solidFill>
              <a:prstDash val="solid"/>
              <a:miter/>
            </a:ln>
          </p:spPr>
        </p:sp>
      </p:grpSp>
      <p:sp>
        <p:nvSpPr>
          <p:cNvPr name="AutoShape 60" id="60"/>
          <p:cNvSpPr/>
          <p:nvPr/>
        </p:nvSpPr>
        <p:spPr>
          <a:xfrm rot="6060">
            <a:off x="9319727" y="3108770"/>
            <a:ext cx="8106737" cy="0"/>
          </a:xfrm>
          <a:prstGeom prst="line">
            <a:avLst/>
          </a:prstGeom>
          <a:ln cap="rnd" w="9525">
            <a:solidFill>
              <a:srgbClr val="000000"/>
            </a:solidFill>
            <a:prstDash val="solid"/>
            <a:headEnd type="none" len="sm" w="sm"/>
            <a:tailEnd type="none" len="sm" w="sm"/>
          </a:ln>
        </p:spPr>
      </p:sp>
      <p:sp>
        <p:nvSpPr>
          <p:cNvPr name="TextBox 61" id="61"/>
          <p:cNvSpPr txBox="true"/>
          <p:nvPr/>
        </p:nvSpPr>
        <p:spPr>
          <a:xfrm rot="0">
            <a:off x="9669780" y="3360420"/>
            <a:ext cx="74066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B · APPROPRIATENESS</a:t>
            </a:r>
          </a:p>
        </p:txBody>
      </p:sp>
      <p:grpSp>
        <p:nvGrpSpPr>
          <p:cNvPr name="Group 62" id="62"/>
          <p:cNvGrpSpPr/>
          <p:nvPr/>
        </p:nvGrpSpPr>
        <p:grpSpPr>
          <a:xfrm rot="0">
            <a:off x="9669780" y="3909060"/>
            <a:ext cx="2743200" cy="685800"/>
            <a:chOff x="0" y="0"/>
            <a:chExt cx="3657600" cy="914400"/>
          </a:xfrm>
        </p:grpSpPr>
        <p:sp>
          <p:nvSpPr>
            <p:cNvPr name="Freeform 63" id="63"/>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64" id="64"/>
            <p:cNvSpPr txBox="true"/>
            <p:nvPr/>
          </p:nvSpPr>
          <p:spPr>
            <a:xfrm>
              <a:off x="0" y="0"/>
              <a:ext cx="3657600" cy="914400"/>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ViT · E006</a:t>
              </a:r>
            </a:p>
          </p:txBody>
        </p:sp>
      </p:grpSp>
      <p:grpSp>
        <p:nvGrpSpPr>
          <p:cNvPr name="Group 65" id="65"/>
          <p:cNvGrpSpPr/>
          <p:nvPr/>
        </p:nvGrpSpPr>
        <p:grpSpPr>
          <a:xfrm rot="0">
            <a:off x="12540615" y="4009263"/>
            <a:ext cx="2097843" cy="485394"/>
            <a:chOff x="0" y="0"/>
            <a:chExt cx="2797124" cy="647192"/>
          </a:xfrm>
        </p:grpSpPr>
        <p:sp>
          <p:nvSpPr>
            <p:cNvPr name="Freeform 66" id="66"/>
            <p:cNvSpPr/>
            <p:nvPr/>
          </p:nvSpPr>
          <p:spPr>
            <a:xfrm flipH="false" flipV="false" rot="0">
              <a:off x="0" y="0"/>
              <a:ext cx="2797048" cy="647192"/>
            </a:xfrm>
            <a:custGeom>
              <a:avLst/>
              <a:gdLst/>
              <a:ahLst/>
              <a:cxnLst/>
              <a:rect r="r" b="b" t="t" l="l"/>
              <a:pathLst>
                <a:path h="647192" w="2797048">
                  <a:moveTo>
                    <a:pt x="0" y="95123"/>
                  </a:moveTo>
                  <a:cubicBezTo>
                    <a:pt x="0" y="42672"/>
                    <a:pt x="42672" y="0"/>
                    <a:pt x="95123" y="0"/>
                  </a:cubicBezTo>
                  <a:lnTo>
                    <a:pt x="2701925" y="0"/>
                  </a:lnTo>
                  <a:cubicBezTo>
                    <a:pt x="2754503" y="0"/>
                    <a:pt x="2797048" y="42672"/>
                    <a:pt x="2797048" y="95123"/>
                  </a:cubicBezTo>
                  <a:lnTo>
                    <a:pt x="2797048" y="552069"/>
                  </a:lnTo>
                  <a:cubicBezTo>
                    <a:pt x="2797048" y="604647"/>
                    <a:pt x="2754376" y="647192"/>
                    <a:pt x="2701925" y="647192"/>
                  </a:cubicBezTo>
                  <a:lnTo>
                    <a:pt x="95123" y="647192"/>
                  </a:lnTo>
                  <a:cubicBezTo>
                    <a:pt x="42672" y="647192"/>
                    <a:pt x="0" y="604520"/>
                    <a:pt x="0" y="552069"/>
                  </a:cubicBezTo>
                  <a:close/>
                </a:path>
              </a:pathLst>
            </a:custGeom>
            <a:solidFill>
              <a:srgbClr val="9A9A9A"/>
            </a:solidFill>
            <a:ln w="19050" cap="sq">
              <a:solidFill>
                <a:srgbClr val="9A9A9A"/>
              </a:solidFill>
              <a:prstDash val="solid"/>
              <a:miter/>
            </a:ln>
          </p:spPr>
        </p:sp>
      </p:grpSp>
      <p:grpSp>
        <p:nvGrpSpPr>
          <p:cNvPr name="Group 67" id="67"/>
          <p:cNvGrpSpPr/>
          <p:nvPr/>
        </p:nvGrpSpPr>
        <p:grpSpPr>
          <a:xfrm rot="0">
            <a:off x="14738661" y="3909060"/>
            <a:ext cx="1165860" cy="685800"/>
            <a:chOff x="0" y="0"/>
            <a:chExt cx="1554480" cy="914400"/>
          </a:xfrm>
        </p:grpSpPr>
        <p:sp>
          <p:nvSpPr>
            <p:cNvPr name="Freeform 68" id="68"/>
            <p:cNvSpPr/>
            <p:nvPr/>
          </p:nvSpPr>
          <p:spPr>
            <a:xfrm flipH="false" flipV="false" rot="0">
              <a:off x="0" y="0"/>
              <a:ext cx="1554480" cy="914400"/>
            </a:xfrm>
            <a:custGeom>
              <a:avLst/>
              <a:gdLst/>
              <a:ahLst/>
              <a:cxnLst/>
              <a:rect r="r" b="b" t="t" l="l"/>
              <a:pathLst>
                <a:path h="914400" w="1554480">
                  <a:moveTo>
                    <a:pt x="0" y="0"/>
                  </a:moveTo>
                  <a:lnTo>
                    <a:pt x="1554480" y="0"/>
                  </a:lnTo>
                  <a:lnTo>
                    <a:pt x="1554480" y="914400"/>
                  </a:lnTo>
                  <a:lnTo>
                    <a:pt x="0" y="914400"/>
                  </a:lnTo>
                  <a:close/>
                </a:path>
              </a:pathLst>
            </a:custGeom>
            <a:blipFill>
              <a:blip r:embed="rId3">
                <a:alphaModFix amt="0"/>
              </a:blip>
              <a:stretch>
                <a:fillRect l="-25472" t="0" r="-25472" b="0"/>
              </a:stretch>
            </a:blipFill>
          </p:spPr>
        </p:sp>
        <p:sp>
          <p:nvSpPr>
            <p:cNvPr name="TextBox 69" id="69"/>
            <p:cNvSpPr txBox="true"/>
            <p:nvPr/>
          </p:nvSpPr>
          <p:spPr>
            <a:xfrm>
              <a:off x="0" y="0"/>
              <a:ext cx="1554480" cy="914400"/>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0,6315</a:t>
              </a:r>
            </a:p>
          </p:txBody>
        </p:sp>
      </p:grpSp>
      <p:grpSp>
        <p:nvGrpSpPr>
          <p:cNvPr name="Group 70" id="70"/>
          <p:cNvGrpSpPr/>
          <p:nvPr/>
        </p:nvGrpSpPr>
        <p:grpSpPr>
          <a:xfrm rot="0">
            <a:off x="9669780" y="4732020"/>
            <a:ext cx="2743200" cy="685800"/>
            <a:chOff x="0" y="0"/>
            <a:chExt cx="3657600" cy="914400"/>
          </a:xfrm>
        </p:grpSpPr>
        <p:sp>
          <p:nvSpPr>
            <p:cNvPr name="Freeform 71" id="71"/>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72" id="72"/>
            <p:cNvSpPr txBox="true"/>
            <p:nvPr/>
          </p:nvSpPr>
          <p:spPr>
            <a:xfrm>
              <a:off x="0" y="0"/>
              <a:ext cx="3657600" cy="914400"/>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IndoBERTweet · E042</a:t>
              </a:r>
            </a:p>
          </p:txBody>
        </p:sp>
      </p:grpSp>
      <p:grpSp>
        <p:nvGrpSpPr>
          <p:cNvPr name="Group 73" id="73"/>
          <p:cNvGrpSpPr/>
          <p:nvPr/>
        </p:nvGrpSpPr>
        <p:grpSpPr>
          <a:xfrm rot="0">
            <a:off x="12540615" y="4832223"/>
            <a:ext cx="2647255" cy="485394"/>
            <a:chOff x="0" y="0"/>
            <a:chExt cx="3529673" cy="647192"/>
          </a:xfrm>
        </p:grpSpPr>
        <p:sp>
          <p:nvSpPr>
            <p:cNvPr name="Freeform 74" id="74"/>
            <p:cNvSpPr/>
            <p:nvPr/>
          </p:nvSpPr>
          <p:spPr>
            <a:xfrm flipH="false" flipV="false" rot="0">
              <a:off x="0" y="0"/>
              <a:ext cx="3529584" cy="647192"/>
            </a:xfrm>
            <a:custGeom>
              <a:avLst/>
              <a:gdLst/>
              <a:ahLst/>
              <a:cxnLst/>
              <a:rect r="r" b="b" t="t" l="l"/>
              <a:pathLst>
                <a:path h="647192" w="3529584">
                  <a:moveTo>
                    <a:pt x="0" y="95123"/>
                  </a:moveTo>
                  <a:cubicBezTo>
                    <a:pt x="0" y="42672"/>
                    <a:pt x="42672" y="0"/>
                    <a:pt x="95123" y="0"/>
                  </a:cubicBezTo>
                  <a:lnTo>
                    <a:pt x="3434461" y="0"/>
                  </a:lnTo>
                  <a:cubicBezTo>
                    <a:pt x="3487039" y="0"/>
                    <a:pt x="3529584" y="42672"/>
                    <a:pt x="3529584" y="95123"/>
                  </a:cubicBezTo>
                  <a:lnTo>
                    <a:pt x="3529584" y="552069"/>
                  </a:lnTo>
                  <a:cubicBezTo>
                    <a:pt x="3529584" y="604647"/>
                    <a:pt x="3486912" y="647192"/>
                    <a:pt x="3434461" y="647192"/>
                  </a:cubicBezTo>
                  <a:lnTo>
                    <a:pt x="95123" y="647192"/>
                  </a:lnTo>
                  <a:cubicBezTo>
                    <a:pt x="42672" y="647192"/>
                    <a:pt x="0" y="604520"/>
                    <a:pt x="0" y="552069"/>
                  </a:cubicBezTo>
                  <a:close/>
                </a:path>
              </a:pathLst>
            </a:custGeom>
            <a:solidFill>
              <a:srgbClr val="9A9A9A"/>
            </a:solidFill>
            <a:ln w="19050" cap="sq">
              <a:solidFill>
                <a:srgbClr val="9A9A9A"/>
              </a:solidFill>
              <a:prstDash val="solid"/>
              <a:miter/>
            </a:ln>
          </p:spPr>
        </p:sp>
      </p:grpSp>
      <p:grpSp>
        <p:nvGrpSpPr>
          <p:cNvPr name="Group 75" id="75"/>
          <p:cNvGrpSpPr/>
          <p:nvPr/>
        </p:nvGrpSpPr>
        <p:grpSpPr>
          <a:xfrm rot="0">
            <a:off x="15288073" y="4732020"/>
            <a:ext cx="1165860" cy="685800"/>
            <a:chOff x="0" y="0"/>
            <a:chExt cx="1554480" cy="914400"/>
          </a:xfrm>
        </p:grpSpPr>
        <p:sp>
          <p:nvSpPr>
            <p:cNvPr name="Freeform 76" id="76"/>
            <p:cNvSpPr/>
            <p:nvPr/>
          </p:nvSpPr>
          <p:spPr>
            <a:xfrm flipH="false" flipV="false" rot="0">
              <a:off x="0" y="0"/>
              <a:ext cx="1554480" cy="914400"/>
            </a:xfrm>
            <a:custGeom>
              <a:avLst/>
              <a:gdLst/>
              <a:ahLst/>
              <a:cxnLst/>
              <a:rect r="r" b="b" t="t" l="l"/>
              <a:pathLst>
                <a:path h="914400" w="1554480">
                  <a:moveTo>
                    <a:pt x="0" y="0"/>
                  </a:moveTo>
                  <a:lnTo>
                    <a:pt x="1554480" y="0"/>
                  </a:lnTo>
                  <a:lnTo>
                    <a:pt x="1554480" y="914400"/>
                  </a:lnTo>
                  <a:lnTo>
                    <a:pt x="0" y="914400"/>
                  </a:lnTo>
                  <a:close/>
                </a:path>
              </a:pathLst>
            </a:custGeom>
            <a:blipFill>
              <a:blip r:embed="rId3">
                <a:alphaModFix amt="0"/>
              </a:blip>
              <a:stretch>
                <a:fillRect l="-25472" t="0" r="-25472" b="0"/>
              </a:stretch>
            </a:blipFill>
          </p:spPr>
        </p:sp>
        <p:sp>
          <p:nvSpPr>
            <p:cNvPr name="TextBox 77" id="77"/>
            <p:cNvSpPr txBox="true"/>
            <p:nvPr/>
          </p:nvSpPr>
          <p:spPr>
            <a:xfrm>
              <a:off x="0" y="0"/>
              <a:ext cx="1554480" cy="914400"/>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0,7984</a:t>
              </a:r>
            </a:p>
          </p:txBody>
        </p:sp>
      </p:grpSp>
      <p:grpSp>
        <p:nvGrpSpPr>
          <p:cNvPr name="Group 78" id="78"/>
          <p:cNvGrpSpPr/>
          <p:nvPr/>
        </p:nvGrpSpPr>
        <p:grpSpPr>
          <a:xfrm rot="0">
            <a:off x="9669780" y="5554980"/>
            <a:ext cx="2743200" cy="685800"/>
            <a:chOff x="0" y="0"/>
            <a:chExt cx="3657600" cy="914400"/>
          </a:xfrm>
        </p:grpSpPr>
        <p:sp>
          <p:nvSpPr>
            <p:cNvPr name="Freeform 79" id="79"/>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80" id="80"/>
            <p:cNvSpPr txBox="true"/>
            <p:nvPr/>
          </p:nvSpPr>
          <p:spPr>
            <a:xfrm>
              <a:off x="0" y="0"/>
              <a:ext cx="3657600" cy="914400"/>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Fusi · E060</a:t>
              </a:r>
            </a:p>
          </p:txBody>
        </p:sp>
      </p:grpSp>
      <p:grpSp>
        <p:nvGrpSpPr>
          <p:cNvPr name="Group 81" id="81"/>
          <p:cNvGrpSpPr/>
          <p:nvPr/>
        </p:nvGrpSpPr>
        <p:grpSpPr>
          <a:xfrm rot="0">
            <a:off x="12540615" y="5655183"/>
            <a:ext cx="2693670" cy="485394"/>
            <a:chOff x="0" y="0"/>
            <a:chExt cx="3591560" cy="647192"/>
          </a:xfrm>
        </p:grpSpPr>
        <p:sp>
          <p:nvSpPr>
            <p:cNvPr name="Freeform 82" id="82"/>
            <p:cNvSpPr/>
            <p:nvPr/>
          </p:nvSpPr>
          <p:spPr>
            <a:xfrm flipH="false" flipV="false" rot="0">
              <a:off x="0" y="0"/>
              <a:ext cx="3591560" cy="647192"/>
            </a:xfrm>
            <a:custGeom>
              <a:avLst/>
              <a:gdLst/>
              <a:ahLst/>
              <a:cxnLst/>
              <a:rect r="r" b="b" t="t" l="l"/>
              <a:pathLst>
                <a:path h="647192" w="3591560">
                  <a:moveTo>
                    <a:pt x="0" y="95123"/>
                  </a:moveTo>
                  <a:cubicBezTo>
                    <a:pt x="0" y="42672"/>
                    <a:pt x="42672" y="0"/>
                    <a:pt x="95123" y="0"/>
                  </a:cubicBezTo>
                  <a:lnTo>
                    <a:pt x="3496437" y="0"/>
                  </a:lnTo>
                  <a:cubicBezTo>
                    <a:pt x="3549015" y="0"/>
                    <a:pt x="3591560" y="42672"/>
                    <a:pt x="3591560" y="95123"/>
                  </a:cubicBezTo>
                  <a:lnTo>
                    <a:pt x="3591560" y="552069"/>
                  </a:lnTo>
                  <a:cubicBezTo>
                    <a:pt x="3591560" y="604647"/>
                    <a:pt x="3548888" y="647192"/>
                    <a:pt x="3496437" y="647192"/>
                  </a:cubicBezTo>
                  <a:lnTo>
                    <a:pt x="95123" y="647192"/>
                  </a:lnTo>
                  <a:cubicBezTo>
                    <a:pt x="42672" y="647192"/>
                    <a:pt x="0" y="604520"/>
                    <a:pt x="0" y="552069"/>
                  </a:cubicBezTo>
                  <a:close/>
                </a:path>
              </a:pathLst>
            </a:custGeom>
            <a:solidFill>
              <a:srgbClr val="F5582E"/>
            </a:solidFill>
            <a:ln w="19050" cap="sq">
              <a:solidFill>
                <a:srgbClr val="F5582E"/>
              </a:solidFill>
              <a:prstDash val="solid"/>
              <a:miter/>
            </a:ln>
          </p:spPr>
        </p:sp>
      </p:grpSp>
      <p:grpSp>
        <p:nvGrpSpPr>
          <p:cNvPr name="Group 83" id="83"/>
          <p:cNvGrpSpPr/>
          <p:nvPr/>
        </p:nvGrpSpPr>
        <p:grpSpPr>
          <a:xfrm rot="0">
            <a:off x="15334488" y="5554980"/>
            <a:ext cx="1165860" cy="685800"/>
            <a:chOff x="0" y="0"/>
            <a:chExt cx="1554480" cy="914400"/>
          </a:xfrm>
        </p:grpSpPr>
        <p:sp>
          <p:nvSpPr>
            <p:cNvPr name="Freeform 84" id="84"/>
            <p:cNvSpPr/>
            <p:nvPr/>
          </p:nvSpPr>
          <p:spPr>
            <a:xfrm flipH="false" flipV="false" rot="0">
              <a:off x="0" y="0"/>
              <a:ext cx="1554480" cy="914400"/>
            </a:xfrm>
            <a:custGeom>
              <a:avLst/>
              <a:gdLst/>
              <a:ahLst/>
              <a:cxnLst/>
              <a:rect r="r" b="b" t="t" l="l"/>
              <a:pathLst>
                <a:path h="914400" w="1554480">
                  <a:moveTo>
                    <a:pt x="0" y="0"/>
                  </a:moveTo>
                  <a:lnTo>
                    <a:pt x="1554480" y="0"/>
                  </a:lnTo>
                  <a:lnTo>
                    <a:pt x="1554480" y="914400"/>
                  </a:lnTo>
                  <a:lnTo>
                    <a:pt x="0" y="914400"/>
                  </a:lnTo>
                  <a:close/>
                </a:path>
              </a:pathLst>
            </a:custGeom>
            <a:blipFill>
              <a:blip r:embed="rId3">
                <a:alphaModFix amt="0"/>
              </a:blip>
              <a:stretch>
                <a:fillRect l="-25472" t="0" r="-25472" b="0"/>
              </a:stretch>
            </a:blipFill>
          </p:spPr>
        </p:sp>
        <p:sp>
          <p:nvSpPr>
            <p:cNvPr name="TextBox 85" id="85"/>
            <p:cNvSpPr txBox="true"/>
            <p:nvPr/>
          </p:nvSpPr>
          <p:spPr>
            <a:xfrm>
              <a:off x="0" y="0"/>
              <a:ext cx="1554480" cy="914400"/>
            </a:xfrm>
            <a:prstGeom prst="rect">
              <a:avLst/>
            </a:prstGeom>
          </p:spPr>
          <p:txBody>
            <a:bodyPr anchor="ctr" rtlCol="false" tIns="0" lIns="0" bIns="0" rIns="0"/>
            <a:lstStyle/>
            <a:p>
              <a:pPr algn="l">
                <a:lnSpc>
                  <a:spcPts val="2160"/>
                </a:lnSpc>
              </a:pPr>
              <a:r>
                <a:rPr lang="en-US" sz="1800" b="true">
                  <a:solidFill>
                    <a:srgbClr val="F5582E"/>
                  </a:solidFill>
                  <a:latin typeface="Helvetica World Bold"/>
                  <a:ea typeface="Helvetica World Bold"/>
                  <a:cs typeface="Helvetica World Bold"/>
                  <a:sym typeface="Helvetica World Bold"/>
                </a:rPr>
                <a:t>0,8125</a:t>
              </a:r>
            </a:p>
          </p:txBody>
        </p:sp>
      </p:grpSp>
      <p:grpSp>
        <p:nvGrpSpPr>
          <p:cNvPr name="Group 86" id="86"/>
          <p:cNvGrpSpPr/>
          <p:nvPr/>
        </p:nvGrpSpPr>
        <p:grpSpPr>
          <a:xfrm rot="0">
            <a:off x="9669780" y="6377940"/>
            <a:ext cx="2743200" cy="685800"/>
            <a:chOff x="0" y="0"/>
            <a:chExt cx="3657600" cy="914400"/>
          </a:xfrm>
        </p:grpSpPr>
        <p:sp>
          <p:nvSpPr>
            <p:cNvPr name="Freeform 87" id="87"/>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88" id="88"/>
            <p:cNvSpPr txBox="true"/>
            <p:nvPr/>
          </p:nvSpPr>
          <p:spPr>
            <a:xfrm>
              <a:off x="0" y="0"/>
              <a:ext cx="3657600" cy="914400"/>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Multitask Teks · E101</a:t>
              </a:r>
            </a:p>
          </p:txBody>
        </p:sp>
      </p:grpSp>
      <p:grpSp>
        <p:nvGrpSpPr>
          <p:cNvPr name="Group 89" id="89"/>
          <p:cNvGrpSpPr/>
          <p:nvPr/>
        </p:nvGrpSpPr>
        <p:grpSpPr>
          <a:xfrm rot="0">
            <a:off x="12540615" y="6478143"/>
            <a:ext cx="2646264" cy="485394"/>
            <a:chOff x="0" y="0"/>
            <a:chExt cx="3528352" cy="647192"/>
          </a:xfrm>
        </p:grpSpPr>
        <p:sp>
          <p:nvSpPr>
            <p:cNvPr name="Freeform 90" id="90"/>
            <p:cNvSpPr/>
            <p:nvPr/>
          </p:nvSpPr>
          <p:spPr>
            <a:xfrm flipH="false" flipV="false" rot="0">
              <a:off x="0" y="0"/>
              <a:ext cx="3528314" cy="647192"/>
            </a:xfrm>
            <a:custGeom>
              <a:avLst/>
              <a:gdLst/>
              <a:ahLst/>
              <a:cxnLst/>
              <a:rect r="r" b="b" t="t" l="l"/>
              <a:pathLst>
                <a:path h="647192" w="3528314">
                  <a:moveTo>
                    <a:pt x="0" y="95123"/>
                  </a:moveTo>
                  <a:cubicBezTo>
                    <a:pt x="0" y="42672"/>
                    <a:pt x="42672" y="0"/>
                    <a:pt x="95123" y="0"/>
                  </a:cubicBezTo>
                  <a:lnTo>
                    <a:pt x="3433191" y="0"/>
                  </a:lnTo>
                  <a:cubicBezTo>
                    <a:pt x="3485769" y="0"/>
                    <a:pt x="3528314" y="42672"/>
                    <a:pt x="3528314" y="95123"/>
                  </a:cubicBezTo>
                  <a:lnTo>
                    <a:pt x="3528314" y="552069"/>
                  </a:lnTo>
                  <a:cubicBezTo>
                    <a:pt x="3528314" y="604647"/>
                    <a:pt x="3485642" y="647192"/>
                    <a:pt x="3433191" y="647192"/>
                  </a:cubicBezTo>
                  <a:lnTo>
                    <a:pt x="95123" y="647192"/>
                  </a:lnTo>
                  <a:cubicBezTo>
                    <a:pt x="42672" y="647192"/>
                    <a:pt x="0" y="604520"/>
                    <a:pt x="0" y="552069"/>
                  </a:cubicBezTo>
                  <a:close/>
                </a:path>
              </a:pathLst>
            </a:custGeom>
            <a:solidFill>
              <a:srgbClr val="9A9A9A"/>
            </a:solidFill>
            <a:ln w="19050" cap="sq">
              <a:solidFill>
                <a:srgbClr val="9A9A9A"/>
              </a:solidFill>
              <a:prstDash val="solid"/>
              <a:miter/>
            </a:ln>
          </p:spPr>
        </p:sp>
      </p:grpSp>
      <p:grpSp>
        <p:nvGrpSpPr>
          <p:cNvPr name="Group 91" id="91"/>
          <p:cNvGrpSpPr/>
          <p:nvPr/>
        </p:nvGrpSpPr>
        <p:grpSpPr>
          <a:xfrm rot="0">
            <a:off x="15287082" y="6377940"/>
            <a:ext cx="1165860" cy="685800"/>
            <a:chOff x="0" y="0"/>
            <a:chExt cx="1554480" cy="914400"/>
          </a:xfrm>
        </p:grpSpPr>
        <p:sp>
          <p:nvSpPr>
            <p:cNvPr name="Freeform 92" id="92"/>
            <p:cNvSpPr/>
            <p:nvPr/>
          </p:nvSpPr>
          <p:spPr>
            <a:xfrm flipH="false" flipV="false" rot="0">
              <a:off x="0" y="0"/>
              <a:ext cx="1554480" cy="914400"/>
            </a:xfrm>
            <a:custGeom>
              <a:avLst/>
              <a:gdLst/>
              <a:ahLst/>
              <a:cxnLst/>
              <a:rect r="r" b="b" t="t" l="l"/>
              <a:pathLst>
                <a:path h="914400" w="1554480">
                  <a:moveTo>
                    <a:pt x="0" y="0"/>
                  </a:moveTo>
                  <a:lnTo>
                    <a:pt x="1554480" y="0"/>
                  </a:lnTo>
                  <a:lnTo>
                    <a:pt x="1554480" y="914400"/>
                  </a:lnTo>
                  <a:lnTo>
                    <a:pt x="0" y="914400"/>
                  </a:lnTo>
                  <a:close/>
                </a:path>
              </a:pathLst>
            </a:custGeom>
            <a:blipFill>
              <a:blip r:embed="rId3">
                <a:alphaModFix amt="0"/>
              </a:blip>
              <a:stretch>
                <a:fillRect l="-25472" t="0" r="-25472" b="0"/>
              </a:stretch>
            </a:blipFill>
          </p:spPr>
        </p:sp>
        <p:sp>
          <p:nvSpPr>
            <p:cNvPr name="TextBox 93" id="93"/>
            <p:cNvSpPr txBox="true"/>
            <p:nvPr/>
          </p:nvSpPr>
          <p:spPr>
            <a:xfrm>
              <a:off x="0" y="0"/>
              <a:ext cx="1554480" cy="914400"/>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0,7981</a:t>
              </a:r>
            </a:p>
          </p:txBody>
        </p:sp>
      </p:grpSp>
      <p:grpSp>
        <p:nvGrpSpPr>
          <p:cNvPr name="Group 94" id="94"/>
          <p:cNvGrpSpPr/>
          <p:nvPr/>
        </p:nvGrpSpPr>
        <p:grpSpPr>
          <a:xfrm rot="0">
            <a:off x="9669780" y="7200900"/>
            <a:ext cx="2743200" cy="685800"/>
            <a:chOff x="0" y="0"/>
            <a:chExt cx="3657600" cy="914400"/>
          </a:xfrm>
        </p:grpSpPr>
        <p:sp>
          <p:nvSpPr>
            <p:cNvPr name="Freeform 95" id="95"/>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96" id="96"/>
            <p:cNvSpPr txBox="true"/>
            <p:nvPr/>
          </p:nvSpPr>
          <p:spPr>
            <a:xfrm>
              <a:off x="0" y="0"/>
              <a:ext cx="3657600" cy="914400"/>
            </a:xfrm>
            <a:prstGeom prst="rect">
              <a:avLst/>
            </a:prstGeom>
          </p:spPr>
          <p:txBody>
            <a:bodyPr anchor="ctr" rtlCol="false" tIns="0" lIns="0" bIns="0" rIns="0"/>
            <a:lstStyle/>
            <a:p>
              <a:pPr algn="l">
                <a:lnSpc>
                  <a:spcPts val="2160"/>
                </a:lnSpc>
              </a:pPr>
              <a:r>
                <a:rPr lang="en-US" sz="1800">
                  <a:solidFill>
                    <a:srgbClr val="000000"/>
                  </a:solidFill>
                  <a:latin typeface="Helvetica World"/>
                  <a:ea typeface="Helvetica World"/>
                  <a:cs typeface="Helvetica World"/>
                  <a:sym typeface="Helvetica World"/>
                </a:rPr>
                <a:t>Multitask Fusi · E110</a:t>
              </a:r>
            </a:p>
          </p:txBody>
        </p:sp>
      </p:grpSp>
      <p:grpSp>
        <p:nvGrpSpPr>
          <p:cNvPr name="Group 97" id="97"/>
          <p:cNvGrpSpPr/>
          <p:nvPr/>
        </p:nvGrpSpPr>
        <p:grpSpPr>
          <a:xfrm rot="0">
            <a:off x="12540615" y="7301103"/>
            <a:ext cx="2688403" cy="485394"/>
            <a:chOff x="0" y="0"/>
            <a:chExt cx="3584537" cy="647192"/>
          </a:xfrm>
        </p:grpSpPr>
        <p:sp>
          <p:nvSpPr>
            <p:cNvPr name="Freeform 98" id="98"/>
            <p:cNvSpPr/>
            <p:nvPr/>
          </p:nvSpPr>
          <p:spPr>
            <a:xfrm flipH="false" flipV="false" rot="0">
              <a:off x="0" y="0"/>
              <a:ext cx="3584448" cy="647192"/>
            </a:xfrm>
            <a:custGeom>
              <a:avLst/>
              <a:gdLst/>
              <a:ahLst/>
              <a:cxnLst/>
              <a:rect r="r" b="b" t="t" l="l"/>
              <a:pathLst>
                <a:path h="647192" w="3584448">
                  <a:moveTo>
                    <a:pt x="0" y="95123"/>
                  </a:moveTo>
                  <a:cubicBezTo>
                    <a:pt x="0" y="42672"/>
                    <a:pt x="42672" y="0"/>
                    <a:pt x="95123" y="0"/>
                  </a:cubicBezTo>
                  <a:lnTo>
                    <a:pt x="3489325" y="0"/>
                  </a:lnTo>
                  <a:cubicBezTo>
                    <a:pt x="3541903" y="0"/>
                    <a:pt x="3584448" y="42672"/>
                    <a:pt x="3584448" y="95123"/>
                  </a:cubicBezTo>
                  <a:lnTo>
                    <a:pt x="3584448" y="552069"/>
                  </a:lnTo>
                  <a:cubicBezTo>
                    <a:pt x="3584448" y="604647"/>
                    <a:pt x="3541776" y="647192"/>
                    <a:pt x="3489325" y="647192"/>
                  </a:cubicBezTo>
                  <a:lnTo>
                    <a:pt x="95123" y="647192"/>
                  </a:lnTo>
                  <a:cubicBezTo>
                    <a:pt x="42672" y="647192"/>
                    <a:pt x="0" y="604520"/>
                    <a:pt x="0" y="552069"/>
                  </a:cubicBezTo>
                  <a:close/>
                </a:path>
              </a:pathLst>
            </a:custGeom>
            <a:solidFill>
              <a:srgbClr val="9A9A9A"/>
            </a:solidFill>
            <a:ln w="19050" cap="sq">
              <a:solidFill>
                <a:srgbClr val="9A9A9A"/>
              </a:solidFill>
              <a:prstDash val="solid"/>
              <a:miter/>
            </a:ln>
          </p:spPr>
        </p:sp>
      </p:grpSp>
      <p:grpSp>
        <p:nvGrpSpPr>
          <p:cNvPr name="Group 99" id="99"/>
          <p:cNvGrpSpPr/>
          <p:nvPr/>
        </p:nvGrpSpPr>
        <p:grpSpPr>
          <a:xfrm rot="0">
            <a:off x="15329221" y="7200900"/>
            <a:ext cx="1165860" cy="685800"/>
            <a:chOff x="0" y="0"/>
            <a:chExt cx="1554480" cy="914400"/>
          </a:xfrm>
        </p:grpSpPr>
        <p:sp>
          <p:nvSpPr>
            <p:cNvPr name="Freeform 100" id="100"/>
            <p:cNvSpPr/>
            <p:nvPr/>
          </p:nvSpPr>
          <p:spPr>
            <a:xfrm flipH="false" flipV="false" rot="0">
              <a:off x="0" y="0"/>
              <a:ext cx="1554480" cy="914400"/>
            </a:xfrm>
            <a:custGeom>
              <a:avLst/>
              <a:gdLst/>
              <a:ahLst/>
              <a:cxnLst/>
              <a:rect r="r" b="b" t="t" l="l"/>
              <a:pathLst>
                <a:path h="914400" w="1554480">
                  <a:moveTo>
                    <a:pt x="0" y="0"/>
                  </a:moveTo>
                  <a:lnTo>
                    <a:pt x="1554480" y="0"/>
                  </a:lnTo>
                  <a:lnTo>
                    <a:pt x="1554480" y="914400"/>
                  </a:lnTo>
                  <a:lnTo>
                    <a:pt x="0" y="914400"/>
                  </a:lnTo>
                  <a:close/>
                </a:path>
              </a:pathLst>
            </a:custGeom>
            <a:blipFill>
              <a:blip r:embed="rId3">
                <a:alphaModFix amt="0"/>
              </a:blip>
              <a:stretch>
                <a:fillRect l="-25472" t="0" r="-25472" b="0"/>
              </a:stretch>
            </a:blipFill>
          </p:spPr>
        </p:sp>
        <p:sp>
          <p:nvSpPr>
            <p:cNvPr name="TextBox 101" id="101"/>
            <p:cNvSpPr txBox="true"/>
            <p:nvPr/>
          </p:nvSpPr>
          <p:spPr>
            <a:xfrm>
              <a:off x="0" y="0"/>
              <a:ext cx="1554480" cy="914400"/>
            </a:xfrm>
            <a:prstGeom prst="rect">
              <a:avLst/>
            </a:prstGeom>
          </p:spPr>
          <p:txBody>
            <a:bodyPr anchor="ctr" rtlCol="false" tIns="0" lIns="0" bIns="0" rIns="0"/>
            <a:lstStyle/>
            <a:p>
              <a:pPr algn="l">
                <a:lnSpc>
                  <a:spcPts val="2160"/>
                </a:lnSpc>
              </a:pPr>
              <a:r>
                <a:rPr lang="en-US" sz="1800" b="true">
                  <a:solidFill>
                    <a:srgbClr val="000000"/>
                  </a:solidFill>
                  <a:latin typeface="Helvetica World Bold"/>
                  <a:ea typeface="Helvetica World Bold"/>
                  <a:cs typeface="Helvetica World Bold"/>
                  <a:sym typeface="Helvetica World Bold"/>
                </a:rPr>
                <a:t>0,8109</a:t>
              </a:r>
            </a:p>
          </p:txBody>
        </p:sp>
      </p:grpSp>
      <p:sp>
        <p:nvSpPr>
          <p:cNvPr name="TextBox 102" id="102"/>
          <p:cNvSpPr txBox="true"/>
          <p:nvPr/>
        </p:nvSpPr>
        <p:spPr>
          <a:xfrm rot="0">
            <a:off x="9669780" y="8170545"/>
            <a:ext cx="7406640" cy="333375"/>
          </a:xfrm>
          <a:prstGeom prst="rect">
            <a:avLst/>
          </a:prstGeom>
        </p:spPr>
        <p:txBody>
          <a:bodyPr anchor="t" rtlCol="false" tIns="0" lIns="0" bIns="0" rIns="0">
            <a:spAutoFit/>
          </a:bodyPr>
          <a:lstStyle/>
          <a:p>
            <a:pPr algn="l">
              <a:lnSpc>
                <a:spcPts val="1980"/>
              </a:lnSpc>
            </a:pPr>
            <a:r>
              <a:rPr lang="en-US" sz="1650">
                <a:solidFill>
                  <a:srgbClr val="595959"/>
                </a:solidFill>
                <a:latin typeface="Helvetica World"/>
                <a:ea typeface="Helvetica World"/>
                <a:cs typeface="Helvetica World"/>
                <a:sym typeface="Helvetica World"/>
              </a:rPr>
              <a:t>Macro-F1 data uji resmi (1.005 meme) · skala 0–1,0 penuh</a:t>
            </a:r>
          </a:p>
        </p:txBody>
      </p:sp>
      <p:sp>
        <p:nvSpPr>
          <p:cNvPr name="TextBox 103" id="103"/>
          <p:cNvSpPr txBox="true"/>
          <p:nvPr/>
        </p:nvSpPr>
        <p:spPr>
          <a:xfrm rot="0">
            <a:off x="9669780" y="8641080"/>
            <a:ext cx="7406640" cy="411480"/>
          </a:xfrm>
          <a:prstGeom prst="rect">
            <a:avLst/>
          </a:prstGeom>
        </p:spPr>
        <p:txBody>
          <a:bodyPr anchor="t" rtlCol="false" tIns="0" lIns="0" bIns="0" rIns="0">
            <a:spAutoFit/>
          </a:bodyPr>
          <a:lstStyle/>
          <a:p>
            <a:pPr algn="l">
              <a:lnSpc>
                <a:spcPts val="2340"/>
              </a:lnSpc>
            </a:pPr>
            <a:r>
              <a:rPr lang="en-US" sz="1950" b="true">
                <a:solidFill>
                  <a:srgbClr val="000000"/>
                </a:solidFill>
                <a:latin typeface="Helvetica World Bold"/>
                <a:ea typeface="Helvetica World Bold"/>
                <a:cs typeface="Helvetica World Bold"/>
                <a:sym typeface="Helvetica World Bold"/>
              </a:rPr>
              <a:t>Tertinggi: E060 Fusi, 0,8125</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9</a:t>
            </a:r>
          </a:p>
        </p:txBody>
      </p:sp>
      <p:sp>
        <p:nvSpPr>
          <p:cNvPr name="TextBox 3" id="3"/>
          <p:cNvSpPr txBox="true"/>
          <p:nvPr/>
        </p:nvSpPr>
        <p:spPr>
          <a:xfrm rot="0">
            <a:off x="822960" y="645795"/>
            <a:ext cx="16596360" cy="1655445"/>
          </a:xfrm>
          <a:prstGeom prst="rect">
            <a:avLst/>
          </a:prstGeom>
        </p:spPr>
        <p:txBody>
          <a:bodyPr anchor="t" rtlCol="false" tIns="0" lIns="0" bIns="0" rIns="0">
            <a:spAutoFit/>
          </a:bodyPr>
          <a:lstStyle/>
          <a:p>
            <a:pPr algn="l">
              <a:lnSpc>
                <a:spcPts val="6155"/>
              </a:lnSpc>
            </a:pPr>
            <a:r>
              <a:rPr lang="en-US" sz="5400" b="true">
                <a:solidFill>
                  <a:srgbClr val="F5582E"/>
                </a:solidFill>
                <a:latin typeface="Helvetica World Bold"/>
                <a:ea typeface="Helvetica World Bold"/>
                <a:cs typeface="Helvetica World Bold"/>
                <a:sym typeface="Helvetica World Bold"/>
              </a:rPr>
              <a:t>APAKAH PENAMBAHAN VISUAL</a:t>
            </a:r>
          </a:p>
          <a:p>
            <a:pPr algn="l">
              <a:lnSpc>
                <a:spcPts val="5472"/>
              </a:lnSpc>
            </a:pPr>
            <a:r>
              <a:rPr lang="en-US" sz="4800" i="true">
                <a:solidFill>
                  <a:srgbClr val="000000"/>
                </a:solidFill>
                <a:latin typeface="Noto Serif Italics"/>
                <a:ea typeface="Noto Serif Italics"/>
                <a:cs typeface="Noto Serif Italics"/>
                <a:sym typeface="Noto Serif Italics"/>
              </a:rPr>
              <a:t>Selalu Meningkatkan Kinerja?</a:t>
            </a:r>
          </a:p>
        </p:txBody>
      </p:sp>
      <p:grpSp>
        <p:nvGrpSpPr>
          <p:cNvPr name="Group 4" id="4"/>
          <p:cNvGrpSpPr/>
          <p:nvPr/>
        </p:nvGrpSpPr>
        <p:grpSpPr>
          <a:xfrm rot="0">
            <a:off x="815816" y="2667476"/>
            <a:ext cx="8106728" cy="5432108"/>
            <a:chOff x="0" y="0"/>
            <a:chExt cx="10808970" cy="7242810"/>
          </a:xfrm>
        </p:grpSpPr>
        <p:sp>
          <p:nvSpPr>
            <p:cNvPr name="Freeform 5" id="5"/>
            <p:cNvSpPr/>
            <p:nvPr/>
          </p:nvSpPr>
          <p:spPr>
            <a:xfrm flipH="false" flipV="false" rot="0">
              <a:off x="0" y="0"/>
              <a:ext cx="10808970" cy="7242810"/>
            </a:xfrm>
            <a:custGeom>
              <a:avLst/>
              <a:gdLst/>
              <a:ahLst/>
              <a:cxnLst/>
              <a:rect r="r" b="b" t="t" l="l"/>
              <a:pathLst>
                <a:path h="7242810" w="10808970">
                  <a:moveTo>
                    <a:pt x="0" y="220091"/>
                  </a:moveTo>
                  <a:cubicBezTo>
                    <a:pt x="0" y="98552"/>
                    <a:pt x="98552" y="0"/>
                    <a:pt x="220091" y="0"/>
                  </a:cubicBezTo>
                  <a:lnTo>
                    <a:pt x="10588879" y="0"/>
                  </a:lnTo>
                  <a:cubicBezTo>
                    <a:pt x="10710418" y="0"/>
                    <a:pt x="10808970" y="98552"/>
                    <a:pt x="10808970" y="220091"/>
                  </a:cubicBezTo>
                  <a:lnTo>
                    <a:pt x="10808970" y="7022719"/>
                  </a:lnTo>
                  <a:cubicBezTo>
                    <a:pt x="10808970" y="7144258"/>
                    <a:pt x="10710418" y="7242810"/>
                    <a:pt x="10588879" y="7242810"/>
                  </a:cubicBezTo>
                  <a:lnTo>
                    <a:pt x="220091" y="7242810"/>
                  </a:lnTo>
                  <a:cubicBezTo>
                    <a:pt x="98552" y="7242810"/>
                    <a:pt x="0" y="7144258"/>
                    <a:pt x="0" y="7022719"/>
                  </a:cubicBezTo>
                  <a:close/>
                </a:path>
              </a:pathLst>
            </a:custGeom>
            <a:solidFill>
              <a:srgbClr val="FFFFFF"/>
            </a:solidFill>
            <a:ln w="14288" cap="sq">
              <a:solidFill>
                <a:srgbClr val="000000"/>
              </a:solidFill>
              <a:prstDash val="solid"/>
              <a:miter/>
            </a:ln>
          </p:spPr>
        </p:sp>
      </p:grpSp>
      <p:grpSp>
        <p:nvGrpSpPr>
          <p:cNvPr name="Group 6" id="6"/>
          <p:cNvGrpSpPr/>
          <p:nvPr/>
        </p:nvGrpSpPr>
        <p:grpSpPr>
          <a:xfrm rot="0">
            <a:off x="815816" y="2667476"/>
            <a:ext cx="8106728" cy="453200"/>
            <a:chOff x="0" y="0"/>
            <a:chExt cx="10808970" cy="604266"/>
          </a:xfrm>
        </p:grpSpPr>
        <p:sp>
          <p:nvSpPr>
            <p:cNvPr name="Freeform 7" id="7"/>
            <p:cNvSpPr/>
            <p:nvPr/>
          </p:nvSpPr>
          <p:spPr>
            <a:xfrm flipH="false" flipV="false" rot="0">
              <a:off x="0" y="0"/>
              <a:ext cx="10808970" cy="604266"/>
            </a:xfrm>
            <a:custGeom>
              <a:avLst/>
              <a:gdLst/>
              <a:ahLst/>
              <a:cxnLst/>
              <a:rect r="r" b="b" t="t" l="l"/>
              <a:pathLst>
                <a:path h="604266" w="10808970">
                  <a:moveTo>
                    <a:pt x="0" y="226568"/>
                  </a:moveTo>
                  <a:cubicBezTo>
                    <a:pt x="0" y="101473"/>
                    <a:pt x="101473" y="0"/>
                    <a:pt x="226568" y="0"/>
                  </a:cubicBezTo>
                  <a:lnTo>
                    <a:pt x="10582402" y="0"/>
                  </a:lnTo>
                  <a:cubicBezTo>
                    <a:pt x="10707497" y="0"/>
                    <a:pt x="10808970" y="101473"/>
                    <a:pt x="10808970" y="226568"/>
                  </a:cubicBezTo>
                  <a:lnTo>
                    <a:pt x="10808970" y="377698"/>
                  </a:lnTo>
                  <a:cubicBezTo>
                    <a:pt x="10808970" y="502793"/>
                    <a:pt x="10707497" y="604266"/>
                    <a:pt x="105824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8" id="8"/>
          <p:cNvGrpSpPr/>
          <p:nvPr/>
        </p:nvGrpSpPr>
        <p:grpSpPr>
          <a:xfrm rot="0">
            <a:off x="827151" y="2884551"/>
            <a:ext cx="8084058" cy="238506"/>
            <a:chOff x="0" y="0"/>
            <a:chExt cx="10778744" cy="318008"/>
          </a:xfrm>
        </p:grpSpPr>
        <p:sp>
          <p:nvSpPr>
            <p:cNvPr name="Freeform 9" id="9"/>
            <p:cNvSpPr/>
            <p:nvPr/>
          </p:nvSpPr>
          <p:spPr>
            <a:xfrm flipH="false" flipV="false" rot="0">
              <a:off x="0" y="0"/>
              <a:ext cx="10778744" cy="318008"/>
            </a:xfrm>
            <a:custGeom>
              <a:avLst/>
              <a:gdLst/>
              <a:ahLst/>
              <a:cxnLst/>
              <a:rect r="r" b="b" t="t" l="l"/>
              <a:pathLst>
                <a:path h="318008" w="10778744">
                  <a:moveTo>
                    <a:pt x="0" y="0"/>
                  </a:moveTo>
                  <a:lnTo>
                    <a:pt x="10778744" y="0"/>
                  </a:lnTo>
                  <a:lnTo>
                    <a:pt x="10778744" y="318008"/>
                  </a:lnTo>
                  <a:lnTo>
                    <a:pt x="0" y="318008"/>
                  </a:lnTo>
                  <a:close/>
                </a:path>
              </a:pathLst>
            </a:custGeom>
            <a:solidFill>
              <a:srgbClr val="F5582E"/>
            </a:solidFill>
            <a:ln w="19050" cap="sq">
              <a:solidFill>
                <a:srgbClr val="F5582E"/>
              </a:solidFill>
              <a:prstDash val="solid"/>
              <a:miter/>
            </a:ln>
          </p:spPr>
        </p:sp>
      </p:grpSp>
      <p:sp>
        <p:nvSpPr>
          <p:cNvPr name="AutoShape 10" id="10"/>
          <p:cNvSpPr/>
          <p:nvPr/>
        </p:nvSpPr>
        <p:spPr>
          <a:xfrm rot="6060">
            <a:off x="815807" y="3108770"/>
            <a:ext cx="8106737" cy="0"/>
          </a:xfrm>
          <a:prstGeom prst="line">
            <a:avLst/>
          </a:prstGeom>
          <a:ln cap="rnd" w="9525">
            <a:solidFill>
              <a:srgbClr val="000000"/>
            </a:solidFill>
            <a:prstDash val="solid"/>
            <a:headEnd type="none" len="sm" w="sm"/>
            <a:tailEnd type="none" len="sm" w="sm"/>
          </a:ln>
        </p:spPr>
      </p:sp>
      <p:sp>
        <p:nvSpPr>
          <p:cNvPr name="TextBox 11" id="11"/>
          <p:cNvSpPr txBox="true"/>
          <p:nvPr/>
        </p:nvSpPr>
        <p:spPr>
          <a:xfrm rot="0">
            <a:off x="1165860" y="3282315"/>
            <a:ext cx="7406640" cy="421005"/>
          </a:xfrm>
          <a:prstGeom prst="rect">
            <a:avLst/>
          </a:prstGeom>
        </p:spPr>
        <p:txBody>
          <a:bodyPr anchor="t" rtlCol="false" tIns="0" lIns="0" bIns="0" rIns="0">
            <a:spAutoFit/>
          </a:bodyPr>
          <a:lstStyle/>
          <a:p>
            <a:pPr algn="l">
              <a:lnSpc>
                <a:spcPts val="2700"/>
              </a:lnSpc>
            </a:pPr>
            <a:r>
              <a:rPr lang="en-US" sz="2250" b="true">
                <a:solidFill>
                  <a:srgbClr val="F5582E"/>
                </a:solidFill>
                <a:latin typeface="Helvetica World Bold"/>
                <a:ea typeface="Helvetica World Bold"/>
                <a:cs typeface="Helvetica World Bold"/>
                <a:sym typeface="Helvetica World Bold"/>
              </a:rPr>
              <a:t>HATEFULNESS</a:t>
            </a:r>
          </a:p>
        </p:txBody>
      </p:sp>
      <p:sp>
        <p:nvSpPr>
          <p:cNvPr name="TextBox 12" id="12"/>
          <p:cNvSpPr txBox="true"/>
          <p:nvPr/>
        </p:nvSpPr>
        <p:spPr>
          <a:xfrm rot="0">
            <a:off x="1165860" y="3909060"/>
            <a:ext cx="438912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Teks saja (IndoBERTweet)</a:t>
            </a:r>
          </a:p>
        </p:txBody>
      </p:sp>
      <p:sp>
        <p:nvSpPr>
          <p:cNvPr name="TextBox 13" id="13"/>
          <p:cNvSpPr txBox="true"/>
          <p:nvPr/>
        </p:nvSpPr>
        <p:spPr>
          <a:xfrm rot="0">
            <a:off x="6172200" y="3830955"/>
            <a:ext cx="2468880" cy="489585"/>
          </a:xfrm>
          <a:prstGeom prst="rect">
            <a:avLst/>
          </a:prstGeom>
        </p:spPr>
        <p:txBody>
          <a:bodyPr anchor="t" rtlCol="false" tIns="0" lIns="0" bIns="0" rIns="0">
            <a:spAutoFit/>
          </a:bodyPr>
          <a:lstStyle/>
          <a:p>
            <a:pPr algn="r">
              <a:lnSpc>
                <a:spcPts val="3240"/>
              </a:lnSpc>
            </a:pPr>
            <a:r>
              <a:rPr lang="en-US" sz="2700" b="true">
                <a:solidFill>
                  <a:srgbClr val="000000"/>
                </a:solidFill>
                <a:latin typeface="Helvetica World Bold"/>
                <a:ea typeface="Helvetica World Bold"/>
                <a:cs typeface="Helvetica World Bold"/>
                <a:sym typeface="Helvetica World Bold"/>
              </a:rPr>
              <a:t>0,8058</a:t>
            </a:r>
          </a:p>
        </p:txBody>
      </p:sp>
      <p:sp>
        <p:nvSpPr>
          <p:cNvPr name="TextBox 14" id="14"/>
          <p:cNvSpPr txBox="true"/>
          <p:nvPr/>
        </p:nvSpPr>
        <p:spPr>
          <a:xfrm rot="0">
            <a:off x="1165860" y="4457700"/>
            <a:ext cx="438912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Fusi (+ ViT)</a:t>
            </a:r>
          </a:p>
        </p:txBody>
      </p:sp>
      <p:sp>
        <p:nvSpPr>
          <p:cNvPr name="TextBox 15" id="15"/>
          <p:cNvSpPr txBox="true"/>
          <p:nvPr/>
        </p:nvSpPr>
        <p:spPr>
          <a:xfrm rot="0">
            <a:off x="6172200" y="4379595"/>
            <a:ext cx="2468880" cy="489585"/>
          </a:xfrm>
          <a:prstGeom prst="rect">
            <a:avLst/>
          </a:prstGeom>
        </p:spPr>
        <p:txBody>
          <a:bodyPr anchor="t" rtlCol="false" tIns="0" lIns="0" bIns="0" rIns="0">
            <a:spAutoFit/>
          </a:bodyPr>
          <a:lstStyle/>
          <a:p>
            <a:pPr algn="r">
              <a:lnSpc>
                <a:spcPts val="3240"/>
              </a:lnSpc>
            </a:pPr>
            <a:r>
              <a:rPr lang="en-US" sz="2700" b="true">
                <a:solidFill>
                  <a:srgbClr val="000000"/>
                </a:solidFill>
                <a:latin typeface="Helvetica World Bold"/>
                <a:ea typeface="Helvetica World Bold"/>
                <a:cs typeface="Helvetica World Bold"/>
                <a:sym typeface="Helvetica World Bold"/>
              </a:rPr>
              <a:t>0,8043</a:t>
            </a:r>
          </a:p>
        </p:txBody>
      </p:sp>
      <p:sp>
        <p:nvSpPr>
          <p:cNvPr name="TextBox 16" id="16"/>
          <p:cNvSpPr txBox="true"/>
          <p:nvPr/>
        </p:nvSpPr>
        <p:spPr>
          <a:xfrm rot="0">
            <a:off x="1165860" y="5074920"/>
            <a:ext cx="7406640" cy="1234440"/>
          </a:xfrm>
          <a:prstGeom prst="rect">
            <a:avLst/>
          </a:prstGeom>
        </p:spPr>
        <p:txBody>
          <a:bodyPr anchor="t" rtlCol="false" tIns="0" lIns="0" bIns="0" rIns="0">
            <a:spAutoFit/>
          </a:bodyPr>
          <a:lstStyle/>
          <a:p>
            <a:pPr algn="l">
              <a:lnSpc>
                <a:spcPts val="8280"/>
              </a:lnSpc>
            </a:pPr>
            <a:r>
              <a:rPr lang="en-US" sz="6900" b="true">
                <a:solidFill>
                  <a:srgbClr val="141221"/>
                </a:solidFill>
                <a:latin typeface="Helvetica World Bold"/>
                <a:ea typeface="Helvetica World Bold"/>
                <a:cs typeface="Helvetica World Bold"/>
                <a:sym typeface="Helvetica World Bold"/>
              </a:rPr>
              <a:t>−0,15 pp</a:t>
            </a:r>
          </a:p>
        </p:txBody>
      </p:sp>
      <p:sp>
        <p:nvSpPr>
          <p:cNvPr name="TextBox 17" id="17"/>
          <p:cNvSpPr txBox="true"/>
          <p:nvPr/>
        </p:nvSpPr>
        <p:spPr>
          <a:xfrm rot="0">
            <a:off x="1165860" y="6446520"/>
            <a:ext cx="7406640" cy="1234440"/>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19 prediksi diperbaiki</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22 prediksi berubah dari benar menjadi salah</a:t>
            </a:r>
          </a:p>
        </p:txBody>
      </p:sp>
      <p:grpSp>
        <p:nvGrpSpPr>
          <p:cNvPr name="Group 18" id="18"/>
          <p:cNvGrpSpPr/>
          <p:nvPr/>
        </p:nvGrpSpPr>
        <p:grpSpPr>
          <a:xfrm rot="0">
            <a:off x="9319736" y="2667476"/>
            <a:ext cx="8106728" cy="5432108"/>
            <a:chOff x="0" y="0"/>
            <a:chExt cx="10808970" cy="7242810"/>
          </a:xfrm>
        </p:grpSpPr>
        <p:sp>
          <p:nvSpPr>
            <p:cNvPr name="Freeform 19" id="19"/>
            <p:cNvSpPr/>
            <p:nvPr/>
          </p:nvSpPr>
          <p:spPr>
            <a:xfrm flipH="false" flipV="false" rot="0">
              <a:off x="0" y="0"/>
              <a:ext cx="10808970" cy="7242810"/>
            </a:xfrm>
            <a:custGeom>
              <a:avLst/>
              <a:gdLst/>
              <a:ahLst/>
              <a:cxnLst/>
              <a:rect r="r" b="b" t="t" l="l"/>
              <a:pathLst>
                <a:path h="7242810" w="10808970">
                  <a:moveTo>
                    <a:pt x="0" y="220091"/>
                  </a:moveTo>
                  <a:cubicBezTo>
                    <a:pt x="0" y="98552"/>
                    <a:pt x="98552" y="0"/>
                    <a:pt x="220091" y="0"/>
                  </a:cubicBezTo>
                  <a:lnTo>
                    <a:pt x="10588879" y="0"/>
                  </a:lnTo>
                  <a:cubicBezTo>
                    <a:pt x="10710418" y="0"/>
                    <a:pt x="10808970" y="98552"/>
                    <a:pt x="10808970" y="220091"/>
                  </a:cubicBezTo>
                  <a:lnTo>
                    <a:pt x="10808970" y="7022719"/>
                  </a:lnTo>
                  <a:cubicBezTo>
                    <a:pt x="10808970" y="7144258"/>
                    <a:pt x="10710418" y="7242810"/>
                    <a:pt x="10588879" y="7242810"/>
                  </a:cubicBezTo>
                  <a:lnTo>
                    <a:pt x="220091" y="7242810"/>
                  </a:lnTo>
                  <a:cubicBezTo>
                    <a:pt x="98552" y="7242810"/>
                    <a:pt x="0" y="7144258"/>
                    <a:pt x="0" y="7022719"/>
                  </a:cubicBezTo>
                  <a:close/>
                </a:path>
              </a:pathLst>
            </a:custGeom>
            <a:solidFill>
              <a:srgbClr val="FFFFFF"/>
            </a:solidFill>
            <a:ln w="14288" cap="sq">
              <a:solidFill>
                <a:srgbClr val="000000"/>
              </a:solidFill>
              <a:prstDash val="solid"/>
              <a:miter/>
            </a:ln>
          </p:spPr>
        </p:sp>
      </p:grpSp>
      <p:grpSp>
        <p:nvGrpSpPr>
          <p:cNvPr name="Group 20" id="20"/>
          <p:cNvGrpSpPr/>
          <p:nvPr/>
        </p:nvGrpSpPr>
        <p:grpSpPr>
          <a:xfrm rot="0">
            <a:off x="9319736" y="2667476"/>
            <a:ext cx="8106728" cy="453200"/>
            <a:chOff x="0" y="0"/>
            <a:chExt cx="10808970" cy="604266"/>
          </a:xfrm>
        </p:grpSpPr>
        <p:sp>
          <p:nvSpPr>
            <p:cNvPr name="Freeform 21" id="21"/>
            <p:cNvSpPr/>
            <p:nvPr/>
          </p:nvSpPr>
          <p:spPr>
            <a:xfrm flipH="false" flipV="false" rot="0">
              <a:off x="0" y="0"/>
              <a:ext cx="10808970" cy="604266"/>
            </a:xfrm>
            <a:custGeom>
              <a:avLst/>
              <a:gdLst/>
              <a:ahLst/>
              <a:cxnLst/>
              <a:rect r="r" b="b" t="t" l="l"/>
              <a:pathLst>
                <a:path h="604266" w="10808970">
                  <a:moveTo>
                    <a:pt x="0" y="226568"/>
                  </a:moveTo>
                  <a:cubicBezTo>
                    <a:pt x="0" y="101473"/>
                    <a:pt x="101473" y="0"/>
                    <a:pt x="226568" y="0"/>
                  </a:cubicBezTo>
                  <a:lnTo>
                    <a:pt x="10582402" y="0"/>
                  </a:lnTo>
                  <a:cubicBezTo>
                    <a:pt x="10707497" y="0"/>
                    <a:pt x="10808970" y="101473"/>
                    <a:pt x="10808970" y="226568"/>
                  </a:cubicBezTo>
                  <a:lnTo>
                    <a:pt x="10808970" y="377698"/>
                  </a:lnTo>
                  <a:cubicBezTo>
                    <a:pt x="10808970" y="502793"/>
                    <a:pt x="10707497" y="604266"/>
                    <a:pt x="105824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22" id="22"/>
          <p:cNvGrpSpPr/>
          <p:nvPr/>
        </p:nvGrpSpPr>
        <p:grpSpPr>
          <a:xfrm rot="0">
            <a:off x="9331071" y="2884551"/>
            <a:ext cx="8084058" cy="238506"/>
            <a:chOff x="0" y="0"/>
            <a:chExt cx="10778744" cy="318008"/>
          </a:xfrm>
        </p:grpSpPr>
        <p:sp>
          <p:nvSpPr>
            <p:cNvPr name="Freeform 23" id="23"/>
            <p:cNvSpPr/>
            <p:nvPr/>
          </p:nvSpPr>
          <p:spPr>
            <a:xfrm flipH="false" flipV="false" rot="0">
              <a:off x="0" y="0"/>
              <a:ext cx="10778744" cy="318008"/>
            </a:xfrm>
            <a:custGeom>
              <a:avLst/>
              <a:gdLst/>
              <a:ahLst/>
              <a:cxnLst/>
              <a:rect r="r" b="b" t="t" l="l"/>
              <a:pathLst>
                <a:path h="318008" w="10778744">
                  <a:moveTo>
                    <a:pt x="0" y="0"/>
                  </a:moveTo>
                  <a:lnTo>
                    <a:pt x="10778744" y="0"/>
                  </a:lnTo>
                  <a:lnTo>
                    <a:pt x="10778744" y="318008"/>
                  </a:lnTo>
                  <a:lnTo>
                    <a:pt x="0" y="318008"/>
                  </a:lnTo>
                  <a:close/>
                </a:path>
              </a:pathLst>
            </a:custGeom>
            <a:solidFill>
              <a:srgbClr val="F5582E"/>
            </a:solidFill>
            <a:ln w="19050" cap="sq">
              <a:solidFill>
                <a:srgbClr val="F5582E"/>
              </a:solidFill>
              <a:prstDash val="solid"/>
              <a:miter/>
            </a:ln>
          </p:spPr>
        </p:sp>
      </p:grpSp>
      <p:sp>
        <p:nvSpPr>
          <p:cNvPr name="AutoShape 24" id="24"/>
          <p:cNvSpPr/>
          <p:nvPr/>
        </p:nvSpPr>
        <p:spPr>
          <a:xfrm rot="6060">
            <a:off x="9319727" y="3108770"/>
            <a:ext cx="8106737" cy="0"/>
          </a:xfrm>
          <a:prstGeom prst="line">
            <a:avLst/>
          </a:prstGeom>
          <a:ln cap="rnd" w="9525">
            <a:solidFill>
              <a:srgbClr val="000000"/>
            </a:solidFill>
            <a:prstDash val="solid"/>
            <a:headEnd type="none" len="sm" w="sm"/>
            <a:tailEnd type="none" len="sm" w="sm"/>
          </a:ln>
        </p:spPr>
      </p:sp>
      <p:sp>
        <p:nvSpPr>
          <p:cNvPr name="TextBox 25" id="25"/>
          <p:cNvSpPr txBox="true"/>
          <p:nvPr/>
        </p:nvSpPr>
        <p:spPr>
          <a:xfrm rot="0">
            <a:off x="9669780" y="3282315"/>
            <a:ext cx="7406640" cy="421005"/>
          </a:xfrm>
          <a:prstGeom prst="rect">
            <a:avLst/>
          </a:prstGeom>
        </p:spPr>
        <p:txBody>
          <a:bodyPr anchor="t" rtlCol="false" tIns="0" lIns="0" bIns="0" rIns="0">
            <a:spAutoFit/>
          </a:bodyPr>
          <a:lstStyle/>
          <a:p>
            <a:pPr algn="l">
              <a:lnSpc>
                <a:spcPts val="2700"/>
              </a:lnSpc>
            </a:pPr>
            <a:r>
              <a:rPr lang="en-US" sz="2250" b="true">
                <a:solidFill>
                  <a:srgbClr val="F5582E"/>
                </a:solidFill>
                <a:latin typeface="Helvetica World Bold"/>
                <a:ea typeface="Helvetica World Bold"/>
                <a:cs typeface="Helvetica World Bold"/>
                <a:sym typeface="Helvetica World Bold"/>
              </a:rPr>
              <a:t>APPROPRIATENESS</a:t>
            </a:r>
          </a:p>
        </p:txBody>
      </p:sp>
      <p:sp>
        <p:nvSpPr>
          <p:cNvPr name="TextBox 26" id="26"/>
          <p:cNvSpPr txBox="true"/>
          <p:nvPr/>
        </p:nvSpPr>
        <p:spPr>
          <a:xfrm rot="0">
            <a:off x="9669780" y="3909060"/>
            <a:ext cx="438912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Teks saja (IndoBERTweet)</a:t>
            </a:r>
          </a:p>
        </p:txBody>
      </p:sp>
      <p:sp>
        <p:nvSpPr>
          <p:cNvPr name="TextBox 27" id="27"/>
          <p:cNvSpPr txBox="true"/>
          <p:nvPr/>
        </p:nvSpPr>
        <p:spPr>
          <a:xfrm rot="0">
            <a:off x="14676120" y="3830955"/>
            <a:ext cx="2468880" cy="489585"/>
          </a:xfrm>
          <a:prstGeom prst="rect">
            <a:avLst/>
          </a:prstGeom>
        </p:spPr>
        <p:txBody>
          <a:bodyPr anchor="t" rtlCol="false" tIns="0" lIns="0" bIns="0" rIns="0">
            <a:spAutoFit/>
          </a:bodyPr>
          <a:lstStyle/>
          <a:p>
            <a:pPr algn="r">
              <a:lnSpc>
                <a:spcPts val="3240"/>
              </a:lnSpc>
            </a:pPr>
            <a:r>
              <a:rPr lang="en-US" sz="2700" b="true">
                <a:solidFill>
                  <a:srgbClr val="000000"/>
                </a:solidFill>
                <a:latin typeface="Helvetica World Bold"/>
                <a:ea typeface="Helvetica World Bold"/>
                <a:cs typeface="Helvetica World Bold"/>
                <a:sym typeface="Helvetica World Bold"/>
              </a:rPr>
              <a:t>0,7984</a:t>
            </a:r>
          </a:p>
        </p:txBody>
      </p:sp>
      <p:sp>
        <p:nvSpPr>
          <p:cNvPr name="TextBox 28" id="28"/>
          <p:cNvSpPr txBox="true"/>
          <p:nvPr/>
        </p:nvSpPr>
        <p:spPr>
          <a:xfrm rot="0">
            <a:off x="9669780" y="4457700"/>
            <a:ext cx="438912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Fusi (+ ViT)</a:t>
            </a:r>
          </a:p>
        </p:txBody>
      </p:sp>
      <p:sp>
        <p:nvSpPr>
          <p:cNvPr name="TextBox 29" id="29"/>
          <p:cNvSpPr txBox="true"/>
          <p:nvPr/>
        </p:nvSpPr>
        <p:spPr>
          <a:xfrm rot="0">
            <a:off x="14676120" y="4379595"/>
            <a:ext cx="2468880" cy="489585"/>
          </a:xfrm>
          <a:prstGeom prst="rect">
            <a:avLst/>
          </a:prstGeom>
        </p:spPr>
        <p:txBody>
          <a:bodyPr anchor="t" rtlCol="false" tIns="0" lIns="0" bIns="0" rIns="0">
            <a:spAutoFit/>
          </a:bodyPr>
          <a:lstStyle/>
          <a:p>
            <a:pPr algn="r">
              <a:lnSpc>
                <a:spcPts val="3240"/>
              </a:lnSpc>
            </a:pPr>
            <a:r>
              <a:rPr lang="en-US" sz="2700" b="true">
                <a:solidFill>
                  <a:srgbClr val="000000"/>
                </a:solidFill>
                <a:latin typeface="Helvetica World Bold"/>
                <a:ea typeface="Helvetica World Bold"/>
                <a:cs typeface="Helvetica World Bold"/>
                <a:sym typeface="Helvetica World Bold"/>
              </a:rPr>
              <a:t>0,8125</a:t>
            </a:r>
          </a:p>
        </p:txBody>
      </p:sp>
      <p:sp>
        <p:nvSpPr>
          <p:cNvPr name="TextBox 30" id="30"/>
          <p:cNvSpPr txBox="true"/>
          <p:nvPr/>
        </p:nvSpPr>
        <p:spPr>
          <a:xfrm rot="0">
            <a:off x="9669780" y="5074920"/>
            <a:ext cx="7406640" cy="1234440"/>
          </a:xfrm>
          <a:prstGeom prst="rect">
            <a:avLst/>
          </a:prstGeom>
        </p:spPr>
        <p:txBody>
          <a:bodyPr anchor="t" rtlCol="false" tIns="0" lIns="0" bIns="0" rIns="0">
            <a:spAutoFit/>
          </a:bodyPr>
          <a:lstStyle/>
          <a:p>
            <a:pPr algn="l">
              <a:lnSpc>
                <a:spcPts val="8280"/>
              </a:lnSpc>
            </a:pPr>
            <a:r>
              <a:rPr lang="en-US" sz="6900" b="true">
                <a:solidFill>
                  <a:srgbClr val="F5582E"/>
                </a:solidFill>
                <a:latin typeface="Helvetica World Bold"/>
                <a:ea typeface="Helvetica World Bold"/>
                <a:cs typeface="Helvetica World Bold"/>
                <a:sym typeface="Helvetica World Bold"/>
              </a:rPr>
              <a:t>+1,41 pp</a:t>
            </a:r>
          </a:p>
        </p:txBody>
      </p:sp>
      <p:sp>
        <p:nvSpPr>
          <p:cNvPr name="TextBox 31" id="31"/>
          <p:cNvSpPr txBox="true"/>
          <p:nvPr/>
        </p:nvSpPr>
        <p:spPr>
          <a:xfrm rot="0">
            <a:off x="9669780" y="6446520"/>
            <a:ext cx="7406640" cy="1234440"/>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33 prediksi diperbaiki</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22 prediksi berubah dari benar menjadi salah</a:t>
            </a:r>
          </a:p>
        </p:txBody>
      </p:sp>
      <p:sp>
        <p:nvSpPr>
          <p:cNvPr name="TextBox 32" id="32"/>
          <p:cNvSpPr txBox="true"/>
          <p:nvPr/>
        </p:nvSpPr>
        <p:spPr>
          <a:xfrm rot="0">
            <a:off x="822960" y="8229600"/>
            <a:ext cx="16596360" cy="891540"/>
          </a:xfrm>
          <a:prstGeom prst="rect">
            <a:avLst/>
          </a:prstGeom>
        </p:spPr>
        <p:txBody>
          <a:bodyPr anchor="t" rtlCol="false" tIns="0" lIns="0" bIns="0" rIns="0">
            <a:spAutoFit/>
          </a:bodyPr>
          <a:lstStyle/>
          <a:p>
            <a:pPr algn="l">
              <a:lnSpc>
                <a:spcPts val="3060"/>
              </a:lnSpc>
            </a:pPr>
            <a:r>
              <a:rPr lang="en-US" sz="2550" i="true">
                <a:solidFill>
                  <a:srgbClr val="000000"/>
                </a:solidFill>
                <a:latin typeface="Noto Serif Italics"/>
                <a:ea typeface="Noto Serif Italics"/>
                <a:cs typeface="Noto Serif Italics"/>
                <a:sym typeface="Noto Serif Italics"/>
              </a:rPr>
              <a:t>Penambahan visual meningkatkan appropriateness, tetapi tidak hatefulness, pada konfigurasi yang diuji.</a:t>
            </a:r>
          </a:p>
        </p:txBody>
      </p:sp>
      <p:sp>
        <p:nvSpPr>
          <p:cNvPr name="TextBox 33" id="33"/>
          <p:cNvSpPr txBox="true"/>
          <p:nvPr/>
        </p:nvSpPr>
        <p:spPr>
          <a:xfrm rot="0">
            <a:off x="822960" y="9308973"/>
            <a:ext cx="16596360" cy="333375"/>
          </a:xfrm>
          <a:prstGeom prst="rect">
            <a:avLst/>
          </a:prstGeom>
        </p:spPr>
        <p:txBody>
          <a:bodyPr anchor="t" rtlCol="false" tIns="0" lIns="0" bIns="0" rIns="0">
            <a:spAutoFit/>
          </a:bodyPr>
          <a:lstStyle/>
          <a:p>
            <a:pPr algn="l">
              <a:lnSpc>
                <a:spcPts val="1980"/>
              </a:lnSpc>
            </a:pPr>
            <a:r>
              <a:rPr lang="en-US" sz="1650">
                <a:solidFill>
                  <a:srgbClr val="595959"/>
                </a:solidFill>
                <a:latin typeface="Helvetica World"/>
                <a:ea typeface="Helvetica World"/>
                <a:cs typeface="Helvetica World"/>
                <a:sym typeface="Helvetica World"/>
              </a:rPr>
              <a:t>Catatan: input teks sudah memuat caption turunan gambar dan anotasi topik dataset.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10</a:t>
            </a:r>
          </a:p>
        </p:txBody>
      </p:sp>
      <p:sp>
        <p:nvSpPr>
          <p:cNvPr name="TextBox 3" id="3"/>
          <p:cNvSpPr txBox="true"/>
          <p:nvPr/>
        </p:nvSpPr>
        <p:spPr>
          <a:xfrm rot="0">
            <a:off x="822960" y="645795"/>
            <a:ext cx="16596360" cy="1605915"/>
          </a:xfrm>
          <a:prstGeom prst="rect">
            <a:avLst/>
          </a:prstGeom>
        </p:spPr>
        <p:txBody>
          <a:bodyPr anchor="t" rtlCol="false" tIns="0" lIns="0" bIns="0" rIns="0">
            <a:spAutoFit/>
          </a:bodyPr>
          <a:lstStyle/>
          <a:p>
            <a:pPr algn="l">
              <a:lnSpc>
                <a:spcPts val="6155"/>
              </a:lnSpc>
            </a:pPr>
            <a:r>
              <a:rPr lang="en-US" sz="5400" b="true">
                <a:solidFill>
                  <a:srgbClr val="F5582E"/>
                </a:solidFill>
                <a:latin typeface="Helvetica World Bold"/>
                <a:ea typeface="Helvetica World Bold"/>
                <a:cs typeface="Helvetica World Bold"/>
                <a:sym typeface="Helvetica World Bold"/>
              </a:rPr>
              <a:t>PEMILIHAN MODEL</a:t>
            </a:r>
          </a:p>
          <a:p>
            <a:pPr algn="l">
              <a:lnSpc>
                <a:spcPts val="5130"/>
              </a:lnSpc>
            </a:pPr>
            <a:r>
              <a:rPr lang="en-US" sz="4500" i="true">
                <a:solidFill>
                  <a:srgbClr val="000000"/>
                </a:solidFill>
                <a:latin typeface="Noto Serif Italics"/>
                <a:ea typeface="Noto Serif Italics"/>
                <a:cs typeface="Noto Serif Italics"/>
                <a:sym typeface="Noto Serif Italics"/>
              </a:rPr>
              <a:t>Validasi dan Pengujian Memiliki Peran Berbeda.</a:t>
            </a:r>
          </a:p>
        </p:txBody>
      </p:sp>
      <p:grpSp>
        <p:nvGrpSpPr>
          <p:cNvPr name="Group 4" id="4"/>
          <p:cNvGrpSpPr/>
          <p:nvPr/>
        </p:nvGrpSpPr>
        <p:grpSpPr>
          <a:xfrm rot="0">
            <a:off x="815816" y="2736056"/>
            <a:ext cx="7695247" cy="4952047"/>
            <a:chOff x="0" y="0"/>
            <a:chExt cx="10260330" cy="6602730"/>
          </a:xfrm>
        </p:grpSpPr>
        <p:sp>
          <p:nvSpPr>
            <p:cNvPr name="Freeform 5" id="5"/>
            <p:cNvSpPr/>
            <p:nvPr/>
          </p:nvSpPr>
          <p:spPr>
            <a:xfrm flipH="false" flipV="false" rot="0">
              <a:off x="0" y="0"/>
              <a:ext cx="10260330" cy="6602730"/>
            </a:xfrm>
            <a:custGeom>
              <a:avLst/>
              <a:gdLst/>
              <a:ahLst/>
              <a:cxnLst/>
              <a:rect r="r" b="b" t="t" l="l"/>
              <a:pathLst>
                <a:path h="6602730" w="10260330">
                  <a:moveTo>
                    <a:pt x="0" y="220091"/>
                  </a:moveTo>
                  <a:cubicBezTo>
                    <a:pt x="0" y="98552"/>
                    <a:pt x="98552" y="0"/>
                    <a:pt x="220091" y="0"/>
                  </a:cubicBezTo>
                  <a:lnTo>
                    <a:pt x="10040239" y="0"/>
                  </a:lnTo>
                  <a:cubicBezTo>
                    <a:pt x="10161778" y="0"/>
                    <a:pt x="10260330" y="98552"/>
                    <a:pt x="10260330" y="220091"/>
                  </a:cubicBezTo>
                  <a:lnTo>
                    <a:pt x="10260330" y="6382639"/>
                  </a:lnTo>
                  <a:cubicBezTo>
                    <a:pt x="10260330" y="6504178"/>
                    <a:pt x="10161778" y="6602730"/>
                    <a:pt x="10040239" y="6602730"/>
                  </a:cubicBezTo>
                  <a:lnTo>
                    <a:pt x="220091" y="6602730"/>
                  </a:lnTo>
                  <a:cubicBezTo>
                    <a:pt x="98552" y="6602730"/>
                    <a:pt x="0" y="6504178"/>
                    <a:pt x="0" y="6382639"/>
                  </a:cubicBezTo>
                  <a:close/>
                </a:path>
              </a:pathLst>
            </a:custGeom>
            <a:solidFill>
              <a:srgbClr val="FFFFFF"/>
            </a:solidFill>
            <a:ln w="14288" cap="sq">
              <a:solidFill>
                <a:srgbClr val="000000"/>
              </a:solidFill>
              <a:prstDash val="solid"/>
              <a:miter/>
            </a:ln>
          </p:spPr>
        </p:sp>
      </p:grpSp>
      <p:grpSp>
        <p:nvGrpSpPr>
          <p:cNvPr name="Group 6" id="6"/>
          <p:cNvGrpSpPr/>
          <p:nvPr/>
        </p:nvGrpSpPr>
        <p:grpSpPr>
          <a:xfrm rot="0">
            <a:off x="815816" y="2736056"/>
            <a:ext cx="7695247" cy="453200"/>
            <a:chOff x="0" y="0"/>
            <a:chExt cx="10260330" cy="604266"/>
          </a:xfrm>
        </p:grpSpPr>
        <p:sp>
          <p:nvSpPr>
            <p:cNvPr name="Freeform 7" id="7"/>
            <p:cNvSpPr/>
            <p:nvPr/>
          </p:nvSpPr>
          <p:spPr>
            <a:xfrm flipH="false" flipV="false" rot="0">
              <a:off x="0" y="0"/>
              <a:ext cx="10260330" cy="604266"/>
            </a:xfrm>
            <a:custGeom>
              <a:avLst/>
              <a:gdLst/>
              <a:ahLst/>
              <a:cxnLst/>
              <a:rect r="r" b="b" t="t" l="l"/>
              <a:pathLst>
                <a:path h="604266" w="10260330">
                  <a:moveTo>
                    <a:pt x="0" y="226568"/>
                  </a:moveTo>
                  <a:cubicBezTo>
                    <a:pt x="0" y="101473"/>
                    <a:pt x="101473" y="0"/>
                    <a:pt x="226568" y="0"/>
                  </a:cubicBezTo>
                  <a:lnTo>
                    <a:pt x="10033762" y="0"/>
                  </a:lnTo>
                  <a:cubicBezTo>
                    <a:pt x="10158857" y="0"/>
                    <a:pt x="10260330" y="101473"/>
                    <a:pt x="10260330" y="226568"/>
                  </a:cubicBezTo>
                  <a:lnTo>
                    <a:pt x="10260330" y="377698"/>
                  </a:lnTo>
                  <a:cubicBezTo>
                    <a:pt x="10260330" y="502793"/>
                    <a:pt x="10158857" y="604266"/>
                    <a:pt x="1003376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8" id="8"/>
          <p:cNvGrpSpPr/>
          <p:nvPr/>
        </p:nvGrpSpPr>
        <p:grpSpPr>
          <a:xfrm rot="0">
            <a:off x="827151" y="2953131"/>
            <a:ext cx="7672578" cy="238506"/>
            <a:chOff x="0" y="0"/>
            <a:chExt cx="10230104" cy="318008"/>
          </a:xfrm>
        </p:grpSpPr>
        <p:sp>
          <p:nvSpPr>
            <p:cNvPr name="Freeform 9" id="9"/>
            <p:cNvSpPr/>
            <p:nvPr/>
          </p:nvSpPr>
          <p:spPr>
            <a:xfrm flipH="false" flipV="false" rot="0">
              <a:off x="0" y="0"/>
              <a:ext cx="10230104" cy="318008"/>
            </a:xfrm>
            <a:custGeom>
              <a:avLst/>
              <a:gdLst/>
              <a:ahLst/>
              <a:cxnLst/>
              <a:rect r="r" b="b" t="t" l="l"/>
              <a:pathLst>
                <a:path h="318008" w="10230104">
                  <a:moveTo>
                    <a:pt x="0" y="0"/>
                  </a:moveTo>
                  <a:lnTo>
                    <a:pt x="10230104" y="0"/>
                  </a:lnTo>
                  <a:lnTo>
                    <a:pt x="10230104" y="318008"/>
                  </a:lnTo>
                  <a:lnTo>
                    <a:pt x="0" y="318008"/>
                  </a:lnTo>
                  <a:close/>
                </a:path>
              </a:pathLst>
            </a:custGeom>
            <a:solidFill>
              <a:srgbClr val="F5582E"/>
            </a:solidFill>
            <a:ln w="19050" cap="sq">
              <a:solidFill>
                <a:srgbClr val="F5582E"/>
              </a:solidFill>
              <a:prstDash val="solid"/>
              <a:miter/>
            </a:ln>
          </p:spPr>
        </p:sp>
      </p:grpSp>
      <p:sp>
        <p:nvSpPr>
          <p:cNvPr name="AutoShape 10" id="10"/>
          <p:cNvSpPr/>
          <p:nvPr/>
        </p:nvSpPr>
        <p:spPr>
          <a:xfrm rot="6360">
            <a:off x="815807" y="3177350"/>
            <a:ext cx="7695257" cy="0"/>
          </a:xfrm>
          <a:prstGeom prst="line">
            <a:avLst/>
          </a:prstGeom>
          <a:ln cap="rnd" w="9525">
            <a:solidFill>
              <a:srgbClr val="000000"/>
            </a:solidFill>
            <a:prstDash val="solid"/>
            <a:headEnd type="none" len="sm" w="sm"/>
            <a:tailEnd type="none" len="sm" w="sm"/>
          </a:ln>
        </p:spPr>
      </p:sp>
      <p:sp>
        <p:nvSpPr>
          <p:cNvPr name="TextBox 11" id="11"/>
          <p:cNvSpPr txBox="true"/>
          <p:nvPr/>
        </p:nvSpPr>
        <p:spPr>
          <a:xfrm rot="0">
            <a:off x="1165860" y="3419475"/>
            <a:ext cx="6995160" cy="421005"/>
          </a:xfrm>
          <a:prstGeom prst="rect">
            <a:avLst/>
          </a:prstGeom>
        </p:spPr>
        <p:txBody>
          <a:bodyPr anchor="t" rtlCol="false" tIns="0" lIns="0" bIns="0" rIns="0">
            <a:spAutoFit/>
          </a:bodyPr>
          <a:lstStyle/>
          <a:p>
            <a:pPr algn="l">
              <a:lnSpc>
                <a:spcPts val="2700"/>
              </a:lnSpc>
            </a:pPr>
            <a:r>
              <a:rPr lang="en-US" sz="2250" b="true">
                <a:solidFill>
                  <a:srgbClr val="F5582E"/>
                </a:solidFill>
                <a:latin typeface="Helvetica World Bold"/>
                <a:ea typeface="Helvetica World Bold"/>
                <a:cs typeface="Helvetica World Bold"/>
                <a:sym typeface="Helvetica World Bold"/>
              </a:rPr>
              <a:t>DIPILIH PADA VALIDASI</a:t>
            </a:r>
          </a:p>
        </p:txBody>
      </p:sp>
      <p:grpSp>
        <p:nvGrpSpPr>
          <p:cNvPr name="Group 12" id="12"/>
          <p:cNvGrpSpPr/>
          <p:nvPr/>
        </p:nvGrpSpPr>
        <p:grpSpPr>
          <a:xfrm rot="0">
            <a:off x="9456896" y="2736056"/>
            <a:ext cx="7969568" cy="4952047"/>
            <a:chOff x="0" y="0"/>
            <a:chExt cx="10626090" cy="6602730"/>
          </a:xfrm>
        </p:grpSpPr>
        <p:sp>
          <p:nvSpPr>
            <p:cNvPr name="Freeform 13" id="13"/>
            <p:cNvSpPr/>
            <p:nvPr/>
          </p:nvSpPr>
          <p:spPr>
            <a:xfrm flipH="false" flipV="false" rot="0">
              <a:off x="0" y="0"/>
              <a:ext cx="10626090" cy="6602730"/>
            </a:xfrm>
            <a:custGeom>
              <a:avLst/>
              <a:gdLst/>
              <a:ahLst/>
              <a:cxnLst/>
              <a:rect r="r" b="b" t="t" l="l"/>
              <a:pathLst>
                <a:path h="6602730" w="10626090">
                  <a:moveTo>
                    <a:pt x="0" y="220091"/>
                  </a:moveTo>
                  <a:cubicBezTo>
                    <a:pt x="0" y="98552"/>
                    <a:pt x="98552" y="0"/>
                    <a:pt x="220091" y="0"/>
                  </a:cubicBezTo>
                  <a:lnTo>
                    <a:pt x="10405999" y="0"/>
                  </a:lnTo>
                  <a:cubicBezTo>
                    <a:pt x="10527538" y="0"/>
                    <a:pt x="10626090" y="98552"/>
                    <a:pt x="10626090" y="220091"/>
                  </a:cubicBezTo>
                  <a:lnTo>
                    <a:pt x="10626090" y="6382639"/>
                  </a:lnTo>
                  <a:cubicBezTo>
                    <a:pt x="10626090" y="6504178"/>
                    <a:pt x="10527538" y="6602730"/>
                    <a:pt x="10405999" y="6602730"/>
                  </a:cubicBezTo>
                  <a:lnTo>
                    <a:pt x="220091" y="6602730"/>
                  </a:lnTo>
                  <a:cubicBezTo>
                    <a:pt x="98552" y="6602730"/>
                    <a:pt x="0" y="6504178"/>
                    <a:pt x="0" y="6382639"/>
                  </a:cubicBezTo>
                  <a:close/>
                </a:path>
              </a:pathLst>
            </a:custGeom>
            <a:solidFill>
              <a:srgbClr val="FFFFFF"/>
            </a:solidFill>
            <a:ln w="14288" cap="sq">
              <a:solidFill>
                <a:srgbClr val="000000"/>
              </a:solidFill>
              <a:prstDash val="solid"/>
              <a:miter/>
            </a:ln>
          </p:spPr>
        </p:sp>
      </p:grpSp>
      <p:grpSp>
        <p:nvGrpSpPr>
          <p:cNvPr name="Group 14" id="14"/>
          <p:cNvGrpSpPr/>
          <p:nvPr/>
        </p:nvGrpSpPr>
        <p:grpSpPr>
          <a:xfrm rot="0">
            <a:off x="9456896" y="2736056"/>
            <a:ext cx="7969568" cy="453200"/>
            <a:chOff x="0" y="0"/>
            <a:chExt cx="10626090" cy="604266"/>
          </a:xfrm>
        </p:grpSpPr>
        <p:sp>
          <p:nvSpPr>
            <p:cNvPr name="Freeform 15" id="15"/>
            <p:cNvSpPr/>
            <p:nvPr/>
          </p:nvSpPr>
          <p:spPr>
            <a:xfrm flipH="false" flipV="false" rot="0">
              <a:off x="0" y="0"/>
              <a:ext cx="10626090" cy="604266"/>
            </a:xfrm>
            <a:custGeom>
              <a:avLst/>
              <a:gdLst/>
              <a:ahLst/>
              <a:cxnLst/>
              <a:rect r="r" b="b" t="t" l="l"/>
              <a:pathLst>
                <a:path h="604266" w="10626090">
                  <a:moveTo>
                    <a:pt x="0" y="226568"/>
                  </a:moveTo>
                  <a:cubicBezTo>
                    <a:pt x="0" y="101473"/>
                    <a:pt x="101473" y="0"/>
                    <a:pt x="226568" y="0"/>
                  </a:cubicBezTo>
                  <a:lnTo>
                    <a:pt x="10399522" y="0"/>
                  </a:lnTo>
                  <a:cubicBezTo>
                    <a:pt x="10524617" y="0"/>
                    <a:pt x="10626090" y="101473"/>
                    <a:pt x="10626090" y="226568"/>
                  </a:cubicBezTo>
                  <a:lnTo>
                    <a:pt x="10626090" y="377698"/>
                  </a:lnTo>
                  <a:cubicBezTo>
                    <a:pt x="10626090" y="502793"/>
                    <a:pt x="10524617" y="604266"/>
                    <a:pt x="10399522" y="604266"/>
                  </a:cubicBezTo>
                  <a:lnTo>
                    <a:pt x="226568" y="604266"/>
                  </a:lnTo>
                  <a:cubicBezTo>
                    <a:pt x="101473" y="604266"/>
                    <a:pt x="0" y="502793"/>
                    <a:pt x="0" y="377698"/>
                  </a:cubicBezTo>
                  <a:close/>
                </a:path>
              </a:pathLst>
            </a:custGeom>
            <a:solidFill>
              <a:srgbClr val="141221"/>
            </a:solidFill>
            <a:ln w="14288" cap="sq">
              <a:solidFill>
                <a:srgbClr val="000000"/>
              </a:solidFill>
              <a:prstDash val="solid"/>
              <a:miter/>
            </a:ln>
          </p:spPr>
        </p:sp>
      </p:grpSp>
      <p:grpSp>
        <p:nvGrpSpPr>
          <p:cNvPr name="Group 16" id="16"/>
          <p:cNvGrpSpPr/>
          <p:nvPr/>
        </p:nvGrpSpPr>
        <p:grpSpPr>
          <a:xfrm rot="0">
            <a:off x="9468231" y="2953131"/>
            <a:ext cx="7946898" cy="238506"/>
            <a:chOff x="0" y="0"/>
            <a:chExt cx="10595864" cy="318008"/>
          </a:xfrm>
        </p:grpSpPr>
        <p:sp>
          <p:nvSpPr>
            <p:cNvPr name="Freeform 17" id="17"/>
            <p:cNvSpPr/>
            <p:nvPr/>
          </p:nvSpPr>
          <p:spPr>
            <a:xfrm flipH="false" flipV="false" rot="0">
              <a:off x="0" y="0"/>
              <a:ext cx="10595864" cy="318008"/>
            </a:xfrm>
            <a:custGeom>
              <a:avLst/>
              <a:gdLst/>
              <a:ahLst/>
              <a:cxnLst/>
              <a:rect r="r" b="b" t="t" l="l"/>
              <a:pathLst>
                <a:path h="318008" w="10595864">
                  <a:moveTo>
                    <a:pt x="0" y="0"/>
                  </a:moveTo>
                  <a:lnTo>
                    <a:pt x="10595864" y="0"/>
                  </a:lnTo>
                  <a:lnTo>
                    <a:pt x="10595864" y="318008"/>
                  </a:lnTo>
                  <a:lnTo>
                    <a:pt x="0" y="318008"/>
                  </a:lnTo>
                  <a:close/>
                </a:path>
              </a:pathLst>
            </a:custGeom>
            <a:solidFill>
              <a:srgbClr val="141221"/>
            </a:solidFill>
            <a:ln w="19050" cap="sq">
              <a:solidFill>
                <a:srgbClr val="141221"/>
              </a:solidFill>
              <a:prstDash val="solid"/>
              <a:miter/>
            </a:ln>
          </p:spPr>
        </p:sp>
      </p:grpSp>
      <p:sp>
        <p:nvSpPr>
          <p:cNvPr name="AutoShape 18" id="18"/>
          <p:cNvSpPr/>
          <p:nvPr/>
        </p:nvSpPr>
        <p:spPr>
          <a:xfrm rot="6180">
            <a:off x="9456887" y="3177350"/>
            <a:ext cx="7969577" cy="0"/>
          </a:xfrm>
          <a:prstGeom prst="line">
            <a:avLst/>
          </a:prstGeom>
          <a:ln cap="rnd" w="9525">
            <a:solidFill>
              <a:srgbClr val="000000"/>
            </a:solidFill>
            <a:prstDash val="solid"/>
            <a:headEnd type="none" len="sm" w="sm"/>
            <a:tailEnd type="none" len="sm" w="sm"/>
          </a:ln>
        </p:spPr>
      </p:sp>
      <p:sp>
        <p:nvSpPr>
          <p:cNvPr name="TextBox 19" id="19"/>
          <p:cNvSpPr txBox="true"/>
          <p:nvPr/>
        </p:nvSpPr>
        <p:spPr>
          <a:xfrm rot="0">
            <a:off x="9806940" y="3419475"/>
            <a:ext cx="7269480" cy="421005"/>
          </a:xfrm>
          <a:prstGeom prst="rect">
            <a:avLst/>
          </a:prstGeom>
        </p:spPr>
        <p:txBody>
          <a:bodyPr anchor="t" rtlCol="false" tIns="0" lIns="0" bIns="0" rIns="0">
            <a:spAutoFit/>
          </a:bodyPr>
          <a:lstStyle/>
          <a:p>
            <a:pPr algn="l">
              <a:lnSpc>
                <a:spcPts val="2700"/>
              </a:lnSpc>
            </a:pPr>
            <a:r>
              <a:rPr lang="en-US" sz="2250" b="true">
                <a:solidFill>
                  <a:srgbClr val="141221"/>
                </a:solidFill>
                <a:latin typeface="Helvetica World Bold"/>
                <a:ea typeface="Helvetica World Bold"/>
                <a:cs typeface="Helvetica World Bold"/>
                <a:sym typeface="Helvetica World Bold"/>
              </a:rPr>
              <a:t>SKOR UJI TERTINGGI</a:t>
            </a:r>
          </a:p>
        </p:txBody>
      </p:sp>
      <p:sp>
        <p:nvSpPr>
          <p:cNvPr name="TextBox 20" id="20"/>
          <p:cNvSpPr txBox="true"/>
          <p:nvPr/>
        </p:nvSpPr>
        <p:spPr>
          <a:xfrm rot="0">
            <a:off x="8503920" y="4526280"/>
            <a:ext cx="960120" cy="960120"/>
          </a:xfrm>
          <a:prstGeom prst="rect">
            <a:avLst/>
          </a:prstGeom>
        </p:spPr>
        <p:txBody>
          <a:bodyPr anchor="t" rtlCol="false" tIns="0" lIns="0" bIns="0" rIns="0">
            <a:spAutoFit/>
          </a:bodyPr>
          <a:lstStyle/>
          <a:p>
            <a:pPr algn="ctr">
              <a:lnSpc>
                <a:spcPts val="6480"/>
              </a:lnSpc>
            </a:pPr>
            <a:r>
              <a:rPr lang="en-US" sz="5400" b="true">
                <a:solidFill>
                  <a:srgbClr val="F5582E"/>
                </a:solidFill>
                <a:latin typeface="Helvetica World Bold"/>
                <a:ea typeface="Helvetica World Bold"/>
                <a:cs typeface="Helvetica World Bold"/>
                <a:sym typeface="Helvetica World Bold"/>
              </a:rPr>
              <a:t>≠</a:t>
            </a:r>
          </a:p>
        </p:txBody>
      </p:sp>
      <p:sp>
        <p:nvSpPr>
          <p:cNvPr name="TextBox 21" id="21"/>
          <p:cNvSpPr txBox="true"/>
          <p:nvPr/>
        </p:nvSpPr>
        <p:spPr>
          <a:xfrm rot="0">
            <a:off x="1165860" y="4114800"/>
            <a:ext cx="274320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Hatefulness</a:t>
            </a:r>
          </a:p>
        </p:txBody>
      </p:sp>
      <p:grpSp>
        <p:nvGrpSpPr>
          <p:cNvPr name="Group 22" id="22"/>
          <p:cNvGrpSpPr/>
          <p:nvPr/>
        </p:nvGrpSpPr>
        <p:grpSpPr>
          <a:xfrm rot="0">
            <a:off x="1165860" y="4526280"/>
            <a:ext cx="1783080" cy="960120"/>
            <a:chOff x="0" y="0"/>
            <a:chExt cx="2377440" cy="1280160"/>
          </a:xfrm>
        </p:grpSpPr>
        <p:sp>
          <p:nvSpPr>
            <p:cNvPr name="Freeform 23" id="23"/>
            <p:cNvSpPr/>
            <p:nvPr/>
          </p:nvSpPr>
          <p:spPr>
            <a:xfrm flipH="false" flipV="false" rot="0">
              <a:off x="0" y="0"/>
              <a:ext cx="2377440" cy="1280160"/>
            </a:xfrm>
            <a:custGeom>
              <a:avLst/>
              <a:gdLst/>
              <a:ahLst/>
              <a:cxnLst/>
              <a:rect r="r" b="b" t="t" l="l"/>
              <a:pathLst>
                <a:path h="1280160" w="2377440">
                  <a:moveTo>
                    <a:pt x="0" y="0"/>
                  </a:moveTo>
                  <a:lnTo>
                    <a:pt x="2377440" y="0"/>
                  </a:lnTo>
                  <a:lnTo>
                    <a:pt x="2377440" y="1280160"/>
                  </a:lnTo>
                  <a:lnTo>
                    <a:pt x="0" y="1280160"/>
                  </a:lnTo>
                  <a:close/>
                </a:path>
              </a:pathLst>
            </a:custGeom>
            <a:blipFill>
              <a:blip r:embed="rId3">
                <a:alphaModFix amt="0"/>
              </a:blip>
              <a:stretch>
                <a:fillRect l="-19086" t="0" r="-19086" b="0"/>
              </a:stretch>
            </a:blipFill>
          </p:spPr>
        </p:sp>
        <p:sp>
          <p:nvSpPr>
            <p:cNvPr name="TextBox 24" id="24"/>
            <p:cNvSpPr txBox="true"/>
            <p:nvPr/>
          </p:nvSpPr>
          <p:spPr>
            <a:xfrm>
              <a:off x="0" y="0"/>
              <a:ext cx="2377440" cy="1280160"/>
            </a:xfrm>
            <a:prstGeom prst="rect">
              <a:avLst/>
            </a:prstGeom>
          </p:spPr>
          <p:txBody>
            <a:bodyPr anchor="ctr" rtlCol="false" tIns="0" lIns="0" bIns="0" rIns="0"/>
            <a:lstStyle/>
            <a:p>
              <a:pPr algn="l">
                <a:lnSpc>
                  <a:spcPts val="5040"/>
                </a:lnSpc>
              </a:pPr>
              <a:r>
                <a:rPr lang="en-US" sz="4200" b="true">
                  <a:solidFill>
                    <a:srgbClr val="000000"/>
                  </a:solidFill>
                  <a:latin typeface="Helvetica World Bold"/>
                  <a:ea typeface="Helvetica World Bold"/>
                  <a:cs typeface="Helvetica World Bold"/>
                  <a:sym typeface="Helvetica World Bold"/>
                </a:rPr>
                <a:t>E059</a:t>
              </a:r>
            </a:p>
          </p:txBody>
        </p:sp>
      </p:grpSp>
      <p:grpSp>
        <p:nvGrpSpPr>
          <p:cNvPr name="Group 25" id="25"/>
          <p:cNvGrpSpPr/>
          <p:nvPr/>
        </p:nvGrpSpPr>
        <p:grpSpPr>
          <a:xfrm rot="0">
            <a:off x="3017520" y="4457700"/>
            <a:ext cx="2880360" cy="1028700"/>
            <a:chOff x="0" y="0"/>
            <a:chExt cx="3840480" cy="1371600"/>
          </a:xfrm>
        </p:grpSpPr>
        <p:sp>
          <p:nvSpPr>
            <p:cNvPr name="Freeform 26" id="26"/>
            <p:cNvSpPr/>
            <p:nvPr/>
          </p:nvSpPr>
          <p:spPr>
            <a:xfrm flipH="false" flipV="false" rot="0">
              <a:off x="0" y="0"/>
              <a:ext cx="3840480" cy="1371600"/>
            </a:xfrm>
            <a:custGeom>
              <a:avLst/>
              <a:gdLst/>
              <a:ahLst/>
              <a:cxnLst/>
              <a:rect r="r" b="b" t="t" l="l"/>
              <a:pathLst>
                <a:path h="1371600" w="3840480">
                  <a:moveTo>
                    <a:pt x="0" y="0"/>
                  </a:moveTo>
                  <a:lnTo>
                    <a:pt x="3840480" y="0"/>
                  </a:lnTo>
                  <a:lnTo>
                    <a:pt x="3840480" y="1371600"/>
                  </a:lnTo>
                  <a:lnTo>
                    <a:pt x="0" y="1371600"/>
                  </a:lnTo>
                  <a:close/>
                </a:path>
              </a:pathLst>
            </a:custGeom>
            <a:blipFill>
              <a:blip r:embed="rId3">
                <a:alphaModFix amt="0"/>
              </a:blip>
              <a:stretch>
                <a:fillRect l="0" t="-4558" r="0" b="-4558"/>
              </a:stretch>
            </a:blipFill>
          </p:spPr>
        </p:sp>
        <p:sp>
          <p:nvSpPr>
            <p:cNvPr name="TextBox 27" id="27"/>
            <p:cNvSpPr txBox="true"/>
            <p:nvPr/>
          </p:nvSpPr>
          <p:spPr>
            <a:xfrm>
              <a:off x="0" y="-9525"/>
              <a:ext cx="3840480" cy="1381125"/>
            </a:xfrm>
            <a:prstGeom prst="rect">
              <a:avLst/>
            </a:prstGeom>
          </p:spPr>
          <p:txBody>
            <a:bodyPr anchor="ctr" rtlCol="false" tIns="0" lIns="0" bIns="0" rIns="0"/>
            <a:lstStyle/>
            <a:p>
              <a:pPr algn="l">
                <a:lnSpc>
                  <a:spcPts val="5400"/>
                </a:lnSpc>
              </a:pPr>
              <a:r>
                <a:rPr lang="en-US" sz="4500" b="true">
                  <a:solidFill>
                    <a:srgbClr val="F5582E"/>
                  </a:solidFill>
                  <a:latin typeface="Helvetica World Bold"/>
                  <a:ea typeface="Helvetica World Bold"/>
                  <a:cs typeface="Helvetica World Bold"/>
                  <a:sym typeface="Helvetica World Bold"/>
                </a:rPr>
                <a:t>0,8293</a:t>
              </a:r>
            </a:p>
          </p:txBody>
        </p:sp>
      </p:grpSp>
      <p:grpSp>
        <p:nvGrpSpPr>
          <p:cNvPr name="Group 28" id="28"/>
          <p:cNvGrpSpPr/>
          <p:nvPr/>
        </p:nvGrpSpPr>
        <p:grpSpPr>
          <a:xfrm rot="0">
            <a:off x="5966460" y="4526280"/>
            <a:ext cx="2400300" cy="960120"/>
            <a:chOff x="0" y="0"/>
            <a:chExt cx="3200400" cy="1280160"/>
          </a:xfrm>
        </p:grpSpPr>
        <p:sp>
          <p:nvSpPr>
            <p:cNvPr name="Freeform 29" id="29"/>
            <p:cNvSpPr/>
            <p:nvPr/>
          </p:nvSpPr>
          <p:spPr>
            <a:xfrm flipH="false" flipV="false" rot="0">
              <a:off x="0" y="0"/>
              <a:ext cx="3200400" cy="1280160"/>
            </a:xfrm>
            <a:custGeom>
              <a:avLst/>
              <a:gdLst/>
              <a:ahLst/>
              <a:cxnLst/>
              <a:rect r="r" b="b" t="t" l="l"/>
              <a:pathLst>
                <a:path h="1280160" w="3200400">
                  <a:moveTo>
                    <a:pt x="0" y="0"/>
                  </a:moveTo>
                  <a:lnTo>
                    <a:pt x="3200400" y="0"/>
                  </a:lnTo>
                  <a:lnTo>
                    <a:pt x="3200400" y="1280160"/>
                  </a:lnTo>
                  <a:lnTo>
                    <a:pt x="0" y="1280160"/>
                  </a:lnTo>
                  <a:close/>
                </a:path>
              </a:pathLst>
            </a:custGeom>
            <a:blipFill>
              <a:blip r:embed="rId3">
                <a:alphaModFix amt="0"/>
              </a:blip>
              <a:stretch>
                <a:fillRect l="-1321" t="0" r="-1321" b="0"/>
              </a:stretch>
            </a:blipFill>
          </p:spPr>
        </p:sp>
        <p:sp>
          <p:nvSpPr>
            <p:cNvPr name="TextBox 30" id="30"/>
            <p:cNvSpPr txBox="true"/>
            <p:nvPr/>
          </p:nvSpPr>
          <p:spPr>
            <a:xfrm>
              <a:off x="0" y="9525"/>
              <a:ext cx="3200400" cy="1270635"/>
            </a:xfrm>
            <a:prstGeom prst="rect">
              <a:avLst/>
            </a:prstGeom>
          </p:spPr>
          <p:txBody>
            <a:bodyPr anchor="ctr" rtlCol="false" tIns="0" lIns="0" bIns="0" rIns="0"/>
            <a:lstStyle/>
            <a:p>
              <a:pPr algn="l">
                <a:lnSpc>
                  <a:spcPts val="1980"/>
                </a:lnSpc>
              </a:pPr>
              <a:r>
                <a:rPr lang="en-US" sz="1650">
                  <a:solidFill>
                    <a:srgbClr val="595959"/>
                  </a:solidFill>
                  <a:latin typeface="Helvetica World"/>
                  <a:ea typeface="Helvetica World"/>
                  <a:cs typeface="Helvetica World"/>
                  <a:sym typeface="Helvetica World"/>
                </a:rPr>
                <a:t>validasi · skor uji 0,8043</a:t>
              </a:r>
            </a:p>
          </p:txBody>
        </p:sp>
      </p:grpSp>
      <p:sp>
        <p:nvSpPr>
          <p:cNvPr name="TextBox 31" id="31"/>
          <p:cNvSpPr txBox="true"/>
          <p:nvPr/>
        </p:nvSpPr>
        <p:spPr>
          <a:xfrm rot="0">
            <a:off x="1165860" y="5829300"/>
            <a:ext cx="274320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Appropriateness</a:t>
            </a:r>
          </a:p>
        </p:txBody>
      </p:sp>
      <p:grpSp>
        <p:nvGrpSpPr>
          <p:cNvPr name="Group 32" id="32"/>
          <p:cNvGrpSpPr/>
          <p:nvPr/>
        </p:nvGrpSpPr>
        <p:grpSpPr>
          <a:xfrm rot="0">
            <a:off x="1165860" y="6240780"/>
            <a:ext cx="1783080" cy="960120"/>
            <a:chOff x="0" y="0"/>
            <a:chExt cx="2377440" cy="1280160"/>
          </a:xfrm>
        </p:grpSpPr>
        <p:sp>
          <p:nvSpPr>
            <p:cNvPr name="Freeform 33" id="33"/>
            <p:cNvSpPr/>
            <p:nvPr/>
          </p:nvSpPr>
          <p:spPr>
            <a:xfrm flipH="false" flipV="false" rot="0">
              <a:off x="0" y="0"/>
              <a:ext cx="2377440" cy="1280160"/>
            </a:xfrm>
            <a:custGeom>
              <a:avLst/>
              <a:gdLst/>
              <a:ahLst/>
              <a:cxnLst/>
              <a:rect r="r" b="b" t="t" l="l"/>
              <a:pathLst>
                <a:path h="1280160" w="2377440">
                  <a:moveTo>
                    <a:pt x="0" y="0"/>
                  </a:moveTo>
                  <a:lnTo>
                    <a:pt x="2377440" y="0"/>
                  </a:lnTo>
                  <a:lnTo>
                    <a:pt x="2377440" y="1280160"/>
                  </a:lnTo>
                  <a:lnTo>
                    <a:pt x="0" y="1280160"/>
                  </a:lnTo>
                  <a:close/>
                </a:path>
              </a:pathLst>
            </a:custGeom>
            <a:blipFill>
              <a:blip r:embed="rId3">
                <a:alphaModFix amt="0"/>
              </a:blip>
              <a:stretch>
                <a:fillRect l="-19086" t="0" r="-19086" b="0"/>
              </a:stretch>
            </a:blipFill>
          </p:spPr>
        </p:sp>
        <p:sp>
          <p:nvSpPr>
            <p:cNvPr name="TextBox 34" id="34"/>
            <p:cNvSpPr txBox="true"/>
            <p:nvPr/>
          </p:nvSpPr>
          <p:spPr>
            <a:xfrm>
              <a:off x="0" y="0"/>
              <a:ext cx="2377440" cy="1280160"/>
            </a:xfrm>
            <a:prstGeom prst="rect">
              <a:avLst/>
            </a:prstGeom>
          </p:spPr>
          <p:txBody>
            <a:bodyPr anchor="ctr" rtlCol="false" tIns="0" lIns="0" bIns="0" rIns="0"/>
            <a:lstStyle/>
            <a:p>
              <a:pPr algn="l">
                <a:lnSpc>
                  <a:spcPts val="5040"/>
                </a:lnSpc>
              </a:pPr>
              <a:r>
                <a:rPr lang="en-US" sz="4200" b="true">
                  <a:solidFill>
                    <a:srgbClr val="000000"/>
                  </a:solidFill>
                  <a:latin typeface="Helvetica World Bold"/>
                  <a:ea typeface="Helvetica World Bold"/>
                  <a:cs typeface="Helvetica World Bold"/>
                  <a:sym typeface="Helvetica World Bold"/>
                </a:rPr>
                <a:t>E042</a:t>
              </a:r>
            </a:p>
          </p:txBody>
        </p:sp>
      </p:grpSp>
      <p:grpSp>
        <p:nvGrpSpPr>
          <p:cNvPr name="Group 35" id="35"/>
          <p:cNvGrpSpPr/>
          <p:nvPr/>
        </p:nvGrpSpPr>
        <p:grpSpPr>
          <a:xfrm rot="0">
            <a:off x="3017520" y="6172200"/>
            <a:ext cx="2880360" cy="1028700"/>
            <a:chOff x="0" y="0"/>
            <a:chExt cx="3840480" cy="1371600"/>
          </a:xfrm>
        </p:grpSpPr>
        <p:sp>
          <p:nvSpPr>
            <p:cNvPr name="Freeform 36" id="36"/>
            <p:cNvSpPr/>
            <p:nvPr/>
          </p:nvSpPr>
          <p:spPr>
            <a:xfrm flipH="false" flipV="false" rot="0">
              <a:off x="0" y="0"/>
              <a:ext cx="3840480" cy="1371600"/>
            </a:xfrm>
            <a:custGeom>
              <a:avLst/>
              <a:gdLst/>
              <a:ahLst/>
              <a:cxnLst/>
              <a:rect r="r" b="b" t="t" l="l"/>
              <a:pathLst>
                <a:path h="1371600" w="3840480">
                  <a:moveTo>
                    <a:pt x="0" y="0"/>
                  </a:moveTo>
                  <a:lnTo>
                    <a:pt x="3840480" y="0"/>
                  </a:lnTo>
                  <a:lnTo>
                    <a:pt x="3840480" y="1371600"/>
                  </a:lnTo>
                  <a:lnTo>
                    <a:pt x="0" y="1371600"/>
                  </a:lnTo>
                  <a:close/>
                </a:path>
              </a:pathLst>
            </a:custGeom>
            <a:blipFill>
              <a:blip r:embed="rId3">
                <a:alphaModFix amt="0"/>
              </a:blip>
              <a:stretch>
                <a:fillRect l="0" t="-4558" r="0" b="-4558"/>
              </a:stretch>
            </a:blipFill>
          </p:spPr>
        </p:sp>
        <p:sp>
          <p:nvSpPr>
            <p:cNvPr name="TextBox 37" id="37"/>
            <p:cNvSpPr txBox="true"/>
            <p:nvPr/>
          </p:nvSpPr>
          <p:spPr>
            <a:xfrm>
              <a:off x="0" y="-9525"/>
              <a:ext cx="3840480" cy="1381125"/>
            </a:xfrm>
            <a:prstGeom prst="rect">
              <a:avLst/>
            </a:prstGeom>
          </p:spPr>
          <p:txBody>
            <a:bodyPr anchor="ctr" rtlCol="false" tIns="0" lIns="0" bIns="0" rIns="0"/>
            <a:lstStyle/>
            <a:p>
              <a:pPr algn="l">
                <a:lnSpc>
                  <a:spcPts val="5400"/>
                </a:lnSpc>
              </a:pPr>
              <a:r>
                <a:rPr lang="en-US" sz="4500" b="true">
                  <a:solidFill>
                    <a:srgbClr val="F5582E"/>
                  </a:solidFill>
                  <a:latin typeface="Helvetica World Bold"/>
                  <a:ea typeface="Helvetica World Bold"/>
                  <a:cs typeface="Helvetica World Bold"/>
                  <a:sym typeface="Helvetica World Bold"/>
                </a:rPr>
                <a:t>0,7924</a:t>
              </a:r>
            </a:p>
          </p:txBody>
        </p:sp>
      </p:grpSp>
      <p:grpSp>
        <p:nvGrpSpPr>
          <p:cNvPr name="Group 38" id="38"/>
          <p:cNvGrpSpPr/>
          <p:nvPr/>
        </p:nvGrpSpPr>
        <p:grpSpPr>
          <a:xfrm rot="0">
            <a:off x="5966460" y="6240780"/>
            <a:ext cx="2400300" cy="960120"/>
            <a:chOff x="0" y="0"/>
            <a:chExt cx="3200400" cy="1280160"/>
          </a:xfrm>
        </p:grpSpPr>
        <p:sp>
          <p:nvSpPr>
            <p:cNvPr name="Freeform 39" id="39"/>
            <p:cNvSpPr/>
            <p:nvPr/>
          </p:nvSpPr>
          <p:spPr>
            <a:xfrm flipH="false" flipV="false" rot="0">
              <a:off x="0" y="0"/>
              <a:ext cx="3200400" cy="1280160"/>
            </a:xfrm>
            <a:custGeom>
              <a:avLst/>
              <a:gdLst/>
              <a:ahLst/>
              <a:cxnLst/>
              <a:rect r="r" b="b" t="t" l="l"/>
              <a:pathLst>
                <a:path h="1280160" w="3200400">
                  <a:moveTo>
                    <a:pt x="0" y="0"/>
                  </a:moveTo>
                  <a:lnTo>
                    <a:pt x="3200400" y="0"/>
                  </a:lnTo>
                  <a:lnTo>
                    <a:pt x="3200400" y="1280160"/>
                  </a:lnTo>
                  <a:lnTo>
                    <a:pt x="0" y="1280160"/>
                  </a:lnTo>
                  <a:close/>
                </a:path>
              </a:pathLst>
            </a:custGeom>
            <a:blipFill>
              <a:blip r:embed="rId3">
                <a:alphaModFix amt="0"/>
              </a:blip>
              <a:stretch>
                <a:fillRect l="-1321" t="0" r="-1321" b="0"/>
              </a:stretch>
            </a:blipFill>
          </p:spPr>
        </p:sp>
        <p:sp>
          <p:nvSpPr>
            <p:cNvPr name="TextBox 40" id="40"/>
            <p:cNvSpPr txBox="true"/>
            <p:nvPr/>
          </p:nvSpPr>
          <p:spPr>
            <a:xfrm>
              <a:off x="0" y="9525"/>
              <a:ext cx="3200400" cy="1270635"/>
            </a:xfrm>
            <a:prstGeom prst="rect">
              <a:avLst/>
            </a:prstGeom>
          </p:spPr>
          <p:txBody>
            <a:bodyPr anchor="ctr" rtlCol="false" tIns="0" lIns="0" bIns="0" rIns="0"/>
            <a:lstStyle/>
            <a:p>
              <a:pPr algn="l">
                <a:lnSpc>
                  <a:spcPts val="1980"/>
                </a:lnSpc>
              </a:pPr>
              <a:r>
                <a:rPr lang="en-US" sz="1650">
                  <a:solidFill>
                    <a:srgbClr val="595959"/>
                  </a:solidFill>
                  <a:latin typeface="Helvetica World"/>
                  <a:ea typeface="Helvetica World"/>
                  <a:cs typeface="Helvetica World"/>
                  <a:sym typeface="Helvetica World"/>
                </a:rPr>
                <a:t>validasi · skor uji 0,7984</a:t>
              </a:r>
            </a:p>
          </p:txBody>
        </p:sp>
      </p:grpSp>
      <p:sp>
        <p:nvSpPr>
          <p:cNvPr name="TextBox 41" id="41"/>
          <p:cNvSpPr txBox="true"/>
          <p:nvPr/>
        </p:nvSpPr>
        <p:spPr>
          <a:xfrm rot="0">
            <a:off x="9806940" y="4114800"/>
            <a:ext cx="274320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Hatefulness</a:t>
            </a:r>
          </a:p>
        </p:txBody>
      </p:sp>
      <p:grpSp>
        <p:nvGrpSpPr>
          <p:cNvPr name="Group 42" id="42"/>
          <p:cNvGrpSpPr/>
          <p:nvPr/>
        </p:nvGrpSpPr>
        <p:grpSpPr>
          <a:xfrm rot="0">
            <a:off x="9806940" y="4526280"/>
            <a:ext cx="1783080" cy="960120"/>
            <a:chOff x="0" y="0"/>
            <a:chExt cx="2377440" cy="1280160"/>
          </a:xfrm>
        </p:grpSpPr>
        <p:sp>
          <p:nvSpPr>
            <p:cNvPr name="Freeform 43" id="43"/>
            <p:cNvSpPr/>
            <p:nvPr/>
          </p:nvSpPr>
          <p:spPr>
            <a:xfrm flipH="false" flipV="false" rot="0">
              <a:off x="0" y="0"/>
              <a:ext cx="2377440" cy="1280160"/>
            </a:xfrm>
            <a:custGeom>
              <a:avLst/>
              <a:gdLst/>
              <a:ahLst/>
              <a:cxnLst/>
              <a:rect r="r" b="b" t="t" l="l"/>
              <a:pathLst>
                <a:path h="1280160" w="2377440">
                  <a:moveTo>
                    <a:pt x="0" y="0"/>
                  </a:moveTo>
                  <a:lnTo>
                    <a:pt x="2377440" y="0"/>
                  </a:lnTo>
                  <a:lnTo>
                    <a:pt x="2377440" y="1280160"/>
                  </a:lnTo>
                  <a:lnTo>
                    <a:pt x="0" y="1280160"/>
                  </a:lnTo>
                  <a:close/>
                </a:path>
              </a:pathLst>
            </a:custGeom>
            <a:blipFill>
              <a:blip r:embed="rId3">
                <a:alphaModFix amt="0"/>
              </a:blip>
              <a:stretch>
                <a:fillRect l="-19086" t="0" r="-19086" b="0"/>
              </a:stretch>
            </a:blipFill>
          </p:spPr>
        </p:sp>
        <p:sp>
          <p:nvSpPr>
            <p:cNvPr name="TextBox 44" id="44"/>
            <p:cNvSpPr txBox="true"/>
            <p:nvPr/>
          </p:nvSpPr>
          <p:spPr>
            <a:xfrm>
              <a:off x="0" y="0"/>
              <a:ext cx="2377440" cy="1280160"/>
            </a:xfrm>
            <a:prstGeom prst="rect">
              <a:avLst/>
            </a:prstGeom>
          </p:spPr>
          <p:txBody>
            <a:bodyPr anchor="ctr" rtlCol="false" tIns="0" lIns="0" bIns="0" rIns="0"/>
            <a:lstStyle/>
            <a:p>
              <a:pPr algn="l">
                <a:lnSpc>
                  <a:spcPts val="5040"/>
                </a:lnSpc>
              </a:pPr>
              <a:r>
                <a:rPr lang="en-US" sz="4200" b="true">
                  <a:solidFill>
                    <a:srgbClr val="000000"/>
                  </a:solidFill>
                  <a:latin typeface="Helvetica World Bold"/>
                  <a:ea typeface="Helvetica World Bold"/>
                  <a:cs typeface="Helvetica World Bold"/>
                  <a:sym typeface="Helvetica World Bold"/>
                </a:rPr>
                <a:t>E041</a:t>
              </a:r>
            </a:p>
          </p:txBody>
        </p:sp>
      </p:grpSp>
      <p:grpSp>
        <p:nvGrpSpPr>
          <p:cNvPr name="Group 45" id="45"/>
          <p:cNvGrpSpPr/>
          <p:nvPr/>
        </p:nvGrpSpPr>
        <p:grpSpPr>
          <a:xfrm rot="0">
            <a:off x="11932920" y="4457700"/>
            <a:ext cx="2606040" cy="1028700"/>
            <a:chOff x="0" y="0"/>
            <a:chExt cx="3474720" cy="1371600"/>
          </a:xfrm>
        </p:grpSpPr>
        <p:sp>
          <p:nvSpPr>
            <p:cNvPr name="Freeform 46" id="46"/>
            <p:cNvSpPr/>
            <p:nvPr/>
          </p:nvSpPr>
          <p:spPr>
            <a:xfrm flipH="false" flipV="false" rot="0">
              <a:off x="0" y="0"/>
              <a:ext cx="3474720" cy="1371600"/>
            </a:xfrm>
            <a:custGeom>
              <a:avLst/>
              <a:gdLst/>
              <a:ahLst/>
              <a:cxnLst/>
              <a:rect r="r" b="b" t="t" l="l"/>
              <a:pathLst>
                <a:path h="1371600" w="3474720">
                  <a:moveTo>
                    <a:pt x="0" y="0"/>
                  </a:moveTo>
                  <a:lnTo>
                    <a:pt x="3474720" y="0"/>
                  </a:lnTo>
                  <a:lnTo>
                    <a:pt x="3474720" y="1371600"/>
                  </a:lnTo>
                  <a:lnTo>
                    <a:pt x="0" y="1371600"/>
                  </a:lnTo>
                  <a:close/>
                </a:path>
              </a:pathLst>
            </a:custGeom>
            <a:blipFill>
              <a:blip r:embed="rId3">
                <a:alphaModFix amt="0"/>
              </a:blip>
              <a:stretch>
                <a:fillRect l="-646" t="0" r="-646" b="0"/>
              </a:stretch>
            </a:blipFill>
          </p:spPr>
        </p:sp>
        <p:sp>
          <p:nvSpPr>
            <p:cNvPr name="TextBox 47" id="47"/>
            <p:cNvSpPr txBox="true"/>
            <p:nvPr/>
          </p:nvSpPr>
          <p:spPr>
            <a:xfrm>
              <a:off x="0" y="0"/>
              <a:ext cx="3474720" cy="1371600"/>
            </a:xfrm>
            <a:prstGeom prst="rect">
              <a:avLst/>
            </a:prstGeom>
          </p:spPr>
          <p:txBody>
            <a:bodyPr anchor="ctr" rtlCol="false" tIns="0" lIns="0" bIns="0" rIns="0"/>
            <a:lstStyle/>
            <a:p>
              <a:pPr algn="l">
                <a:lnSpc>
                  <a:spcPts val="6120"/>
                </a:lnSpc>
              </a:pPr>
              <a:r>
                <a:rPr lang="en-US" sz="5100" b="true">
                  <a:solidFill>
                    <a:srgbClr val="000000"/>
                  </a:solidFill>
                  <a:latin typeface="Helvetica World Bold"/>
                  <a:ea typeface="Helvetica World Bold"/>
                  <a:cs typeface="Helvetica World Bold"/>
                  <a:sym typeface="Helvetica World Bold"/>
                </a:rPr>
                <a:t>0,8058</a:t>
              </a:r>
            </a:p>
          </p:txBody>
        </p:sp>
      </p:grpSp>
      <p:grpSp>
        <p:nvGrpSpPr>
          <p:cNvPr name="Group 48" id="48"/>
          <p:cNvGrpSpPr/>
          <p:nvPr/>
        </p:nvGrpSpPr>
        <p:grpSpPr>
          <a:xfrm rot="0">
            <a:off x="14538960" y="4526280"/>
            <a:ext cx="2743200" cy="960120"/>
            <a:chOff x="0" y="0"/>
            <a:chExt cx="3657600" cy="1280160"/>
          </a:xfrm>
        </p:grpSpPr>
        <p:sp>
          <p:nvSpPr>
            <p:cNvPr name="Freeform 49" id="49"/>
            <p:cNvSpPr/>
            <p:nvPr/>
          </p:nvSpPr>
          <p:spPr>
            <a:xfrm flipH="false" flipV="false" rot="0">
              <a:off x="0" y="0"/>
              <a:ext cx="3657600" cy="1280160"/>
            </a:xfrm>
            <a:custGeom>
              <a:avLst/>
              <a:gdLst/>
              <a:ahLst/>
              <a:cxnLst/>
              <a:rect r="r" b="b" t="t" l="l"/>
              <a:pathLst>
                <a:path h="1280160" w="3657600">
                  <a:moveTo>
                    <a:pt x="0" y="0"/>
                  </a:moveTo>
                  <a:lnTo>
                    <a:pt x="3657600" y="0"/>
                  </a:lnTo>
                  <a:lnTo>
                    <a:pt x="3657600" y="1280160"/>
                  </a:lnTo>
                  <a:lnTo>
                    <a:pt x="0" y="1280160"/>
                  </a:lnTo>
                  <a:close/>
                </a:path>
              </a:pathLst>
            </a:custGeom>
            <a:blipFill>
              <a:blip r:embed="rId3">
                <a:alphaModFix amt="0"/>
              </a:blip>
              <a:stretch>
                <a:fillRect l="0" t="-5671" r="0" b="-5671"/>
              </a:stretch>
            </a:blipFill>
          </p:spPr>
        </p:sp>
        <p:sp>
          <p:nvSpPr>
            <p:cNvPr name="TextBox 50" id="50"/>
            <p:cNvSpPr txBox="true"/>
            <p:nvPr/>
          </p:nvSpPr>
          <p:spPr>
            <a:xfrm>
              <a:off x="0" y="9525"/>
              <a:ext cx="3657600" cy="1270635"/>
            </a:xfrm>
            <a:prstGeom prst="rect">
              <a:avLst/>
            </a:prstGeom>
          </p:spPr>
          <p:txBody>
            <a:bodyPr anchor="ctr" rtlCol="false" tIns="0" lIns="0" bIns="0" rIns="0"/>
            <a:lstStyle/>
            <a:p>
              <a:pPr algn="l">
                <a:lnSpc>
                  <a:spcPts val="1980"/>
                </a:lnSpc>
              </a:pPr>
              <a:r>
                <a:rPr lang="en-US" sz="1650">
                  <a:solidFill>
                    <a:srgbClr val="595959"/>
                  </a:solidFill>
                  <a:latin typeface="Helvetica World"/>
                  <a:ea typeface="Helvetica World"/>
                  <a:cs typeface="Helvetica World"/>
                  <a:sym typeface="Helvetica World"/>
                </a:rPr>
                <a:t>Macro-F1 uji</a:t>
              </a:r>
            </a:p>
          </p:txBody>
        </p:sp>
      </p:grpSp>
      <p:sp>
        <p:nvSpPr>
          <p:cNvPr name="TextBox 51" id="51"/>
          <p:cNvSpPr txBox="true"/>
          <p:nvPr/>
        </p:nvSpPr>
        <p:spPr>
          <a:xfrm rot="0">
            <a:off x="9806940" y="5829300"/>
            <a:ext cx="274320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Appropriateness</a:t>
            </a:r>
          </a:p>
        </p:txBody>
      </p:sp>
      <p:grpSp>
        <p:nvGrpSpPr>
          <p:cNvPr name="Group 52" id="52"/>
          <p:cNvGrpSpPr/>
          <p:nvPr/>
        </p:nvGrpSpPr>
        <p:grpSpPr>
          <a:xfrm rot="0">
            <a:off x="9806940" y="6240780"/>
            <a:ext cx="1783080" cy="960120"/>
            <a:chOff x="0" y="0"/>
            <a:chExt cx="2377440" cy="1280160"/>
          </a:xfrm>
        </p:grpSpPr>
        <p:sp>
          <p:nvSpPr>
            <p:cNvPr name="Freeform 53" id="53"/>
            <p:cNvSpPr/>
            <p:nvPr/>
          </p:nvSpPr>
          <p:spPr>
            <a:xfrm flipH="false" flipV="false" rot="0">
              <a:off x="0" y="0"/>
              <a:ext cx="2377440" cy="1280160"/>
            </a:xfrm>
            <a:custGeom>
              <a:avLst/>
              <a:gdLst/>
              <a:ahLst/>
              <a:cxnLst/>
              <a:rect r="r" b="b" t="t" l="l"/>
              <a:pathLst>
                <a:path h="1280160" w="2377440">
                  <a:moveTo>
                    <a:pt x="0" y="0"/>
                  </a:moveTo>
                  <a:lnTo>
                    <a:pt x="2377440" y="0"/>
                  </a:lnTo>
                  <a:lnTo>
                    <a:pt x="2377440" y="1280160"/>
                  </a:lnTo>
                  <a:lnTo>
                    <a:pt x="0" y="1280160"/>
                  </a:lnTo>
                  <a:close/>
                </a:path>
              </a:pathLst>
            </a:custGeom>
            <a:blipFill>
              <a:blip r:embed="rId3">
                <a:alphaModFix amt="0"/>
              </a:blip>
              <a:stretch>
                <a:fillRect l="-19086" t="0" r="-19086" b="0"/>
              </a:stretch>
            </a:blipFill>
          </p:spPr>
        </p:sp>
        <p:sp>
          <p:nvSpPr>
            <p:cNvPr name="TextBox 54" id="54"/>
            <p:cNvSpPr txBox="true"/>
            <p:nvPr/>
          </p:nvSpPr>
          <p:spPr>
            <a:xfrm>
              <a:off x="0" y="0"/>
              <a:ext cx="2377440" cy="1280160"/>
            </a:xfrm>
            <a:prstGeom prst="rect">
              <a:avLst/>
            </a:prstGeom>
          </p:spPr>
          <p:txBody>
            <a:bodyPr anchor="ctr" rtlCol="false" tIns="0" lIns="0" bIns="0" rIns="0"/>
            <a:lstStyle/>
            <a:p>
              <a:pPr algn="l">
                <a:lnSpc>
                  <a:spcPts val="5040"/>
                </a:lnSpc>
              </a:pPr>
              <a:r>
                <a:rPr lang="en-US" sz="4200" b="true">
                  <a:solidFill>
                    <a:srgbClr val="000000"/>
                  </a:solidFill>
                  <a:latin typeface="Helvetica World Bold"/>
                  <a:ea typeface="Helvetica World Bold"/>
                  <a:cs typeface="Helvetica World Bold"/>
                  <a:sym typeface="Helvetica World Bold"/>
                </a:rPr>
                <a:t>E060</a:t>
              </a:r>
            </a:p>
          </p:txBody>
        </p:sp>
      </p:grpSp>
      <p:grpSp>
        <p:nvGrpSpPr>
          <p:cNvPr name="Group 55" id="55"/>
          <p:cNvGrpSpPr/>
          <p:nvPr/>
        </p:nvGrpSpPr>
        <p:grpSpPr>
          <a:xfrm rot="0">
            <a:off x="11932920" y="6172200"/>
            <a:ext cx="2606040" cy="1028700"/>
            <a:chOff x="0" y="0"/>
            <a:chExt cx="3474720" cy="1371600"/>
          </a:xfrm>
        </p:grpSpPr>
        <p:sp>
          <p:nvSpPr>
            <p:cNvPr name="Freeform 56" id="56"/>
            <p:cNvSpPr/>
            <p:nvPr/>
          </p:nvSpPr>
          <p:spPr>
            <a:xfrm flipH="false" flipV="false" rot="0">
              <a:off x="0" y="0"/>
              <a:ext cx="3474720" cy="1371600"/>
            </a:xfrm>
            <a:custGeom>
              <a:avLst/>
              <a:gdLst/>
              <a:ahLst/>
              <a:cxnLst/>
              <a:rect r="r" b="b" t="t" l="l"/>
              <a:pathLst>
                <a:path h="1371600" w="3474720">
                  <a:moveTo>
                    <a:pt x="0" y="0"/>
                  </a:moveTo>
                  <a:lnTo>
                    <a:pt x="3474720" y="0"/>
                  </a:lnTo>
                  <a:lnTo>
                    <a:pt x="3474720" y="1371600"/>
                  </a:lnTo>
                  <a:lnTo>
                    <a:pt x="0" y="1371600"/>
                  </a:lnTo>
                  <a:close/>
                </a:path>
              </a:pathLst>
            </a:custGeom>
            <a:blipFill>
              <a:blip r:embed="rId3">
                <a:alphaModFix amt="0"/>
              </a:blip>
              <a:stretch>
                <a:fillRect l="-646" t="0" r="-646" b="0"/>
              </a:stretch>
            </a:blipFill>
          </p:spPr>
        </p:sp>
        <p:sp>
          <p:nvSpPr>
            <p:cNvPr name="TextBox 57" id="57"/>
            <p:cNvSpPr txBox="true"/>
            <p:nvPr/>
          </p:nvSpPr>
          <p:spPr>
            <a:xfrm>
              <a:off x="0" y="0"/>
              <a:ext cx="3474720" cy="1371600"/>
            </a:xfrm>
            <a:prstGeom prst="rect">
              <a:avLst/>
            </a:prstGeom>
          </p:spPr>
          <p:txBody>
            <a:bodyPr anchor="ctr" rtlCol="false" tIns="0" lIns="0" bIns="0" rIns="0"/>
            <a:lstStyle/>
            <a:p>
              <a:pPr algn="l">
                <a:lnSpc>
                  <a:spcPts val="6120"/>
                </a:lnSpc>
              </a:pPr>
              <a:r>
                <a:rPr lang="en-US" sz="5100" b="true">
                  <a:solidFill>
                    <a:srgbClr val="000000"/>
                  </a:solidFill>
                  <a:latin typeface="Helvetica World Bold"/>
                  <a:ea typeface="Helvetica World Bold"/>
                  <a:cs typeface="Helvetica World Bold"/>
                  <a:sym typeface="Helvetica World Bold"/>
                </a:rPr>
                <a:t>0,8125</a:t>
              </a:r>
            </a:p>
          </p:txBody>
        </p:sp>
      </p:grpSp>
      <p:grpSp>
        <p:nvGrpSpPr>
          <p:cNvPr name="Group 58" id="58"/>
          <p:cNvGrpSpPr/>
          <p:nvPr/>
        </p:nvGrpSpPr>
        <p:grpSpPr>
          <a:xfrm rot="0">
            <a:off x="14538960" y="6240780"/>
            <a:ext cx="2743200" cy="960120"/>
            <a:chOff x="0" y="0"/>
            <a:chExt cx="3657600" cy="1280160"/>
          </a:xfrm>
        </p:grpSpPr>
        <p:sp>
          <p:nvSpPr>
            <p:cNvPr name="Freeform 59" id="59"/>
            <p:cNvSpPr/>
            <p:nvPr/>
          </p:nvSpPr>
          <p:spPr>
            <a:xfrm flipH="false" flipV="false" rot="0">
              <a:off x="0" y="0"/>
              <a:ext cx="3657600" cy="1280160"/>
            </a:xfrm>
            <a:custGeom>
              <a:avLst/>
              <a:gdLst/>
              <a:ahLst/>
              <a:cxnLst/>
              <a:rect r="r" b="b" t="t" l="l"/>
              <a:pathLst>
                <a:path h="1280160" w="3657600">
                  <a:moveTo>
                    <a:pt x="0" y="0"/>
                  </a:moveTo>
                  <a:lnTo>
                    <a:pt x="3657600" y="0"/>
                  </a:lnTo>
                  <a:lnTo>
                    <a:pt x="3657600" y="1280160"/>
                  </a:lnTo>
                  <a:lnTo>
                    <a:pt x="0" y="1280160"/>
                  </a:lnTo>
                  <a:close/>
                </a:path>
              </a:pathLst>
            </a:custGeom>
            <a:blipFill>
              <a:blip r:embed="rId3">
                <a:alphaModFix amt="0"/>
              </a:blip>
              <a:stretch>
                <a:fillRect l="0" t="-5671" r="0" b="-5671"/>
              </a:stretch>
            </a:blipFill>
          </p:spPr>
        </p:sp>
        <p:sp>
          <p:nvSpPr>
            <p:cNvPr name="TextBox 60" id="60"/>
            <p:cNvSpPr txBox="true"/>
            <p:nvPr/>
          </p:nvSpPr>
          <p:spPr>
            <a:xfrm>
              <a:off x="0" y="9525"/>
              <a:ext cx="3657600" cy="1270635"/>
            </a:xfrm>
            <a:prstGeom prst="rect">
              <a:avLst/>
            </a:prstGeom>
          </p:spPr>
          <p:txBody>
            <a:bodyPr anchor="ctr" rtlCol="false" tIns="0" lIns="0" bIns="0" rIns="0"/>
            <a:lstStyle/>
            <a:p>
              <a:pPr algn="l">
                <a:lnSpc>
                  <a:spcPts val="1980"/>
                </a:lnSpc>
              </a:pPr>
              <a:r>
                <a:rPr lang="en-US" sz="1650">
                  <a:solidFill>
                    <a:srgbClr val="595959"/>
                  </a:solidFill>
                  <a:latin typeface="Helvetica World"/>
                  <a:ea typeface="Helvetica World"/>
                  <a:cs typeface="Helvetica World"/>
                  <a:sym typeface="Helvetica World"/>
                </a:rPr>
                <a:t>Macro-F1 uji</a:t>
              </a:r>
            </a:p>
          </p:txBody>
        </p:sp>
      </p:grpSp>
      <p:sp>
        <p:nvSpPr>
          <p:cNvPr name="TextBox 61" id="61"/>
          <p:cNvSpPr txBox="true"/>
          <p:nvPr/>
        </p:nvSpPr>
        <p:spPr>
          <a:xfrm rot="0">
            <a:off x="822960" y="8161020"/>
            <a:ext cx="16596360" cy="960120"/>
          </a:xfrm>
          <a:prstGeom prst="rect">
            <a:avLst/>
          </a:prstGeom>
        </p:spPr>
        <p:txBody>
          <a:bodyPr anchor="t" rtlCol="false" tIns="0" lIns="0" bIns="0" rIns="0">
            <a:spAutoFit/>
          </a:bodyPr>
          <a:lstStyle/>
          <a:p>
            <a:pPr algn="l">
              <a:lnSpc>
                <a:spcPts val="4680"/>
              </a:lnSpc>
            </a:pPr>
            <a:r>
              <a:rPr lang="en-US" sz="3900" i="true">
                <a:solidFill>
                  <a:srgbClr val="000000"/>
                </a:solidFill>
                <a:latin typeface="Noto Serif Italics"/>
                <a:ea typeface="Noto Serif Italics"/>
                <a:cs typeface="Noto Serif Italics"/>
                <a:sym typeface="Noto Serif Italics"/>
              </a:rPr>
              <a:t>Validasi menentukan kandidat. Data uji menilai kinerjanya.</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11</a:t>
            </a:r>
          </a:p>
        </p:txBody>
      </p:sp>
      <p:sp>
        <p:nvSpPr>
          <p:cNvPr name="TextBox 3" id="3"/>
          <p:cNvSpPr txBox="true"/>
          <p:nvPr/>
        </p:nvSpPr>
        <p:spPr>
          <a:xfrm rot="0">
            <a:off x="822960" y="645795"/>
            <a:ext cx="16596360" cy="1655445"/>
          </a:xfrm>
          <a:prstGeom prst="rect">
            <a:avLst/>
          </a:prstGeom>
        </p:spPr>
        <p:txBody>
          <a:bodyPr anchor="t" rtlCol="false" tIns="0" lIns="0" bIns="0" rIns="0">
            <a:spAutoFit/>
          </a:bodyPr>
          <a:lstStyle/>
          <a:p>
            <a:pPr algn="l">
              <a:lnSpc>
                <a:spcPts val="6155"/>
              </a:lnSpc>
            </a:pPr>
            <a:r>
              <a:rPr lang="en-US" sz="5400" b="true">
                <a:solidFill>
                  <a:srgbClr val="F5582E"/>
                </a:solidFill>
                <a:latin typeface="Helvetica World Bold"/>
                <a:ea typeface="Helvetica World Bold"/>
                <a:cs typeface="Helvetica World Bold"/>
                <a:sym typeface="Helvetica World Bold"/>
              </a:rPr>
              <a:t>MODEL LEBIH KOMPLEKS</a:t>
            </a:r>
          </a:p>
          <a:p>
            <a:pPr algn="l">
              <a:lnSpc>
                <a:spcPts val="5472"/>
              </a:lnSpc>
            </a:pPr>
            <a:r>
              <a:rPr lang="en-US" sz="4800" i="true">
                <a:solidFill>
                  <a:srgbClr val="000000"/>
                </a:solidFill>
                <a:latin typeface="Noto Serif Italics"/>
                <a:ea typeface="Noto Serif Italics"/>
                <a:cs typeface="Noto Serif Italics"/>
                <a:sym typeface="Noto Serif Italics"/>
              </a:rPr>
              <a:t>Belum Tentu Lebih Unggul.</a:t>
            </a:r>
          </a:p>
        </p:txBody>
      </p:sp>
      <p:grpSp>
        <p:nvGrpSpPr>
          <p:cNvPr name="Group 4" id="4"/>
          <p:cNvGrpSpPr/>
          <p:nvPr/>
        </p:nvGrpSpPr>
        <p:grpSpPr>
          <a:xfrm rot="0">
            <a:off x="815816" y="2667476"/>
            <a:ext cx="8243888" cy="5775008"/>
            <a:chOff x="0" y="0"/>
            <a:chExt cx="10991850" cy="7700010"/>
          </a:xfrm>
        </p:grpSpPr>
        <p:sp>
          <p:nvSpPr>
            <p:cNvPr name="Freeform 5" id="5"/>
            <p:cNvSpPr/>
            <p:nvPr/>
          </p:nvSpPr>
          <p:spPr>
            <a:xfrm flipH="false" flipV="false" rot="0">
              <a:off x="0" y="0"/>
              <a:ext cx="10991850" cy="7700010"/>
            </a:xfrm>
            <a:custGeom>
              <a:avLst/>
              <a:gdLst/>
              <a:ahLst/>
              <a:cxnLst/>
              <a:rect r="r" b="b" t="t" l="l"/>
              <a:pathLst>
                <a:path h="7700010" w="10991850">
                  <a:moveTo>
                    <a:pt x="0" y="219964"/>
                  </a:moveTo>
                  <a:cubicBezTo>
                    <a:pt x="0" y="98552"/>
                    <a:pt x="98552" y="0"/>
                    <a:pt x="219964" y="0"/>
                  </a:cubicBezTo>
                  <a:lnTo>
                    <a:pt x="10771886" y="0"/>
                  </a:lnTo>
                  <a:cubicBezTo>
                    <a:pt x="10893425" y="0"/>
                    <a:pt x="10991850" y="98552"/>
                    <a:pt x="10991850" y="219964"/>
                  </a:cubicBezTo>
                  <a:lnTo>
                    <a:pt x="10991850" y="7480046"/>
                  </a:lnTo>
                  <a:cubicBezTo>
                    <a:pt x="10991850" y="7601585"/>
                    <a:pt x="10893298" y="7700010"/>
                    <a:pt x="10771886" y="7700010"/>
                  </a:cubicBezTo>
                  <a:lnTo>
                    <a:pt x="219964" y="7700010"/>
                  </a:lnTo>
                  <a:cubicBezTo>
                    <a:pt x="98552" y="7700010"/>
                    <a:pt x="0" y="7601458"/>
                    <a:pt x="0" y="7480046"/>
                  </a:cubicBezTo>
                  <a:close/>
                </a:path>
              </a:pathLst>
            </a:custGeom>
            <a:solidFill>
              <a:srgbClr val="FFFFFF"/>
            </a:solidFill>
            <a:ln w="14288" cap="sq">
              <a:solidFill>
                <a:srgbClr val="000000"/>
              </a:solidFill>
              <a:prstDash val="solid"/>
              <a:miter/>
            </a:ln>
          </p:spPr>
        </p:sp>
      </p:grpSp>
      <p:grpSp>
        <p:nvGrpSpPr>
          <p:cNvPr name="Group 6" id="6"/>
          <p:cNvGrpSpPr/>
          <p:nvPr/>
        </p:nvGrpSpPr>
        <p:grpSpPr>
          <a:xfrm rot="0">
            <a:off x="815816" y="2667476"/>
            <a:ext cx="8243888" cy="453200"/>
            <a:chOff x="0" y="0"/>
            <a:chExt cx="10991850" cy="604266"/>
          </a:xfrm>
        </p:grpSpPr>
        <p:sp>
          <p:nvSpPr>
            <p:cNvPr name="Freeform 7" id="7"/>
            <p:cNvSpPr/>
            <p:nvPr/>
          </p:nvSpPr>
          <p:spPr>
            <a:xfrm flipH="false" flipV="false" rot="0">
              <a:off x="0" y="0"/>
              <a:ext cx="10991850" cy="604266"/>
            </a:xfrm>
            <a:custGeom>
              <a:avLst/>
              <a:gdLst/>
              <a:ahLst/>
              <a:cxnLst/>
              <a:rect r="r" b="b" t="t" l="l"/>
              <a:pathLst>
                <a:path h="604266" w="10991850">
                  <a:moveTo>
                    <a:pt x="0" y="226568"/>
                  </a:moveTo>
                  <a:cubicBezTo>
                    <a:pt x="0" y="101473"/>
                    <a:pt x="101473" y="0"/>
                    <a:pt x="226568" y="0"/>
                  </a:cubicBezTo>
                  <a:lnTo>
                    <a:pt x="10765282" y="0"/>
                  </a:lnTo>
                  <a:cubicBezTo>
                    <a:pt x="10890376" y="0"/>
                    <a:pt x="10991850" y="101473"/>
                    <a:pt x="10991850" y="226568"/>
                  </a:cubicBezTo>
                  <a:lnTo>
                    <a:pt x="10991850" y="377698"/>
                  </a:lnTo>
                  <a:cubicBezTo>
                    <a:pt x="10991850" y="502793"/>
                    <a:pt x="10890376" y="604266"/>
                    <a:pt x="1076528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8" id="8"/>
          <p:cNvGrpSpPr/>
          <p:nvPr/>
        </p:nvGrpSpPr>
        <p:grpSpPr>
          <a:xfrm rot="0">
            <a:off x="827151" y="2884551"/>
            <a:ext cx="8221218" cy="238506"/>
            <a:chOff x="0" y="0"/>
            <a:chExt cx="10961624" cy="318008"/>
          </a:xfrm>
        </p:grpSpPr>
        <p:sp>
          <p:nvSpPr>
            <p:cNvPr name="Freeform 9" id="9"/>
            <p:cNvSpPr/>
            <p:nvPr/>
          </p:nvSpPr>
          <p:spPr>
            <a:xfrm flipH="false" flipV="false" rot="0">
              <a:off x="0" y="0"/>
              <a:ext cx="10961624" cy="318008"/>
            </a:xfrm>
            <a:custGeom>
              <a:avLst/>
              <a:gdLst/>
              <a:ahLst/>
              <a:cxnLst/>
              <a:rect r="r" b="b" t="t" l="l"/>
              <a:pathLst>
                <a:path h="318008" w="10961624">
                  <a:moveTo>
                    <a:pt x="0" y="0"/>
                  </a:moveTo>
                  <a:lnTo>
                    <a:pt x="10961624" y="0"/>
                  </a:lnTo>
                  <a:lnTo>
                    <a:pt x="10961624" y="318008"/>
                  </a:lnTo>
                  <a:lnTo>
                    <a:pt x="0" y="318008"/>
                  </a:lnTo>
                  <a:close/>
                </a:path>
              </a:pathLst>
            </a:custGeom>
            <a:solidFill>
              <a:srgbClr val="F5582E"/>
            </a:solidFill>
            <a:ln w="19050" cap="sq">
              <a:solidFill>
                <a:srgbClr val="F5582E"/>
              </a:solidFill>
              <a:prstDash val="solid"/>
              <a:miter/>
            </a:ln>
          </p:spPr>
        </p:sp>
      </p:grpSp>
      <p:sp>
        <p:nvSpPr>
          <p:cNvPr name="AutoShape 10" id="10"/>
          <p:cNvSpPr/>
          <p:nvPr/>
        </p:nvSpPr>
        <p:spPr>
          <a:xfrm rot="5940">
            <a:off x="815807" y="3108770"/>
            <a:ext cx="8243897" cy="0"/>
          </a:xfrm>
          <a:prstGeom prst="line">
            <a:avLst/>
          </a:prstGeom>
          <a:ln cap="rnd" w="9525">
            <a:solidFill>
              <a:srgbClr val="000000"/>
            </a:solidFill>
            <a:prstDash val="solid"/>
            <a:headEnd type="none" len="sm" w="sm"/>
            <a:tailEnd type="none" len="sm" w="sm"/>
          </a:ln>
        </p:spPr>
      </p:sp>
      <p:sp>
        <p:nvSpPr>
          <p:cNvPr name="TextBox 11" id="11"/>
          <p:cNvSpPr txBox="true"/>
          <p:nvPr/>
        </p:nvSpPr>
        <p:spPr>
          <a:xfrm rot="0">
            <a:off x="1165860" y="3291840"/>
            <a:ext cx="754380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BUKTI 1 · MULTITASK (DATA UJI)</a:t>
            </a:r>
          </a:p>
        </p:txBody>
      </p:sp>
      <p:graphicFrame>
        <p:nvGraphicFramePr>
          <p:cNvPr name="Table 12" id="12"/>
          <p:cNvGraphicFramePr>
            <a:graphicFrameLocks noGrp="true"/>
          </p:cNvGraphicFramePr>
          <p:nvPr/>
        </p:nvGraphicFramePr>
        <p:xfrm>
          <a:off x="1165860" y="3909060"/>
          <a:ext cx="7524750" cy="3048000"/>
        </p:xfrm>
        <a:graphic>
          <a:graphicData uri="http://schemas.openxmlformats.org/drawingml/2006/table">
            <a:tbl>
              <a:tblPr/>
              <a:tblGrid>
                <a:gridCol w="4104409"/>
                <a:gridCol w="1641764"/>
                <a:gridCol w="1778577"/>
              </a:tblGrid>
              <a:tr h="609600">
                <a:tc>
                  <a:txBody>
                    <a:bodyPr anchor="t" rtlCol="false"/>
                    <a:lstStyle/>
                    <a:p>
                      <a:pPr algn="l">
                        <a:lnSpc>
                          <a:spcPts val="2160"/>
                        </a:lnSpc>
                        <a:defRPr/>
                      </a:pPr>
                      <a:r>
                        <a:rPr lang="en-US" sz="1800" b="true">
                          <a:solidFill>
                            <a:srgbClr val="F5582E"/>
                          </a:solidFill>
                          <a:latin typeface="Helvetica World Bold"/>
                          <a:ea typeface="Helvetica World Bold"/>
                          <a:cs typeface="Helvetica World Bold"/>
                          <a:sym typeface="Helvetica World Bold"/>
                        </a:rPr>
                        <a:t>Model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160"/>
                        </a:lnSpc>
                        <a:defRPr/>
                      </a:pPr>
                      <a:r>
                        <a:rPr lang="en-US" sz="1800" b="true">
                          <a:solidFill>
                            <a:srgbClr val="F5582E"/>
                          </a:solidFill>
                          <a:latin typeface="Helvetica World Bold"/>
                          <a:ea typeface="Helvetica World Bold"/>
                          <a:cs typeface="Helvetica World Bold"/>
                          <a:sym typeface="Helvetica World Bold"/>
                        </a:rPr>
                        <a:t>Hate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160"/>
                        </a:lnSpc>
                        <a:defRPr/>
                      </a:pPr>
                      <a:r>
                        <a:rPr lang="en-US" sz="1800" b="true">
                          <a:solidFill>
                            <a:srgbClr val="F5582E"/>
                          </a:solidFill>
                          <a:latin typeface="Helvetica World Bold"/>
                          <a:ea typeface="Helvetica World Bold"/>
                          <a:cs typeface="Helvetica World Bold"/>
                          <a:sym typeface="Helvetica World Bold"/>
                        </a:rPr>
                        <a:t>Inapp.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160"/>
                        </a:lnSpc>
                        <a:defRPr/>
                      </a:pPr>
                      <a:r>
                        <a:rPr lang="en-US" sz="1800">
                          <a:solidFill>
                            <a:srgbClr val="000000"/>
                          </a:solidFill>
                          <a:latin typeface="Helvetica World"/>
                          <a:ea typeface="Helvetica World"/>
                          <a:cs typeface="Helvetica World"/>
                          <a:sym typeface="Helvetica World"/>
                        </a:rPr>
                        <a:t>E041 Teks · single-task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0,8058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0,7984*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160"/>
                        </a:lnSpc>
                        <a:defRPr/>
                      </a:pPr>
                      <a:r>
                        <a:rPr lang="en-US" sz="1800">
                          <a:solidFill>
                            <a:srgbClr val="000000"/>
                          </a:solidFill>
                          <a:latin typeface="Helvetica World"/>
                          <a:ea typeface="Helvetica World"/>
                          <a:cs typeface="Helvetica World"/>
                          <a:sym typeface="Helvetica World"/>
                        </a:rPr>
                        <a:t>E101 Teks · multitask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0,8043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0,7981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160"/>
                        </a:lnSpc>
                        <a:defRPr/>
                      </a:pPr>
                      <a:r>
                        <a:rPr lang="en-US" sz="1800">
                          <a:solidFill>
                            <a:srgbClr val="000000"/>
                          </a:solidFill>
                          <a:latin typeface="Helvetica World"/>
                          <a:ea typeface="Helvetica World"/>
                          <a:cs typeface="Helvetica World"/>
                          <a:sym typeface="Helvetica World"/>
                        </a:rPr>
                        <a:t>E059/E060 Fusi · single-task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0,8043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0,8125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160"/>
                        </a:lnSpc>
                        <a:defRPr/>
                      </a:pPr>
                      <a:r>
                        <a:rPr lang="en-US" sz="1800">
                          <a:solidFill>
                            <a:srgbClr val="000000"/>
                          </a:solidFill>
                          <a:latin typeface="Helvetica World"/>
                          <a:ea typeface="Helvetica World"/>
                          <a:cs typeface="Helvetica World"/>
                          <a:sym typeface="Helvetica World"/>
                        </a:rPr>
                        <a:t>E110 Fusi · multitask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0,8029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0,8109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bl>
          </a:graphicData>
        </a:graphic>
      </p:graphicFrame>
      <p:sp>
        <p:nvSpPr>
          <p:cNvPr name="TextBox 13" id="13"/>
          <p:cNvSpPr txBox="true"/>
          <p:nvPr/>
        </p:nvSpPr>
        <p:spPr>
          <a:xfrm rot="0">
            <a:off x="1165860" y="7338060"/>
            <a:ext cx="7406640" cy="960120"/>
          </a:xfrm>
          <a:prstGeom prst="rect">
            <a:avLst/>
          </a:prstGeom>
        </p:spPr>
        <p:txBody>
          <a:bodyPr anchor="t" rtlCol="false" tIns="0" lIns="0" bIns="0" rIns="0">
            <a:spAutoFit/>
          </a:bodyPr>
          <a:lstStyle/>
          <a:p>
            <a:pPr algn="l">
              <a:lnSpc>
                <a:spcPts val="2160"/>
              </a:lnSpc>
            </a:pPr>
            <a:r>
              <a:rPr lang="en-US" sz="1800">
                <a:solidFill>
                  <a:srgbClr val="595959"/>
                </a:solidFill>
                <a:latin typeface="Helvetica World"/>
                <a:ea typeface="Helvetica World"/>
                <a:cs typeface="Helvetica World"/>
                <a:sym typeface="Helvetica World"/>
              </a:rPr>
              <a:t>*E042. Multitask tidak konsisten lebih baik dibanding single-task.</a:t>
            </a:r>
          </a:p>
        </p:txBody>
      </p:sp>
      <p:grpSp>
        <p:nvGrpSpPr>
          <p:cNvPr name="Group 14" id="14"/>
          <p:cNvGrpSpPr/>
          <p:nvPr/>
        </p:nvGrpSpPr>
        <p:grpSpPr>
          <a:xfrm rot="0">
            <a:off x="9456896" y="2667476"/>
            <a:ext cx="7969568" cy="5775008"/>
            <a:chOff x="0" y="0"/>
            <a:chExt cx="10626090" cy="7700010"/>
          </a:xfrm>
        </p:grpSpPr>
        <p:sp>
          <p:nvSpPr>
            <p:cNvPr name="Freeform 15" id="15"/>
            <p:cNvSpPr/>
            <p:nvPr/>
          </p:nvSpPr>
          <p:spPr>
            <a:xfrm flipH="false" flipV="false" rot="0">
              <a:off x="0" y="0"/>
              <a:ext cx="10626090" cy="7700010"/>
            </a:xfrm>
            <a:custGeom>
              <a:avLst/>
              <a:gdLst/>
              <a:ahLst/>
              <a:cxnLst/>
              <a:rect r="r" b="b" t="t" l="l"/>
              <a:pathLst>
                <a:path h="7700010" w="10626090">
                  <a:moveTo>
                    <a:pt x="0" y="219964"/>
                  </a:moveTo>
                  <a:cubicBezTo>
                    <a:pt x="0" y="98552"/>
                    <a:pt x="98552" y="0"/>
                    <a:pt x="219964" y="0"/>
                  </a:cubicBezTo>
                  <a:lnTo>
                    <a:pt x="10406126" y="0"/>
                  </a:lnTo>
                  <a:cubicBezTo>
                    <a:pt x="10527665" y="0"/>
                    <a:pt x="10626090" y="98552"/>
                    <a:pt x="10626090" y="219964"/>
                  </a:cubicBezTo>
                  <a:lnTo>
                    <a:pt x="10626090" y="7480046"/>
                  </a:lnTo>
                  <a:cubicBezTo>
                    <a:pt x="10626090" y="7601585"/>
                    <a:pt x="10527538" y="7700010"/>
                    <a:pt x="10406126" y="7700010"/>
                  </a:cubicBezTo>
                  <a:lnTo>
                    <a:pt x="219964" y="7700010"/>
                  </a:lnTo>
                  <a:cubicBezTo>
                    <a:pt x="98552" y="7700010"/>
                    <a:pt x="0" y="7601458"/>
                    <a:pt x="0" y="7480046"/>
                  </a:cubicBezTo>
                  <a:close/>
                </a:path>
              </a:pathLst>
            </a:custGeom>
            <a:solidFill>
              <a:srgbClr val="FFFFFF"/>
            </a:solidFill>
            <a:ln w="14288" cap="sq">
              <a:solidFill>
                <a:srgbClr val="000000"/>
              </a:solidFill>
              <a:prstDash val="solid"/>
              <a:miter/>
            </a:ln>
          </p:spPr>
        </p:sp>
      </p:grpSp>
      <p:grpSp>
        <p:nvGrpSpPr>
          <p:cNvPr name="Group 16" id="16"/>
          <p:cNvGrpSpPr/>
          <p:nvPr/>
        </p:nvGrpSpPr>
        <p:grpSpPr>
          <a:xfrm rot="0">
            <a:off x="9456896" y="2667476"/>
            <a:ext cx="7969568" cy="453200"/>
            <a:chOff x="0" y="0"/>
            <a:chExt cx="10626090" cy="604266"/>
          </a:xfrm>
        </p:grpSpPr>
        <p:sp>
          <p:nvSpPr>
            <p:cNvPr name="Freeform 17" id="17"/>
            <p:cNvSpPr/>
            <p:nvPr/>
          </p:nvSpPr>
          <p:spPr>
            <a:xfrm flipH="false" flipV="false" rot="0">
              <a:off x="0" y="0"/>
              <a:ext cx="10626090" cy="604266"/>
            </a:xfrm>
            <a:custGeom>
              <a:avLst/>
              <a:gdLst/>
              <a:ahLst/>
              <a:cxnLst/>
              <a:rect r="r" b="b" t="t" l="l"/>
              <a:pathLst>
                <a:path h="604266" w="10626090">
                  <a:moveTo>
                    <a:pt x="0" y="226568"/>
                  </a:moveTo>
                  <a:cubicBezTo>
                    <a:pt x="0" y="101473"/>
                    <a:pt x="101473" y="0"/>
                    <a:pt x="226568" y="0"/>
                  </a:cubicBezTo>
                  <a:lnTo>
                    <a:pt x="10399522" y="0"/>
                  </a:lnTo>
                  <a:cubicBezTo>
                    <a:pt x="10524617" y="0"/>
                    <a:pt x="10626090" y="101473"/>
                    <a:pt x="10626090" y="226568"/>
                  </a:cubicBezTo>
                  <a:lnTo>
                    <a:pt x="10626090" y="377698"/>
                  </a:lnTo>
                  <a:cubicBezTo>
                    <a:pt x="10626090" y="502793"/>
                    <a:pt x="10524617" y="604266"/>
                    <a:pt x="10399522" y="604266"/>
                  </a:cubicBezTo>
                  <a:lnTo>
                    <a:pt x="226568" y="604266"/>
                  </a:lnTo>
                  <a:cubicBezTo>
                    <a:pt x="101473" y="604266"/>
                    <a:pt x="0" y="502793"/>
                    <a:pt x="0" y="377698"/>
                  </a:cubicBezTo>
                  <a:close/>
                </a:path>
              </a:pathLst>
            </a:custGeom>
            <a:solidFill>
              <a:srgbClr val="141221"/>
            </a:solidFill>
            <a:ln w="14288" cap="sq">
              <a:solidFill>
                <a:srgbClr val="000000"/>
              </a:solidFill>
              <a:prstDash val="solid"/>
              <a:miter/>
            </a:ln>
          </p:spPr>
        </p:sp>
      </p:grpSp>
      <p:grpSp>
        <p:nvGrpSpPr>
          <p:cNvPr name="Group 18" id="18"/>
          <p:cNvGrpSpPr/>
          <p:nvPr/>
        </p:nvGrpSpPr>
        <p:grpSpPr>
          <a:xfrm rot="0">
            <a:off x="9468231" y="2884551"/>
            <a:ext cx="7946898" cy="238506"/>
            <a:chOff x="0" y="0"/>
            <a:chExt cx="10595864" cy="318008"/>
          </a:xfrm>
        </p:grpSpPr>
        <p:sp>
          <p:nvSpPr>
            <p:cNvPr name="Freeform 19" id="19"/>
            <p:cNvSpPr/>
            <p:nvPr/>
          </p:nvSpPr>
          <p:spPr>
            <a:xfrm flipH="false" flipV="false" rot="0">
              <a:off x="0" y="0"/>
              <a:ext cx="10595864" cy="318008"/>
            </a:xfrm>
            <a:custGeom>
              <a:avLst/>
              <a:gdLst/>
              <a:ahLst/>
              <a:cxnLst/>
              <a:rect r="r" b="b" t="t" l="l"/>
              <a:pathLst>
                <a:path h="318008" w="10595864">
                  <a:moveTo>
                    <a:pt x="0" y="0"/>
                  </a:moveTo>
                  <a:lnTo>
                    <a:pt x="10595864" y="0"/>
                  </a:lnTo>
                  <a:lnTo>
                    <a:pt x="10595864" y="318008"/>
                  </a:lnTo>
                  <a:lnTo>
                    <a:pt x="0" y="318008"/>
                  </a:lnTo>
                  <a:close/>
                </a:path>
              </a:pathLst>
            </a:custGeom>
            <a:solidFill>
              <a:srgbClr val="141221"/>
            </a:solidFill>
            <a:ln w="19050" cap="sq">
              <a:solidFill>
                <a:srgbClr val="141221"/>
              </a:solidFill>
              <a:prstDash val="solid"/>
              <a:miter/>
            </a:ln>
          </p:spPr>
        </p:sp>
      </p:grpSp>
      <p:sp>
        <p:nvSpPr>
          <p:cNvPr name="AutoShape 20" id="20"/>
          <p:cNvSpPr/>
          <p:nvPr/>
        </p:nvSpPr>
        <p:spPr>
          <a:xfrm rot="6180">
            <a:off x="9456887" y="3108770"/>
            <a:ext cx="7969577" cy="0"/>
          </a:xfrm>
          <a:prstGeom prst="line">
            <a:avLst/>
          </a:prstGeom>
          <a:ln cap="rnd" w="9525">
            <a:solidFill>
              <a:srgbClr val="000000"/>
            </a:solidFill>
            <a:prstDash val="solid"/>
            <a:headEnd type="none" len="sm" w="sm"/>
            <a:tailEnd type="none" len="sm" w="sm"/>
          </a:ln>
        </p:spPr>
      </p:sp>
      <p:sp>
        <p:nvSpPr>
          <p:cNvPr name="TextBox 21" id="21"/>
          <p:cNvSpPr txBox="true"/>
          <p:nvPr/>
        </p:nvSpPr>
        <p:spPr>
          <a:xfrm rot="0">
            <a:off x="9806940" y="3291840"/>
            <a:ext cx="7269480" cy="411480"/>
          </a:xfrm>
          <a:prstGeom prst="rect">
            <a:avLst/>
          </a:prstGeom>
        </p:spPr>
        <p:txBody>
          <a:bodyPr anchor="t" rtlCol="false" tIns="0" lIns="0" bIns="0" rIns="0">
            <a:spAutoFit/>
          </a:bodyPr>
          <a:lstStyle/>
          <a:p>
            <a:pPr algn="l">
              <a:lnSpc>
                <a:spcPts val="2520"/>
              </a:lnSpc>
            </a:pPr>
            <a:r>
              <a:rPr lang="en-US" sz="2100" b="true">
                <a:solidFill>
                  <a:srgbClr val="141221"/>
                </a:solidFill>
                <a:latin typeface="Helvetica World Bold"/>
                <a:ea typeface="Helvetica World Bold"/>
                <a:cs typeface="Helvetica World Bold"/>
                <a:sym typeface="Helvetica World Bold"/>
              </a:rPr>
              <a:t>BUKTI 2 · BASELINE KLASIK (VALIDASI)</a:t>
            </a:r>
          </a:p>
        </p:txBody>
      </p:sp>
      <p:graphicFrame>
        <p:nvGraphicFramePr>
          <p:cNvPr name="Table 22" id="22"/>
          <p:cNvGraphicFramePr>
            <a:graphicFrameLocks noGrp="true"/>
          </p:cNvGraphicFramePr>
          <p:nvPr/>
        </p:nvGraphicFramePr>
        <p:xfrm>
          <a:off x="9806940" y="3909060"/>
          <a:ext cx="7258050" cy="2228850"/>
        </p:xfrm>
        <a:graphic>
          <a:graphicData uri="http://schemas.openxmlformats.org/drawingml/2006/table">
            <a:tbl>
              <a:tblPr/>
              <a:tblGrid>
                <a:gridCol w="4245275"/>
                <a:gridCol w="1506388"/>
                <a:gridCol w="1506388"/>
              </a:tblGrid>
              <a:tr h="742950">
                <a:tc>
                  <a:txBody>
                    <a:bodyPr anchor="t" rtlCol="false"/>
                    <a:lstStyle/>
                    <a:p>
                      <a:pPr algn="l">
                        <a:lnSpc>
                          <a:spcPts val="2160"/>
                        </a:lnSpc>
                        <a:defRPr/>
                      </a:pPr>
                      <a:r>
                        <a:rPr lang="en-US" sz="1800" b="true">
                          <a:solidFill>
                            <a:srgbClr val="F5582E"/>
                          </a:solidFill>
                          <a:latin typeface="Helvetica World Bold"/>
                          <a:ea typeface="Helvetica World Bold"/>
                          <a:cs typeface="Helvetica World Bold"/>
                          <a:sym typeface="Helvetica World Bold"/>
                        </a:rPr>
                        <a:t>Model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160"/>
                        </a:lnSpc>
                        <a:defRPr/>
                      </a:pPr>
                      <a:r>
                        <a:rPr lang="en-US" sz="1800" b="true">
                          <a:solidFill>
                            <a:srgbClr val="F5582E"/>
                          </a:solidFill>
                          <a:latin typeface="Helvetica World Bold"/>
                          <a:ea typeface="Helvetica World Bold"/>
                          <a:cs typeface="Helvetica World Bold"/>
                          <a:sym typeface="Helvetica World Bold"/>
                        </a:rPr>
                        <a:t>Hate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160"/>
                        </a:lnSpc>
                        <a:defRPr/>
                      </a:pPr>
                      <a:r>
                        <a:rPr lang="en-US" sz="1800" b="true">
                          <a:solidFill>
                            <a:srgbClr val="F5582E"/>
                          </a:solidFill>
                          <a:latin typeface="Helvetica World Bold"/>
                          <a:ea typeface="Helvetica World Bold"/>
                          <a:cs typeface="Helvetica World Bold"/>
                          <a:sym typeface="Helvetica World Bold"/>
                        </a:rPr>
                        <a:t>Inapp.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742950">
                <a:tc>
                  <a:txBody>
                    <a:bodyPr anchor="t" rtlCol="false"/>
                    <a:lstStyle/>
                    <a:p>
                      <a:pPr algn="l">
                        <a:lnSpc>
                          <a:spcPts val="2160"/>
                        </a:lnSpc>
                        <a:defRPr/>
                      </a:pPr>
                      <a:r>
                        <a:rPr lang="en-US" sz="1800">
                          <a:solidFill>
                            <a:srgbClr val="000000"/>
                          </a:solidFill>
                          <a:latin typeface="Helvetica World"/>
                          <a:ea typeface="Helvetica World"/>
                          <a:cs typeface="Helvetica World"/>
                          <a:sym typeface="Helvetica World"/>
                        </a:rPr>
                        <a:t>TF-IDF + LogReg (Caption+OCR+Topik)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0,7873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0,7561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742950">
                <a:tc>
                  <a:txBody>
                    <a:bodyPr anchor="t" rtlCol="false"/>
                    <a:lstStyle/>
                    <a:p>
                      <a:pPr algn="l">
                        <a:lnSpc>
                          <a:spcPts val="2160"/>
                        </a:lnSpc>
                        <a:defRPr/>
                      </a:pPr>
                      <a:r>
                        <a:rPr lang="en-US" sz="1800">
                          <a:solidFill>
                            <a:srgbClr val="000000"/>
                          </a:solidFill>
                          <a:latin typeface="Helvetica World"/>
                          <a:ea typeface="Helvetica World"/>
                          <a:cs typeface="Helvetica World"/>
                          <a:sym typeface="Helvetica World"/>
                        </a:rPr>
                        <a:t>IndoBERTweet (E041 / E042)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0,8208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160"/>
                        </a:lnSpc>
                        <a:defRPr/>
                      </a:pPr>
                      <a:r>
                        <a:rPr lang="en-US" sz="1800">
                          <a:solidFill>
                            <a:srgbClr val="000000"/>
                          </a:solidFill>
                          <a:latin typeface="Helvetica World"/>
                          <a:ea typeface="Helvetica World"/>
                          <a:cs typeface="Helvetica World"/>
                          <a:sym typeface="Helvetica World"/>
                        </a:rPr>
                        <a:t>0,7924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bl>
          </a:graphicData>
        </a:graphic>
      </p:graphicFrame>
      <p:sp>
        <p:nvSpPr>
          <p:cNvPr name="TextBox 23" id="23"/>
          <p:cNvSpPr txBox="true"/>
          <p:nvPr/>
        </p:nvSpPr>
        <p:spPr>
          <a:xfrm rot="0">
            <a:off x="9806940" y="6583680"/>
            <a:ext cx="7269480" cy="1234440"/>
          </a:xfrm>
          <a:prstGeom prst="rect">
            <a:avLst/>
          </a:prstGeom>
        </p:spPr>
        <p:txBody>
          <a:bodyPr anchor="t" rtlCol="false" tIns="0" lIns="0" bIns="0" rIns="0">
            <a:spAutoFit/>
          </a:bodyPr>
          <a:lstStyle/>
          <a:p>
            <a:pPr algn="l">
              <a:lnSpc>
                <a:spcPts val="2340"/>
              </a:lnSpc>
            </a:pPr>
            <a:r>
              <a:rPr lang="en-US" sz="1950" b="true">
                <a:solidFill>
                  <a:srgbClr val="F5582E"/>
                </a:solidFill>
                <a:latin typeface="Helvetica World Bold"/>
                <a:ea typeface="Helvetica World Bold"/>
                <a:cs typeface="Helvetica World Bold"/>
                <a:sym typeface="Helvetica World Bold"/>
              </a:rPr>
              <a:t>Skor validasi — bukan skor uji. Tidak dibandingkan langsung dengan hasil uji deep learning.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12</a:t>
            </a:r>
          </a:p>
        </p:txBody>
      </p:sp>
      <p:sp>
        <p:nvSpPr>
          <p:cNvPr name="TextBox 3" id="3"/>
          <p:cNvSpPr txBox="true"/>
          <p:nvPr/>
        </p:nvSpPr>
        <p:spPr>
          <a:xfrm rot="0">
            <a:off x="822960" y="645795"/>
            <a:ext cx="16596360" cy="1655445"/>
          </a:xfrm>
          <a:prstGeom prst="rect">
            <a:avLst/>
          </a:prstGeom>
        </p:spPr>
        <p:txBody>
          <a:bodyPr anchor="t" rtlCol="false" tIns="0" lIns="0" bIns="0" rIns="0">
            <a:spAutoFit/>
          </a:bodyPr>
          <a:lstStyle/>
          <a:p>
            <a:pPr algn="l">
              <a:lnSpc>
                <a:spcPts val="6155"/>
              </a:lnSpc>
            </a:pPr>
            <a:r>
              <a:rPr lang="en-US" sz="5400" b="true">
                <a:solidFill>
                  <a:srgbClr val="F5582E"/>
                </a:solidFill>
                <a:latin typeface="Helvetica World Bold"/>
                <a:ea typeface="Helvetica World Bold"/>
                <a:cs typeface="Helvetica World Bold"/>
                <a:sym typeface="Helvetica World Bold"/>
              </a:rPr>
              <a:t>DARI REPRODUKSI</a:t>
            </a:r>
          </a:p>
          <a:p>
            <a:pPr algn="l">
              <a:lnSpc>
                <a:spcPts val="5472"/>
              </a:lnSpc>
            </a:pPr>
            <a:r>
              <a:rPr lang="en-US" sz="4800" i="true">
                <a:solidFill>
                  <a:srgbClr val="000000"/>
                </a:solidFill>
                <a:latin typeface="Noto Serif Italics"/>
                <a:ea typeface="Noto Serif Italics"/>
                <a:cs typeface="Noto Serif Italics"/>
                <a:sym typeface="Noto Serif Italics"/>
              </a:rPr>
              <a:t>Menuju Eksplorasi Cross-Attention.</a:t>
            </a:r>
          </a:p>
        </p:txBody>
      </p:sp>
      <p:grpSp>
        <p:nvGrpSpPr>
          <p:cNvPr name="Group 4" id="4"/>
          <p:cNvGrpSpPr/>
          <p:nvPr/>
        </p:nvGrpSpPr>
        <p:grpSpPr>
          <a:xfrm rot="0">
            <a:off x="815816" y="2667476"/>
            <a:ext cx="7695247" cy="6666547"/>
            <a:chOff x="0" y="0"/>
            <a:chExt cx="10260330" cy="8888730"/>
          </a:xfrm>
        </p:grpSpPr>
        <p:sp>
          <p:nvSpPr>
            <p:cNvPr name="Freeform 5" id="5"/>
            <p:cNvSpPr/>
            <p:nvPr/>
          </p:nvSpPr>
          <p:spPr>
            <a:xfrm flipH="false" flipV="false" rot="0">
              <a:off x="0" y="0"/>
              <a:ext cx="10260330" cy="8888730"/>
            </a:xfrm>
            <a:custGeom>
              <a:avLst/>
              <a:gdLst/>
              <a:ahLst/>
              <a:cxnLst/>
              <a:rect r="r" b="b" t="t" l="l"/>
              <a:pathLst>
                <a:path h="8888730" w="10260330">
                  <a:moveTo>
                    <a:pt x="0" y="219964"/>
                  </a:moveTo>
                  <a:cubicBezTo>
                    <a:pt x="0" y="98425"/>
                    <a:pt x="98425" y="0"/>
                    <a:pt x="219964" y="0"/>
                  </a:cubicBezTo>
                  <a:lnTo>
                    <a:pt x="10040366" y="0"/>
                  </a:lnTo>
                  <a:cubicBezTo>
                    <a:pt x="10161778" y="0"/>
                    <a:pt x="10260330" y="98425"/>
                    <a:pt x="10260330" y="219964"/>
                  </a:cubicBezTo>
                  <a:lnTo>
                    <a:pt x="10260330" y="8668766"/>
                  </a:lnTo>
                  <a:cubicBezTo>
                    <a:pt x="10260330" y="8790178"/>
                    <a:pt x="10161905" y="8888730"/>
                    <a:pt x="10040366" y="8888730"/>
                  </a:cubicBezTo>
                  <a:lnTo>
                    <a:pt x="219964" y="8888730"/>
                  </a:lnTo>
                  <a:cubicBezTo>
                    <a:pt x="98425" y="8888730"/>
                    <a:pt x="0" y="8790305"/>
                    <a:pt x="0" y="8668766"/>
                  </a:cubicBezTo>
                  <a:close/>
                </a:path>
              </a:pathLst>
            </a:custGeom>
            <a:solidFill>
              <a:srgbClr val="FFFFFF"/>
            </a:solidFill>
            <a:ln w="14288" cap="sq">
              <a:solidFill>
                <a:srgbClr val="000000"/>
              </a:solidFill>
              <a:prstDash val="solid"/>
              <a:miter/>
            </a:ln>
          </p:spPr>
        </p:sp>
      </p:grpSp>
      <p:grpSp>
        <p:nvGrpSpPr>
          <p:cNvPr name="Group 6" id="6"/>
          <p:cNvGrpSpPr/>
          <p:nvPr/>
        </p:nvGrpSpPr>
        <p:grpSpPr>
          <a:xfrm rot="0">
            <a:off x="815816" y="2667476"/>
            <a:ext cx="7695247" cy="453200"/>
            <a:chOff x="0" y="0"/>
            <a:chExt cx="10260330" cy="604266"/>
          </a:xfrm>
        </p:grpSpPr>
        <p:sp>
          <p:nvSpPr>
            <p:cNvPr name="Freeform 7" id="7"/>
            <p:cNvSpPr/>
            <p:nvPr/>
          </p:nvSpPr>
          <p:spPr>
            <a:xfrm flipH="false" flipV="false" rot="0">
              <a:off x="0" y="0"/>
              <a:ext cx="10260330" cy="604266"/>
            </a:xfrm>
            <a:custGeom>
              <a:avLst/>
              <a:gdLst/>
              <a:ahLst/>
              <a:cxnLst/>
              <a:rect r="r" b="b" t="t" l="l"/>
              <a:pathLst>
                <a:path h="604266" w="10260330">
                  <a:moveTo>
                    <a:pt x="0" y="226568"/>
                  </a:moveTo>
                  <a:cubicBezTo>
                    <a:pt x="0" y="101473"/>
                    <a:pt x="101473" y="0"/>
                    <a:pt x="226568" y="0"/>
                  </a:cubicBezTo>
                  <a:lnTo>
                    <a:pt x="10033762" y="0"/>
                  </a:lnTo>
                  <a:cubicBezTo>
                    <a:pt x="10158857" y="0"/>
                    <a:pt x="10260330" y="101473"/>
                    <a:pt x="10260330" y="226568"/>
                  </a:cubicBezTo>
                  <a:lnTo>
                    <a:pt x="10260330" y="377698"/>
                  </a:lnTo>
                  <a:cubicBezTo>
                    <a:pt x="10260330" y="502793"/>
                    <a:pt x="10158857" y="604266"/>
                    <a:pt x="1003376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8" id="8"/>
          <p:cNvGrpSpPr/>
          <p:nvPr/>
        </p:nvGrpSpPr>
        <p:grpSpPr>
          <a:xfrm rot="0">
            <a:off x="827151" y="2884551"/>
            <a:ext cx="7672578" cy="238506"/>
            <a:chOff x="0" y="0"/>
            <a:chExt cx="10230104" cy="318008"/>
          </a:xfrm>
        </p:grpSpPr>
        <p:sp>
          <p:nvSpPr>
            <p:cNvPr name="Freeform 9" id="9"/>
            <p:cNvSpPr/>
            <p:nvPr/>
          </p:nvSpPr>
          <p:spPr>
            <a:xfrm flipH="false" flipV="false" rot="0">
              <a:off x="0" y="0"/>
              <a:ext cx="10230104" cy="318008"/>
            </a:xfrm>
            <a:custGeom>
              <a:avLst/>
              <a:gdLst/>
              <a:ahLst/>
              <a:cxnLst/>
              <a:rect r="r" b="b" t="t" l="l"/>
              <a:pathLst>
                <a:path h="318008" w="10230104">
                  <a:moveTo>
                    <a:pt x="0" y="0"/>
                  </a:moveTo>
                  <a:lnTo>
                    <a:pt x="10230104" y="0"/>
                  </a:lnTo>
                  <a:lnTo>
                    <a:pt x="10230104" y="318008"/>
                  </a:lnTo>
                  <a:lnTo>
                    <a:pt x="0" y="318008"/>
                  </a:lnTo>
                  <a:close/>
                </a:path>
              </a:pathLst>
            </a:custGeom>
            <a:solidFill>
              <a:srgbClr val="F5582E"/>
            </a:solidFill>
            <a:ln w="19050" cap="sq">
              <a:solidFill>
                <a:srgbClr val="F5582E"/>
              </a:solidFill>
              <a:prstDash val="solid"/>
              <a:miter/>
            </a:ln>
          </p:spPr>
        </p:sp>
      </p:grpSp>
      <p:sp>
        <p:nvSpPr>
          <p:cNvPr name="AutoShape 10" id="10"/>
          <p:cNvSpPr/>
          <p:nvPr/>
        </p:nvSpPr>
        <p:spPr>
          <a:xfrm rot="6360">
            <a:off x="815807" y="3108770"/>
            <a:ext cx="7695257" cy="0"/>
          </a:xfrm>
          <a:prstGeom prst="line">
            <a:avLst/>
          </a:prstGeom>
          <a:ln cap="rnd" w="9525">
            <a:solidFill>
              <a:srgbClr val="000000"/>
            </a:solidFill>
            <a:prstDash val="solid"/>
            <a:headEnd type="none" len="sm" w="sm"/>
            <a:tailEnd type="none" len="sm" w="sm"/>
          </a:ln>
        </p:spPr>
      </p:sp>
      <p:sp>
        <p:nvSpPr>
          <p:cNvPr name="TextBox 11" id="11"/>
          <p:cNvSpPr txBox="true"/>
          <p:nvPr/>
        </p:nvSpPr>
        <p:spPr>
          <a:xfrm rot="0">
            <a:off x="1165860" y="3291840"/>
            <a:ext cx="685800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KETERBATASAN</a:t>
            </a:r>
          </a:p>
        </p:txBody>
      </p:sp>
      <p:sp>
        <p:nvSpPr>
          <p:cNvPr name="TextBox 12" id="12"/>
          <p:cNvSpPr txBox="true"/>
          <p:nvPr/>
        </p:nvSpPr>
        <p:spPr>
          <a:xfrm rot="0">
            <a:off x="1165860" y="3899535"/>
            <a:ext cx="6995160" cy="4947285"/>
          </a:xfrm>
          <a:prstGeom prst="rect">
            <a:avLst/>
          </a:prstGeom>
        </p:spPr>
        <p:txBody>
          <a:bodyPr anchor="t" rtlCol="false" tIns="0" lIns="0" bIns="0" rIns="0">
            <a:spAutoFit/>
          </a:bodyPr>
          <a:lstStyle/>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Eksperimen terpilih, bukan seluruh paper</a:t>
            </a:r>
          </a:p>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Satu random seed</a:t>
            </a:r>
          </a:p>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Adaptasi protokol implementasi</a:t>
            </a:r>
          </a:p>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Ketergantungan anotasi topik</a:t>
            </a:r>
          </a:p>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Risiko gambar duplikat train–test</a:t>
            </a:r>
          </a:p>
          <a:p>
            <a:pPr algn="l" marL="407194" indent="-203597" lvl="1">
              <a:lnSpc>
                <a:spcPts val="2700"/>
              </a:lnSpc>
              <a:buFont typeface="Arial"/>
              <a:buChar char="•"/>
            </a:pPr>
            <a:r>
              <a:rPr lang="en-US" sz="2250">
                <a:solidFill>
                  <a:srgbClr val="000000"/>
                </a:solidFill>
                <a:latin typeface="Helvetica World"/>
                <a:ea typeface="Helvetica World"/>
                <a:cs typeface="Helvetica World"/>
                <a:sym typeface="Helvetica World"/>
              </a:rPr>
              <a:t>Keterbatasan komputasi (batch fisik)</a:t>
            </a:r>
          </a:p>
        </p:txBody>
      </p:sp>
      <p:grpSp>
        <p:nvGrpSpPr>
          <p:cNvPr name="Group 13" id="13"/>
          <p:cNvGrpSpPr/>
          <p:nvPr/>
        </p:nvGrpSpPr>
        <p:grpSpPr>
          <a:xfrm rot="0">
            <a:off x="9045416" y="2667476"/>
            <a:ext cx="8381047" cy="1317308"/>
            <a:chOff x="0" y="0"/>
            <a:chExt cx="11174730" cy="1756410"/>
          </a:xfrm>
        </p:grpSpPr>
        <p:sp>
          <p:nvSpPr>
            <p:cNvPr name="Freeform 14" id="14"/>
            <p:cNvSpPr/>
            <p:nvPr/>
          </p:nvSpPr>
          <p:spPr>
            <a:xfrm flipH="false" flipV="false" rot="0">
              <a:off x="0" y="0"/>
              <a:ext cx="11174730" cy="1756410"/>
            </a:xfrm>
            <a:custGeom>
              <a:avLst/>
              <a:gdLst/>
              <a:ahLst/>
              <a:cxnLst/>
              <a:rect r="r" b="b" t="t" l="l"/>
              <a:pathLst>
                <a:path h="1756410" w="11174730">
                  <a:moveTo>
                    <a:pt x="0" y="221869"/>
                  </a:moveTo>
                  <a:cubicBezTo>
                    <a:pt x="0" y="99314"/>
                    <a:pt x="99314" y="0"/>
                    <a:pt x="221869" y="0"/>
                  </a:cubicBezTo>
                  <a:lnTo>
                    <a:pt x="10952861" y="0"/>
                  </a:lnTo>
                  <a:cubicBezTo>
                    <a:pt x="11075416" y="0"/>
                    <a:pt x="11174730" y="99314"/>
                    <a:pt x="11174730" y="221869"/>
                  </a:cubicBezTo>
                  <a:lnTo>
                    <a:pt x="11174730" y="1534541"/>
                  </a:lnTo>
                  <a:cubicBezTo>
                    <a:pt x="11174730" y="1657096"/>
                    <a:pt x="11075416" y="1756410"/>
                    <a:pt x="10952861" y="1756410"/>
                  </a:cubicBezTo>
                  <a:lnTo>
                    <a:pt x="221869" y="1756410"/>
                  </a:lnTo>
                  <a:cubicBezTo>
                    <a:pt x="99314" y="1756410"/>
                    <a:pt x="0" y="1657096"/>
                    <a:pt x="0" y="1534541"/>
                  </a:cubicBezTo>
                  <a:close/>
                </a:path>
              </a:pathLst>
            </a:custGeom>
            <a:solidFill>
              <a:srgbClr val="FFFFFF"/>
            </a:solidFill>
            <a:ln w="14288" cap="sq">
              <a:solidFill>
                <a:srgbClr val="000000"/>
              </a:solidFill>
              <a:prstDash val="solid"/>
              <a:miter/>
            </a:ln>
          </p:spPr>
        </p:sp>
      </p:grpSp>
      <p:grpSp>
        <p:nvGrpSpPr>
          <p:cNvPr name="Group 15" id="15"/>
          <p:cNvGrpSpPr/>
          <p:nvPr/>
        </p:nvGrpSpPr>
        <p:grpSpPr>
          <a:xfrm rot="0">
            <a:off x="9162288" y="2674620"/>
            <a:ext cx="8147304" cy="1303020"/>
            <a:chOff x="0" y="0"/>
            <a:chExt cx="10863072" cy="1737360"/>
          </a:xfrm>
        </p:grpSpPr>
        <p:sp>
          <p:nvSpPr>
            <p:cNvPr name="Freeform 16" id="16"/>
            <p:cNvSpPr/>
            <p:nvPr/>
          </p:nvSpPr>
          <p:spPr>
            <a:xfrm flipH="false" flipV="false" rot="0">
              <a:off x="0" y="0"/>
              <a:ext cx="10863072" cy="1737360"/>
            </a:xfrm>
            <a:custGeom>
              <a:avLst/>
              <a:gdLst/>
              <a:ahLst/>
              <a:cxnLst/>
              <a:rect r="r" b="b" t="t" l="l"/>
              <a:pathLst>
                <a:path h="1737360" w="10863072">
                  <a:moveTo>
                    <a:pt x="0" y="0"/>
                  </a:moveTo>
                  <a:lnTo>
                    <a:pt x="10863072" y="0"/>
                  </a:lnTo>
                  <a:lnTo>
                    <a:pt x="10863072" y="1737360"/>
                  </a:lnTo>
                  <a:lnTo>
                    <a:pt x="0" y="1737360"/>
                  </a:lnTo>
                  <a:close/>
                </a:path>
              </a:pathLst>
            </a:custGeom>
            <a:blipFill>
              <a:blip r:embed="rId3">
                <a:alphaModFix amt="0"/>
              </a:blip>
              <a:stretch>
                <a:fillRect l="0" t="-71832" r="0" b="-71832"/>
              </a:stretch>
            </a:blipFill>
          </p:spPr>
        </p:sp>
        <p:sp>
          <p:nvSpPr>
            <p:cNvPr name="TextBox 17" id="17"/>
            <p:cNvSpPr txBox="true"/>
            <p:nvPr/>
          </p:nvSpPr>
          <p:spPr>
            <a:xfrm>
              <a:off x="0" y="0"/>
              <a:ext cx="10863072" cy="1737360"/>
            </a:xfrm>
            <a:prstGeom prst="rect">
              <a:avLst/>
            </a:prstGeom>
          </p:spPr>
          <p:txBody>
            <a:bodyPr anchor="ctr" rtlCol="false" tIns="0" lIns="0" bIns="0" rIns="0"/>
            <a:lstStyle/>
            <a:p>
              <a:pPr algn="ctr">
                <a:lnSpc>
                  <a:spcPts val="2520"/>
                </a:lnSpc>
              </a:pPr>
              <a:r>
                <a:rPr lang="en-US" sz="2100" b="true">
                  <a:solidFill>
                    <a:srgbClr val="000000"/>
                  </a:solidFill>
                  <a:latin typeface="Helvetica World Bold"/>
                  <a:ea typeface="Helvetica World Bold"/>
                  <a:cs typeface="Helvetica World Bold"/>
                  <a:sym typeface="Helvetica World Bold"/>
                </a:rPr>
                <a:t>CHECKPOINT 1 · Reproduksi Baseline</a:t>
              </a:r>
            </a:p>
          </p:txBody>
        </p:sp>
      </p:grpSp>
      <p:grpSp>
        <p:nvGrpSpPr>
          <p:cNvPr name="Group 18" id="18"/>
          <p:cNvGrpSpPr/>
          <p:nvPr/>
        </p:nvGrpSpPr>
        <p:grpSpPr>
          <a:xfrm rot="0">
            <a:off x="9045416" y="4450556"/>
            <a:ext cx="8381047" cy="1317308"/>
            <a:chOff x="0" y="0"/>
            <a:chExt cx="11174730" cy="1756410"/>
          </a:xfrm>
        </p:grpSpPr>
        <p:sp>
          <p:nvSpPr>
            <p:cNvPr name="Freeform 19" id="19"/>
            <p:cNvSpPr/>
            <p:nvPr/>
          </p:nvSpPr>
          <p:spPr>
            <a:xfrm flipH="false" flipV="false" rot="0">
              <a:off x="0" y="0"/>
              <a:ext cx="11174730" cy="1756410"/>
            </a:xfrm>
            <a:custGeom>
              <a:avLst/>
              <a:gdLst/>
              <a:ahLst/>
              <a:cxnLst/>
              <a:rect r="r" b="b" t="t" l="l"/>
              <a:pathLst>
                <a:path h="1756410" w="11174730">
                  <a:moveTo>
                    <a:pt x="0" y="221869"/>
                  </a:moveTo>
                  <a:cubicBezTo>
                    <a:pt x="0" y="99314"/>
                    <a:pt x="99314" y="0"/>
                    <a:pt x="221869" y="0"/>
                  </a:cubicBezTo>
                  <a:lnTo>
                    <a:pt x="10952861" y="0"/>
                  </a:lnTo>
                  <a:cubicBezTo>
                    <a:pt x="11075416" y="0"/>
                    <a:pt x="11174730" y="99314"/>
                    <a:pt x="11174730" y="221869"/>
                  </a:cubicBezTo>
                  <a:lnTo>
                    <a:pt x="11174730" y="1534541"/>
                  </a:lnTo>
                  <a:cubicBezTo>
                    <a:pt x="11174730" y="1657096"/>
                    <a:pt x="11075416" y="1756410"/>
                    <a:pt x="10952861" y="1756410"/>
                  </a:cubicBezTo>
                  <a:lnTo>
                    <a:pt x="221869" y="1756410"/>
                  </a:lnTo>
                  <a:cubicBezTo>
                    <a:pt x="99314" y="1756410"/>
                    <a:pt x="0" y="1657096"/>
                    <a:pt x="0" y="1534541"/>
                  </a:cubicBezTo>
                  <a:close/>
                </a:path>
              </a:pathLst>
            </a:custGeom>
            <a:solidFill>
              <a:srgbClr val="141221"/>
            </a:solidFill>
            <a:ln w="14288" cap="sq">
              <a:solidFill>
                <a:srgbClr val="000000"/>
              </a:solidFill>
              <a:prstDash val="solid"/>
              <a:miter/>
            </a:ln>
          </p:spPr>
        </p:sp>
      </p:grpSp>
      <p:grpSp>
        <p:nvGrpSpPr>
          <p:cNvPr name="Group 20" id="20"/>
          <p:cNvGrpSpPr/>
          <p:nvPr/>
        </p:nvGrpSpPr>
        <p:grpSpPr>
          <a:xfrm rot="0">
            <a:off x="9162288" y="4457700"/>
            <a:ext cx="8147304" cy="1303020"/>
            <a:chOff x="0" y="0"/>
            <a:chExt cx="10863072" cy="1737360"/>
          </a:xfrm>
        </p:grpSpPr>
        <p:sp>
          <p:nvSpPr>
            <p:cNvPr name="Freeform 21" id="21"/>
            <p:cNvSpPr/>
            <p:nvPr/>
          </p:nvSpPr>
          <p:spPr>
            <a:xfrm flipH="false" flipV="false" rot="0">
              <a:off x="0" y="0"/>
              <a:ext cx="10863072" cy="1737360"/>
            </a:xfrm>
            <a:custGeom>
              <a:avLst/>
              <a:gdLst/>
              <a:ahLst/>
              <a:cxnLst/>
              <a:rect r="r" b="b" t="t" l="l"/>
              <a:pathLst>
                <a:path h="1737360" w="10863072">
                  <a:moveTo>
                    <a:pt x="0" y="0"/>
                  </a:moveTo>
                  <a:lnTo>
                    <a:pt x="10863072" y="0"/>
                  </a:lnTo>
                  <a:lnTo>
                    <a:pt x="10863072" y="1737360"/>
                  </a:lnTo>
                  <a:lnTo>
                    <a:pt x="0" y="1737360"/>
                  </a:lnTo>
                  <a:close/>
                </a:path>
              </a:pathLst>
            </a:custGeom>
            <a:blipFill>
              <a:blip r:embed="rId3">
                <a:alphaModFix amt="0"/>
              </a:blip>
              <a:stretch>
                <a:fillRect l="0" t="-71832" r="0" b="-71832"/>
              </a:stretch>
            </a:blipFill>
          </p:spPr>
        </p:sp>
        <p:sp>
          <p:nvSpPr>
            <p:cNvPr name="TextBox 22" id="22"/>
            <p:cNvSpPr txBox="true"/>
            <p:nvPr/>
          </p:nvSpPr>
          <p:spPr>
            <a:xfrm>
              <a:off x="0" y="0"/>
              <a:ext cx="10863072" cy="1737360"/>
            </a:xfrm>
            <a:prstGeom prst="rect">
              <a:avLst/>
            </a:prstGeom>
          </p:spPr>
          <p:txBody>
            <a:bodyPr anchor="ctr" rtlCol="false" tIns="0" lIns="0" bIns="0" rIns="0"/>
            <a:lstStyle/>
            <a:p>
              <a:pPr algn="ctr">
                <a:lnSpc>
                  <a:spcPts val="2520"/>
                </a:lnSpc>
              </a:pPr>
              <a:r>
                <a:rPr lang="en-US" sz="2100" b="true">
                  <a:solidFill>
                    <a:srgbClr val="FFFFFF"/>
                  </a:solidFill>
                  <a:latin typeface="Helvetica World Bold"/>
                  <a:ea typeface="Helvetica World Bold"/>
                  <a:cs typeface="Helvetica World Bold"/>
                  <a:sym typeface="Helvetica World Bold"/>
                </a:rPr>
                <a:t>CHECKPOINT 2 · Eksperimen Cross-Attention (usulan)</a:t>
              </a:r>
            </a:p>
          </p:txBody>
        </p:sp>
      </p:grpSp>
      <p:sp>
        <p:nvSpPr>
          <p:cNvPr name="AutoShape 23" id="23"/>
          <p:cNvSpPr/>
          <p:nvPr/>
        </p:nvSpPr>
        <p:spPr>
          <a:xfrm>
            <a:off x="13235940" y="5741669"/>
            <a:ext cx="0" cy="499111"/>
          </a:xfrm>
          <a:prstGeom prst="line">
            <a:avLst/>
          </a:prstGeom>
          <a:ln cap="rnd" w="76200">
            <a:solidFill>
              <a:srgbClr val="F5582E"/>
            </a:solidFill>
            <a:prstDash val="solid"/>
            <a:headEnd type="none" len="sm" w="sm"/>
            <a:tailEnd type="triangle" len="med" w="lg"/>
          </a:ln>
        </p:spPr>
      </p:sp>
      <p:grpSp>
        <p:nvGrpSpPr>
          <p:cNvPr name="Group 24" id="24"/>
          <p:cNvGrpSpPr/>
          <p:nvPr/>
        </p:nvGrpSpPr>
        <p:grpSpPr>
          <a:xfrm rot="0">
            <a:off x="9045416" y="6233636"/>
            <a:ext cx="8381047" cy="1317308"/>
            <a:chOff x="0" y="0"/>
            <a:chExt cx="11174730" cy="1756410"/>
          </a:xfrm>
        </p:grpSpPr>
        <p:sp>
          <p:nvSpPr>
            <p:cNvPr name="Freeform 25" id="25"/>
            <p:cNvSpPr/>
            <p:nvPr/>
          </p:nvSpPr>
          <p:spPr>
            <a:xfrm flipH="false" flipV="false" rot="0">
              <a:off x="0" y="0"/>
              <a:ext cx="11174730" cy="1756410"/>
            </a:xfrm>
            <a:custGeom>
              <a:avLst/>
              <a:gdLst/>
              <a:ahLst/>
              <a:cxnLst/>
              <a:rect r="r" b="b" t="t" l="l"/>
              <a:pathLst>
                <a:path h="1756410" w="11174730">
                  <a:moveTo>
                    <a:pt x="0" y="221869"/>
                  </a:moveTo>
                  <a:cubicBezTo>
                    <a:pt x="0" y="99314"/>
                    <a:pt x="99314" y="0"/>
                    <a:pt x="221869" y="0"/>
                  </a:cubicBezTo>
                  <a:lnTo>
                    <a:pt x="10952861" y="0"/>
                  </a:lnTo>
                  <a:cubicBezTo>
                    <a:pt x="11075416" y="0"/>
                    <a:pt x="11174730" y="99314"/>
                    <a:pt x="11174730" y="221869"/>
                  </a:cubicBezTo>
                  <a:lnTo>
                    <a:pt x="11174730" y="1534541"/>
                  </a:lnTo>
                  <a:cubicBezTo>
                    <a:pt x="11174730" y="1657096"/>
                    <a:pt x="11075416" y="1756410"/>
                    <a:pt x="10952861" y="1756410"/>
                  </a:cubicBezTo>
                  <a:lnTo>
                    <a:pt x="221869" y="1756410"/>
                  </a:lnTo>
                  <a:cubicBezTo>
                    <a:pt x="99314" y="1756410"/>
                    <a:pt x="0" y="1657096"/>
                    <a:pt x="0" y="1534541"/>
                  </a:cubicBezTo>
                  <a:close/>
                </a:path>
              </a:pathLst>
            </a:custGeom>
            <a:solidFill>
              <a:srgbClr val="FFFFFF"/>
            </a:solidFill>
            <a:ln w="14288" cap="sq">
              <a:solidFill>
                <a:srgbClr val="000000"/>
              </a:solidFill>
              <a:prstDash val="solid"/>
              <a:miter/>
            </a:ln>
          </p:spPr>
        </p:sp>
      </p:grpSp>
      <p:grpSp>
        <p:nvGrpSpPr>
          <p:cNvPr name="Group 26" id="26"/>
          <p:cNvGrpSpPr/>
          <p:nvPr/>
        </p:nvGrpSpPr>
        <p:grpSpPr>
          <a:xfrm rot="0">
            <a:off x="9162288" y="6240780"/>
            <a:ext cx="8147304" cy="1303020"/>
            <a:chOff x="0" y="0"/>
            <a:chExt cx="10863072" cy="1737360"/>
          </a:xfrm>
        </p:grpSpPr>
        <p:sp>
          <p:nvSpPr>
            <p:cNvPr name="Freeform 27" id="27"/>
            <p:cNvSpPr/>
            <p:nvPr/>
          </p:nvSpPr>
          <p:spPr>
            <a:xfrm flipH="false" flipV="false" rot="0">
              <a:off x="0" y="0"/>
              <a:ext cx="10863072" cy="1737360"/>
            </a:xfrm>
            <a:custGeom>
              <a:avLst/>
              <a:gdLst/>
              <a:ahLst/>
              <a:cxnLst/>
              <a:rect r="r" b="b" t="t" l="l"/>
              <a:pathLst>
                <a:path h="1737360" w="10863072">
                  <a:moveTo>
                    <a:pt x="0" y="0"/>
                  </a:moveTo>
                  <a:lnTo>
                    <a:pt x="10863072" y="0"/>
                  </a:lnTo>
                  <a:lnTo>
                    <a:pt x="10863072" y="1737360"/>
                  </a:lnTo>
                  <a:lnTo>
                    <a:pt x="0" y="1737360"/>
                  </a:lnTo>
                  <a:close/>
                </a:path>
              </a:pathLst>
            </a:custGeom>
            <a:blipFill>
              <a:blip r:embed="rId3">
                <a:alphaModFix amt="0"/>
              </a:blip>
              <a:stretch>
                <a:fillRect l="0" t="-71832" r="0" b="-71832"/>
              </a:stretch>
            </a:blipFill>
          </p:spPr>
        </p:sp>
        <p:sp>
          <p:nvSpPr>
            <p:cNvPr name="TextBox 28" id="28"/>
            <p:cNvSpPr txBox="true"/>
            <p:nvPr/>
          </p:nvSpPr>
          <p:spPr>
            <a:xfrm>
              <a:off x="0" y="0"/>
              <a:ext cx="10863072" cy="1737360"/>
            </a:xfrm>
            <a:prstGeom prst="rect">
              <a:avLst/>
            </a:prstGeom>
          </p:spPr>
          <p:txBody>
            <a:bodyPr anchor="ctr" rtlCol="false" tIns="0" lIns="0" bIns="0" rIns="0"/>
            <a:lstStyle/>
            <a:p>
              <a:pPr algn="ctr">
                <a:lnSpc>
                  <a:spcPts val="2520"/>
                </a:lnSpc>
              </a:pPr>
              <a:r>
                <a:rPr lang="en-US" sz="2100" b="true">
                  <a:solidFill>
                    <a:srgbClr val="000000"/>
                  </a:solidFill>
                  <a:latin typeface="Helvetica World Bold"/>
                  <a:ea typeface="Helvetica World Bold"/>
                  <a:cs typeface="Helvetica World Bold"/>
                  <a:sym typeface="Helvetica World Bold"/>
                </a:rPr>
                <a:t>EVALUASI · Macro-F1, Analisis Kesalahan, Kestabilan</a:t>
              </a:r>
            </a:p>
          </p:txBody>
        </p:sp>
      </p:grpSp>
      <p:sp>
        <p:nvSpPr>
          <p:cNvPr name="TextBox 29" id="29"/>
          <p:cNvSpPr txBox="true"/>
          <p:nvPr/>
        </p:nvSpPr>
        <p:spPr>
          <a:xfrm rot="0">
            <a:off x="9052560" y="8151495"/>
            <a:ext cx="8366760" cy="1175385"/>
          </a:xfrm>
          <a:prstGeom prst="rect">
            <a:avLst/>
          </a:prstGeom>
        </p:spPr>
        <p:txBody>
          <a:bodyPr anchor="t" rtlCol="false" tIns="0" lIns="0" bIns="0" rIns="0">
            <a:spAutoFit/>
          </a:bodyPr>
          <a:lstStyle/>
          <a:p>
            <a:pPr algn="l">
              <a:lnSpc>
                <a:spcPts val="2340"/>
              </a:lnSpc>
            </a:pPr>
            <a:r>
              <a:rPr lang="en-US" sz="1950" i="true">
                <a:solidFill>
                  <a:srgbClr val="000000"/>
                </a:solidFill>
                <a:latin typeface="Noto Serif Italics"/>
                <a:ea typeface="Noto Serif Italics"/>
                <a:cs typeface="Noto Serif Italics"/>
                <a:sym typeface="Noto Serif Italics"/>
              </a:rPr>
              <a:t>Cross-attention diusulkan untuk memodelkan interaksi teks–visual lebih eksplisit daripada feature concatenation. Belum ada jaminan peningkatan kinerja.</a:t>
            </a:r>
          </a:p>
        </p:txBody>
      </p:sp>
      <p:sp>
        <p:nvSpPr>
          <p:cNvPr name="AutoShape 30" id="30"/>
          <p:cNvSpPr/>
          <p:nvPr/>
        </p:nvSpPr>
        <p:spPr>
          <a:xfrm>
            <a:off x="13235940" y="3984784"/>
            <a:ext cx="47113" cy="543310"/>
          </a:xfrm>
          <a:prstGeom prst="line">
            <a:avLst/>
          </a:prstGeom>
          <a:ln cap="rnd" w="76200">
            <a:solidFill>
              <a:srgbClr val="F5582E"/>
            </a:solidFill>
            <a:prstDash val="solid"/>
            <a:headEnd type="none" len="sm" w="sm"/>
            <a:tailEnd type="triangle" len="med" w="lg"/>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13</a:t>
            </a:r>
          </a:p>
        </p:txBody>
      </p:sp>
      <p:sp>
        <p:nvSpPr>
          <p:cNvPr name="TextBox 3" id="3"/>
          <p:cNvSpPr txBox="true"/>
          <p:nvPr/>
        </p:nvSpPr>
        <p:spPr>
          <a:xfrm rot="0">
            <a:off x="822960" y="861060"/>
            <a:ext cx="16596360" cy="2240280"/>
          </a:xfrm>
          <a:prstGeom prst="rect">
            <a:avLst/>
          </a:prstGeom>
        </p:spPr>
        <p:txBody>
          <a:bodyPr anchor="t" rtlCol="false" tIns="0" lIns="0" bIns="0" rIns="0">
            <a:spAutoFit/>
          </a:bodyPr>
          <a:lstStyle/>
          <a:p>
            <a:pPr algn="l">
              <a:lnSpc>
                <a:spcPts val="7866"/>
              </a:lnSpc>
            </a:pPr>
            <a:r>
              <a:rPr lang="en-US" sz="6900" b="true">
                <a:solidFill>
                  <a:srgbClr val="F5582E"/>
                </a:solidFill>
                <a:latin typeface="Helvetica World Bold"/>
                <a:ea typeface="Helvetica World Bold"/>
                <a:cs typeface="Helvetica World Bold"/>
                <a:sym typeface="Helvetica World Bold"/>
              </a:rPr>
              <a:t>REPRODUKSI MENJADI LANDASAN</a:t>
            </a:r>
          </a:p>
          <a:p>
            <a:pPr algn="l">
              <a:lnSpc>
                <a:spcPts val="7866"/>
              </a:lnSpc>
            </a:pPr>
            <a:r>
              <a:rPr lang="en-US" sz="6900" i="true">
                <a:solidFill>
                  <a:srgbClr val="000000"/>
                </a:solidFill>
                <a:latin typeface="Noto Serif Italics"/>
                <a:ea typeface="Noto Serif Italics"/>
                <a:cs typeface="Noto Serif Italics"/>
                <a:sym typeface="Noto Serif Italics"/>
              </a:rPr>
              <a:t>Eksperimen Berikutnya.</a:t>
            </a:r>
          </a:p>
        </p:txBody>
      </p:sp>
      <p:sp>
        <p:nvSpPr>
          <p:cNvPr name="TextBox 4" id="4"/>
          <p:cNvSpPr txBox="true"/>
          <p:nvPr/>
        </p:nvSpPr>
        <p:spPr>
          <a:xfrm rot="0">
            <a:off x="822960" y="3741166"/>
            <a:ext cx="13716000" cy="892175"/>
          </a:xfrm>
          <a:prstGeom prst="rect">
            <a:avLst/>
          </a:prstGeom>
        </p:spPr>
        <p:txBody>
          <a:bodyPr anchor="t" rtlCol="false" tIns="0" lIns="0" bIns="0" rIns="0">
            <a:spAutoFit/>
          </a:bodyPr>
          <a:lstStyle/>
          <a:p>
            <a:pPr algn="l">
              <a:lnSpc>
                <a:spcPts val="3240"/>
              </a:lnSpc>
            </a:pPr>
            <a:r>
              <a:rPr lang="en-US" sz="2700" b="true">
                <a:solidFill>
                  <a:srgbClr val="000000"/>
                </a:solidFill>
                <a:latin typeface="Helvetica World Bold"/>
                <a:ea typeface="Helvetica World Bold"/>
                <a:cs typeface="Helvetica World Bold"/>
                <a:sym typeface="Helvetica World Bold"/>
              </a:rPr>
              <a:t>Pada Checkpo</a:t>
            </a:r>
            <a:r>
              <a:rPr lang="en-US" sz="2700" b="true">
                <a:solidFill>
                  <a:srgbClr val="000000"/>
                </a:solidFill>
                <a:latin typeface="Helvetica World Bold"/>
                <a:ea typeface="Helvetica World Bold"/>
                <a:cs typeface="Helvetica World Bold"/>
                <a:sym typeface="Helvetica World Bold"/>
              </a:rPr>
              <a:t>int 2, kami akan menguji interaksi lintas-modal melalui pendekatan cross-attention.</a:t>
            </a:r>
          </a:p>
        </p:txBody>
      </p:sp>
      <p:sp>
        <p:nvSpPr>
          <p:cNvPr name="AutoShape 5" id="5"/>
          <p:cNvSpPr/>
          <p:nvPr/>
        </p:nvSpPr>
        <p:spPr>
          <a:xfrm rot="9540">
            <a:off x="813425" y="4864418"/>
            <a:ext cx="6877079" cy="0"/>
          </a:xfrm>
          <a:prstGeom prst="line">
            <a:avLst/>
          </a:prstGeom>
          <a:ln cap="rnd" w="9525">
            <a:solidFill>
              <a:srgbClr val="F5582E"/>
            </a:solidFill>
            <a:prstDash val="solid"/>
            <a:headEnd type="none" len="sm" w="sm"/>
            <a:tailEnd type="none" len="sm" w="sm"/>
          </a:ln>
        </p:spPr>
      </p:sp>
      <p:grpSp>
        <p:nvGrpSpPr>
          <p:cNvPr name="Group 6" id="6"/>
          <p:cNvGrpSpPr/>
          <p:nvPr/>
        </p:nvGrpSpPr>
        <p:grpSpPr>
          <a:xfrm rot="0">
            <a:off x="7616571" y="4804791"/>
            <a:ext cx="128778" cy="128778"/>
            <a:chOff x="0" y="0"/>
            <a:chExt cx="171704" cy="171704"/>
          </a:xfrm>
        </p:grpSpPr>
        <p:sp>
          <p:nvSpPr>
            <p:cNvPr name="Freeform 7" id="7"/>
            <p:cNvSpPr/>
            <p:nvPr/>
          </p:nvSpPr>
          <p:spPr>
            <a:xfrm flipH="false" flipV="false" rot="0">
              <a:off x="0" y="0"/>
              <a:ext cx="171704" cy="171704"/>
            </a:xfrm>
            <a:custGeom>
              <a:avLst/>
              <a:gdLst/>
              <a:ahLst/>
              <a:cxnLst/>
              <a:rect r="r" b="b" t="t" l="l"/>
              <a:pathLst>
                <a:path h="171704" w="171704">
                  <a:moveTo>
                    <a:pt x="0" y="85852"/>
                  </a:moveTo>
                  <a:cubicBezTo>
                    <a:pt x="0" y="38481"/>
                    <a:pt x="38481" y="0"/>
                    <a:pt x="85852" y="0"/>
                  </a:cubicBezTo>
                  <a:cubicBezTo>
                    <a:pt x="133223" y="0"/>
                    <a:pt x="171704" y="38481"/>
                    <a:pt x="171704" y="85852"/>
                  </a:cubicBezTo>
                  <a:cubicBezTo>
                    <a:pt x="171704" y="133223"/>
                    <a:pt x="133223" y="171704"/>
                    <a:pt x="85852" y="171704"/>
                  </a:cubicBezTo>
                  <a:cubicBezTo>
                    <a:pt x="38481" y="171704"/>
                    <a:pt x="0" y="133223"/>
                    <a:pt x="0" y="85852"/>
                  </a:cubicBezTo>
                  <a:close/>
                </a:path>
              </a:pathLst>
            </a:custGeom>
            <a:solidFill>
              <a:srgbClr val="F5582E"/>
            </a:solidFill>
            <a:ln w="19050" cap="sq">
              <a:solidFill>
                <a:srgbClr val="F5582E"/>
              </a:solidFill>
              <a:prstDash val="solid"/>
              <a:miter/>
            </a:ln>
          </p:spPr>
        </p:sp>
      </p:grpSp>
      <p:grpSp>
        <p:nvGrpSpPr>
          <p:cNvPr name="Group 8" id="8"/>
          <p:cNvGrpSpPr/>
          <p:nvPr/>
        </p:nvGrpSpPr>
        <p:grpSpPr>
          <a:xfrm rot="0">
            <a:off x="815816" y="5342096"/>
            <a:ext cx="5363528" cy="1934527"/>
            <a:chOff x="0" y="0"/>
            <a:chExt cx="7151370" cy="2579370"/>
          </a:xfrm>
        </p:grpSpPr>
        <p:sp>
          <p:nvSpPr>
            <p:cNvPr name="Freeform 9" id="9"/>
            <p:cNvSpPr/>
            <p:nvPr/>
          </p:nvSpPr>
          <p:spPr>
            <a:xfrm flipH="false" flipV="false" rot="0">
              <a:off x="0" y="0"/>
              <a:ext cx="7151370" cy="2579370"/>
            </a:xfrm>
            <a:custGeom>
              <a:avLst/>
              <a:gdLst/>
              <a:ahLst/>
              <a:cxnLst/>
              <a:rect r="r" b="b" t="t" l="l"/>
              <a:pathLst>
                <a:path h="2579370" w="7151370">
                  <a:moveTo>
                    <a:pt x="0" y="221107"/>
                  </a:moveTo>
                  <a:cubicBezTo>
                    <a:pt x="0" y="98933"/>
                    <a:pt x="98933" y="0"/>
                    <a:pt x="221107" y="0"/>
                  </a:cubicBezTo>
                  <a:lnTo>
                    <a:pt x="6930263" y="0"/>
                  </a:lnTo>
                  <a:cubicBezTo>
                    <a:pt x="7052310" y="0"/>
                    <a:pt x="7151370" y="98933"/>
                    <a:pt x="7151370" y="221107"/>
                  </a:cubicBezTo>
                  <a:lnTo>
                    <a:pt x="7151370" y="2358263"/>
                  </a:lnTo>
                  <a:cubicBezTo>
                    <a:pt x="7151370" y="2480310"/>
                    <a:pt x="7052437" y="2579370"/>
                    <a:pt x="6930263" y="2579370"/>
                  </a:cubicBezTo>
                  <a:lnTo>
                    <a:pt x="221107" y="2579370"/>
                  </a:lnTo>
                  <a:cubicBezTo>
                    <a:pt x="98933" y="2579370"/>
                    <a:pt x="0" y="2480437"/>
                    <a:pt x="0" y="2358263"/>
                  </a:cubicBezTo>
                  <a:close/>
                </a:path>
              </a:pathLst>
            </a:custGeom>
            <a:solidFill>
              <a:srgbClr val="FFFFFF"/>
            </a:solidFill>
            <a:ln w="14288" cap="sq">
              <a:solidFill>
                <a:srgbClr val="000000"/>
              </a:solidFill>
              <a:prstDash val="solid"/>
              <a:miter/>
            </a:ln>
          </p:spPr>
        </p:sp>
      </p:grpSp>
      <p:sp>
        <p:nvSpPr>
          <p:cNvPr name="TextBox 10" id="10"/>
          <p:cNvSpPr txBox="true"/>
          <p:nvPr/>
        </p:nvSpPr>
        <p:spPr>
          <a:xfrm rot="0">
            <a:off x="1165860" y="5966460"/>
            <a:ext cx="960120" cy="685800"/>
          </a:xfrm>
          <a:prstGeom prst="rect">
            <a:avLst/>
          </a:prstGeom>
        </p:spPr>
        <p:txBody>
          <a:bodyPr anchor="t" rtlCol="false" tIns="0" lIns="0" bIns="0" rIns="0">
            <a:spAutoFit/>
          </a:bodyPr>
          <a:lstStyle/>
          <a:p>
            <a:pPr algn="l">
              <a:lnSpc>
                <a:spcPts val="3960"/>
              </a:lnSpc>
            </a:pPr>
            <a:r>
              <a:rPr lang="en-US" sz="3300" b="true">
                <a:solidFill>
                  <a:srgbClr val="F5582E"/>
                </a:solidFill>
                <a:latin typeface="Helvetica World Bold"/>
                <a:ea typeface="Helvetica World Bold"/>
                <a:cs typeface="Helvetica World Bold"/>
                <a:sym typeface="Helvetica World Bold"/>
              </a:rPr>
              <a:t>01</a:t>
            </a:r>
          </a:p>
        </p:txBody>
      </p:sp>
      <p:grpSp>
        <p:nvGrpSpPr>
          <p:cNvPr name="Group 11" id="11"/>
          <p:cNvGrpSpPr/>
          <p:nvPr/>
        </p:nvGrpSpPr>
        <p:grpSpPr>
          <a:xfrm rot="0">
            <a:off x="2125980" y="5966460"/>
            <a:ext cx="3840480" cy="1234440"/>
            <a:chOff x="0" y="0"/>
            <a:chExt cx="5120640" cy="1645920"/>
          </a:xfrm>
        </p:grpSpPr>
        <p:sp>
          <p:nvSpPr>
            <p:cNvPr name="Freeform 12" id="12"/>
            <p:cNvSpPr/>
            <p:nvPr/>
          </p:nvSpPr>
          <p:spPr>
            <a:xfrm flipH="false" flipV="false" rot="0">
              <a:off x="0" y="0"/>
              <a:ext cx="5120640" cy="1645920"/>
            </a:xfrm>
            <a:custGeom>
              <a:avLst/>
              <a:gdLst/>
              <a:ahLst/>
              <a:cxnLst/>
              <a:rect r="r" b="b" t="t" l="l"/>
              <a:pathLst>
                <a:path h="1645920" w="5120640">
                  <a:moveTo>
                    <a:pt x="0" y="0"/>
                  </a:moveTo>
                  <a:lnTo>
                    <a:pt x="5120640" y="0"/>
                  </a:lnTo>
                  <a:lnTo>
                    <a:pt x="5120640" y="1645920"/>
                  </a:lnTo>
                  <a:lnTo>
                    <a:pt x="0" y="1645920"/>
                  </a:lnTo>
                  <a:close/>
                </a:path>
              </a:pathLst>
            </a:custGeom>
            <a:blipFill>
              <a:blip r:embed="rId3">
                <a:alphaModFix amt="0"/>
              </a:blip>
              <a:stretch>
                <a:fillRect l="0" t="-10620" r="0" b="-10620"/>
              </a:stretch>
            </a:blipFill>
          </p:spPr>
        </p:sp>
        <p:sp>
          <p:nvSpPr>
            <p:cNvPr name="TextBox 13" id="13"/>
            <p:cNvSpPr txBox="true"/>
            <p:nvPr/>
          </p:nvSpPr>
          <p:spPr>
            <a:xfrm>
              <a:off x="0" y="0"/>
              <a:ext cx="5120640" cy="1645920"/>
            </a:xfrm>
            <a:prstGeom prst="rect">
              <a:avLst/>
            </a:prstGeom>
          </p:spPr>
          <p:txBody>
            <a:bodyPr anchor="ctr" rtlCol="false" tIns="0" lIns="0" bIns="0" rIns="0"/>
            <a:lstStyle/>
            <a:p>
              <a:pPr algn="l">
                <a:lnSpc>
                  <a:spcPts val="2520"/>
                </a:lnSpc>
              </a:pPr>
              <a:r>
                <a:rPr lang="en-US" sz="2100">
                  <a:solidFill>
                    <a:srgbClr val="000000"/>
                  </a:solidFill>
                  <a:latin typeface="Helvetica World"/>
                  <a:ea typeface="Helvetica World"/>
                  <a:cs typeface="Helvetica World"/>
                  <a:sym typeface="Helvetica World"/>
                </a:rPr>
                <a:t>Reproduksi eksperimen terpilih telah selesai.</a:t>
              </a:r>
            </a:p>
          </p:txBody>
        </p:sp>
      </p:grpSp>
      <p:grpSp>
        <p:nvGrpSpPr>
          <p:cNvPr name="Group 14" id="14"/>
          <p:cNvGrpSpPr/>
          <p:nvPr/>
        </p:nvGrpSpPr>
        <p:grpSpPr>
          <a:xfrm rot="0">
            <a:off x="6439376" y="5342096"/>
            <a:ext cx="5363528" cy="1934527"/>
            <a:chOff x="0" y="0"/>
            <a:chExt cx="7151370" cy="2579370"/>
          </a:xfrm>
        </p:grpSpPr>
        <p:sp>
          <p:nvSpPr>
            <p:cNvPr name="Freeform 15" id="15"/>
            <p:cNvSpPr/>
            <p:nvPr/>
          </p:nvSpPr>
          <p:spPr>
            <a:xfrm flipH="false" flipV="false" rot="0">
              <a:off x="0" y="0"/>
              <a:ext cx="7151370" cy="2579370"/>
            </a:xfrm>
            <a:custGeom>
              <a:avLst/>
              <a:gdLst/>
              <a:ahLst/>
              <a:cxnLst/>
              <a:rect r="r" b="b" t="t" l="l"/>
              <a:pathLst>
                <a:path h="2579370" w="7151370">
                  <a:moveTo>
                    <a:pt x="0" y="221107"/>
                  </a:moveTo>
                  <a:cubicBezTo>
                    <a:pt x="0" y="98933"/>
                    <a:pt x="98933" y="0"/>
                    <a:pt x="221107" y="0"/>
                  </a:cubicBezTo>
                  <a:lnTo>
                    <a:pt x="6930263" y="0"/>
                  </a:lnTo>
                  <a:cubicBezTo>
                    <a:pt x="7052310" y="0"/>
                    <a:pt x="7151370" y="98933"/>
                    <a:pt x="7151370" y="221107"/>
                  </a:cubicBezTo>
                  <a:lnTo>
                    <a:pt x="7151370" y="2358263"/>
                  </a:lnTo>
                  <a:cubicBezTo>
                    <a:pt x="7151370" y="2480310"/>
                    <a:pt x="7052437" y="2579370"/>
                    <a:pt x="6930263" y="2579370"/>
                  </a:cubicBezTo>
                  <a:lnTo>
                    <a:pt x="221107" y="2579370"/>
                  </a:lnTo>
                  <a:cubicBezTo>
                    <a:pt x="98933" y="2579370"/>
                    <a:pt x="0" y="2480437"/>
                    <a:pt x="0" y="2358263"/>
                  </a:cubicBezTo>
                  <a:close/>
                </a:path>
              </a:pathLst>
            </a:custGeom>
            <a:solidFill>
              <a:srgbClr val="FFFFFF"/>
            </a:solidFill>
            <a:ln w="14288" cap="sq">
              <a:solidFill>
                <a:srgbClr val="000000"/>
              </a:solidFill>
              <a:prstDash val="solid"/>
              <a:miter/>
            </a:ln>
          </p:spPr>
        </p:sp>
      </p:grpSp>
      <p:grpSp>
        <p:nvGrpSpPr>
          <p:cNvPr name="Group 16" id="16"/>
          <p:cNvGrpSpPr/>
          <p:nvPr/>
        </p:nvGrpSpPr>
        <p:grpSpPr>
          <a:xfrm rot="0">
            <a:off x="6439376" y="5342096"/>
            <a:ext cx="5363528" cy="453200"/>
            <a:chOff x="0" y="0"/>
            <a:chExt cx="7151370" cy="604266"/>
          </a:xfrm>
        </p:grpSpPr>
        <p:sp>
          <p:nvSpPr>
            <p:cNvPr name="Freeform 17" id="17"/>
            <p:cNvSpPr/>
            <p:nvPr/>
          </p:nvSpPr>
          <p:spPr>
            <a:xfrm flipH="false" flipV="false" rot="0">
              <a:off x="0" y="0"/>
              <a:ext cx="7151370" cy="604266"/>
            </a:xfrm>
            <a:custGeom>
              <a:avLst/>
              <a:gdLst/>
              <a:ahLst/>
              <a:cxnLst/>
              <a:rect r="r" b="b" t="t" l="l"/>
              <a:pathLst>
                <a:path h="604266" w="7151370">
                  <a:moveTo>
                    <a:pt x="0" y="226568"/>
                  </a:moveTo>
                  <a:cubicBezTo>
                    <a:pt x="0" y="101473"/>
                    <a:pt x="101473" y="0"/>
                    <a:pt x="226568" y="0"/>
                  </a:cubicBezTo>
                  <a:lnTo>
                    <a:pt x="6924802" y="0"/>
                  </a:lnTo>
                  <a:cubicBezTo>
                    <a:pt x="7049897" y="0"/>
                    <a:pt x="7151370" y="101473"/>
                    <a:pt x="7151370" y="226568"/>
                  </a:cubicBezTo>
                  <a:lnTo>
                    <a:pt x="7151370" y="377698"/>
                  </a:lnTo>
                  <a:cubicBezTo>
                    <a:pt x="7151370" y="502793"/>
                    <a:pt x="7049897" y="604266"/>
                    <a:pt x="69248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18" id="18"/>
          <p:cNvGrpSpPr/>
          <p:nvPr/>
        </p:nvGrpSpPr>
        <p:grpSpPr>
          <a:xfrm rot="0">
            <a:off x="6450711" y="5559171"/>
            <a:ext cx="5340858" cy="238506"/>
            <a:chOff x="0" y="0"/>
            <a:chExt cx="7121144" cy="318008"/>
          </a:xfrm>
        </p:grpSpPr>
        <p:sp>
          <p:nvSpPr>
            <p:cNvPr name="Freeform 19" id="19"/>
            <p:cNvSpPr/>
            <p:nvPr/>
          </p:nvSpPr>
          <p:spPr>
            <a:xfrm flipH="false" flipV="false" rot="0">
              <a:off x="0" y="0"/>
              <a:ext cx="7121144" cy="318008"/>
            </a:xfrm>
            <a:custGeom>
              <a:avLst/>
              <a:gdLst/>
              <a:ahLst/>
              <a:cxnLst/>
              <a:rect r="r" b="b" t="t" l="l"/>
              <a:pathLst>
                <a:path h="318008" w="7121144">
                  <a:moveTo>
                    <a:pt x="0" y="0"/>
                  </a:moveTo>
                  <a:lnTo>
                    <a:pt x="7121144" y="0"/>
                  </a:lnTo>
                  <a:lnTo>
                    <a:pt x="7121144" y="318008"/>
                  </a:lnTo>
                  <a:lnTo>
                    <a:pt x="0" y="318008"/>
                  </a:lnTo>
                  <a:close/>
                </a:path>
              </a:pathLst>
            </a:custGeom>
            <a:solidFill>
              <a:srgbClr val="F5582E"/>
            </a:solidFill>
            <a:ln w="19050" cap="sq">
              <a:solidFill>
                <a:srgbClr val="F5582E"/>
              </a:solidFill>
              <a:prstDash val="solid"/>
              <a:miter/>
            </a:ln>
          </p:spPr>
        </p:sp>
      </p:grpSp>
      <p:sp>
        <p:nvSpPr>
          <p:cNvPr name="AutoShape 20" id="20"/>
          <p:cNvSpPr/>
          <p:nvPr/>
        </p:nvSpPr>
        <p:spPr>
          <a:xfrm rot="9180">
            <a:off x="6439367" y="5783390"/>
            <a:ext cx="5363547" cy="0"/>
          </a:xfrm>
          <a:prstGeom prst="line">
            <a:avLst/>
          </a:prstGeom>
          <a:ln cap="rnd" w="9525">
            <a:solidFill>
              <a:srgbClr val="000000"/>
            </a:solidFill>
            <a:prstDash val="solid"/>
            <a:headEnd type="none" len="sm" w="sm"/>
            <a:tailEnd type="none" len="sm" w="sm"/>
          </a:ln>
        </p:spPr>
      </p:sp>
      <p:sp>
        <p:nvSpPr>
          <p:cNvPr name="TextBox 21" id="21"/>
          <p:cNvSpPr txBox="true"/>
          <p:nvPr/>
        </p:nvSpPr>
        <p:spPr>
          <a:xfrm rot="0">
            <a:off x="6789420" y="5966460"/>
            <a:ext cx="960120" cy="685800"/>
          </a:xfrm>
          <a:prstGeom prst="rect">
            <a:avLst/>
          </a:prstGeom>
        </p:spPr>
        <p:txBody>
          <a:bodyPr anchor="t" rtlCol="false" tIns="0" lIns="0" bIns="0" rIns="0">
            <a:spAutoFit/>
          </a:bodyPr>
          <a:lstStyle/>
          <a:p>
            <a:pPr algn="l">
              <a:lnSpc>
                <a:spcPts val="3960"/>
              </a:lnSpc>
            </a:pPr>
            <a:r>
              <a:rPr lang="en-US" sz="3300" b="true">
                <a:solidFill>
                  <a:srgbClr val="F5582E"/>
                </a:solidFill>
                <a:latin typeface="Helvetica World Bold"/>
                <a:ea typeface="Helvetica World Bold"/>
                <a:cs typeface="Helvetica World Bold"/>
                <a:sym typeface="Helvetica World Bold"/>
              </a:rPr>
              <a:t>02</a:t>
            </a:r>
          </a:p>
        </p:txBody>
      </p:sp>
      <p:grpSp>
        <p:nvGrpSpPr>
          <p:cNvPr name="Group 22" id="22"/>
          <p:cNvGrpSpPr/>
          <p:nvPr/>
        </p:nvGrpSpPr>
        <p:grpSpPr>
          <a:xfrm rot="0">
            <a:off x="7749540" y="5966460"/>
            <a:ext cx="3840480" cy="1234440"/>
            <a:chOff x="0" y="0"/>
            <a:chExt cx="5120640" cy="1645920"/>
          </a:xfrm>
        </p:grpSpPr>
        <p:sp>
          <p:nvSpPr>
            <p:cNvPr name="Freeform 23" id="23"/>
            <p:cNvSpPr/>
            <p:nvPr/>
          </p:nvSpPr>
          <p:spPr>
            <a:xfrm flipH="false" flipV="false" rot="0">
              <a:off x="0" y="0"/>
              <a:ext cx="5120640" cy="1645920"/>
            </a:xfrm>
            <a:custGeom>
              <a:avLst/>
              <a:gdLst/>
              <a:ahLst/>
              <a:cxnLst/>
              <a:rect r="r" b="b" t="t" l="l"/>
              <a:pathLst>
                <a:path h="1645920" w="5120640">
                  <a:moveTo>
                    <a:pt x="0" y="0"/>
                  </a:moveTo>
                  <a:lnTo>
                    <a:pt x="5120640" y="0"/>
                  </a:lnTo>
                  <a:lnTo>
                    <a:pt x="5120640" y="1645920"/>
                  </a:lnTo>
                  <a:lnTo>
                    <a:pt x="0" y="1645920"/>
                  </a:lnTo>
                  <a:close/>
                </a:path>
              </a:pathLst>
            </a:custGeom>
            <a:blipFill>
              <a:blip r:embed="rId3">
                <a:alphaModFix amt="0"/>
              </a:blip>
              <a:stretch>
                <a:fillRect l="0" t="-10620" r="0" b="-10620"/>
              </a:stretch>
            </a:blipFill>
          </p:spPr>
        </p:sp>
        <p:sp>
          <p:nvSpPr>
            <p:cNvPr name="TextBox 24" id="24"/>
            <p:cNvSpPr txBox="true"/>
            <p:nvPr/>
          </p:nvSpPr>
          <p:spPr>
            <a:xfrm>
              <a:off x="0" y="0"/>
              <a:ext cx="5120640" cy="1645920"/>
            </a:xfrm>
            <a:prstGeom prst="rect">
              <a:avLst/>
            </a:prstGeom>
          </p:spPr>
          <p:txBody>
            <a:bodyPr anchor="ctr" rtlCol="false" tIns="0" lIns="0" bIns="0" rIns="0"/>
            <a:lstStyle/>
            <a:p>
              <a:pPr algn="l">
                <a:lnSpc>
                  <a:spcPts val="2520"/>
                </a:lnSpc>
              </a:pPr>
              <a:r>
                <a:rPr lang="en-US" sz="2100">
                  <a:solidFill>
                    <a:srgbClr val="000000"/>
                  </a:solidFill>
                  <a:latin typeface="Helvetica World"/>
                  <a:ea typeface="Helvetica World"/>
                  <a:cs typeface="Helvetica World"/>
                  <a:sym typeface="Helvetica World"/>
                </a:rPr>
                <a:t>Kontribusi visual bergantung pada tugas.</a:t>
              </a:r>
            </a:p>
          </p:txBody>
        </p:sp>
      </p:grpSp>
      <p:grpSp>
        <p:nvGrpSpPr>
          <p:cNvPr name="Group 25" id="25"/>
          <p:cNvGrpSpPr/>
          <p:nvPr/>
        </p:nvGrpSpPr>
        <p:grpSpPr>
          <a:xfrm rot="0">
            <a:off x="12062936" y="5342096"/>
            <a:ext cx="5363528" cy="1934527"/>
            <a:chOff x="0" y="0"/>
            <a:chExt cx="7151370" cy="2579370"/>
          </a:xfrm>
        </p:grpSpPr>
        <p:sp>
          <p:nvSpPr>
            <p:cNvPr name="Freeform 26" id="26"/>
            <p:cNvSpPr/>
            <p:nvPr/>
          </p:nvSpPr>
          <p:spPr>
            <a:xfrm flipH="false" flipV="false" rot="0">
              <a:off x="0" y="0"/>
              <a:ext cx="7151370" cy="2579370"/>
            </a:xfrm>
            <a:custGeom>
              <a:avLst/>
              <a:gdLst/>
              <a:ahLst/>
              <a:cxnLst/>
              <a:rect r="r" b="b" t="t" l="l"/>
              <a:pathLst>
                <a:path h="2579370" w="7151370">
                  <a:moveTo>
                    <a:pt x="0" y="221107"/>
                  </a:moveTo>
                  <a:cubicBezTo>
                    <a:pt x="0" y="98933"/>
                    <a:pt x="98933" y="0"/>
                    <a:pt x="221107" y="0"/>
                  </a:cubicBezTo>
                  <a:lnTo>
                    <a:pt x="6930263" y="0"/>
                  </a:lnTo>
                  <a:cubicBezTo>
                    <a:pt x="7052310" y="0"/>
                    <a:pt x="7151370" y="98933"/>
                    <a:pt x="7151370" y="221107"/>
                  </a:cubicBezTo>
                  <a:lnTo>
                    <a:pt x="7151370" y="2358263"/>
                  </a:lnTo>
                  <a:cubicBezTo>
                    <a:pt x="7151370" y="2480310"/>
                    <a:pt x="7052437" y="2579370"/>
                    <a:pt x="6930263" y="2579370"/>
                  </a:cubicBezTo>
                  <a:lnTo>
                    <a:pt x="221107" y="2579370"/>
                  </a:lnTo>
                  <a:cubicBezTo>
                    <a:pt x="98933" y="2579370"/>
                    <a:pt x="0" y="2480437"/>
                    <a:pt x="0" y="2358263"/>
                  </a:cubicBezTo>
                  <a:close/>
                </a:path>
              </a:pathLst>
            </a:custGeom>
            <a:solidFill>
              <a:srgbClr val="FFFFFF"/>
            </a:solidFill>
            <a:ln w="14288" cap="sq">
              <a:solidFill>
                <a:srgbClr val="000000"/>
              </a:solidFill>
              <a:prstDash val="solid"/>
              <a:miter/>
            </a:ln>
          </p:spPr>
        </p:sp>
      </p:grpSp>
      <p:sp>
        <p:nvSpPr>
          <p:cNvPr name="TextBox 27" id="27"/>
          <p:cNvSpPr txBox="true"/>
          <p:nvPr/>
        </p:nvSpPr>
        <p:spPr>
          <a:xfrm rot="0">
            <a:off x="12412980" y="5966460"/>
            <a:ext cx="960120" cy="685800"/>
          </a:xfrm>
          <a:prstGeom prst="rect">
            <a:avLst/>
          </a:prstGeom>
        </p:spPr>
        <p:txBody>
          <a:bodyPr anchor="t" rtlCol="false" tIns="0" lIns="0" bIns="0" rIns="0">
            <a:spAutoFit/>
          </a:bodyPr>
          <a:lstStyle/>
          <a:p>
            <a:pPr algn="l">
              <a:lnSpc>
                <a:spcPts val="3960"/>
              </a:lnSpc>
            </a:pPr>
            <a:r>
              <a:rPr lang="en-US" sz="3300" b="true">
                <a:solidFill>
                  <a:srgbClr val="F5582E"/>
                </a:solidFill>
                <a:latin typeface="Helvetica World Bold"/>
                <a:ea typeface="Helvetica World Bold"/>
                <a:cs typeface="Helvetica World Bold"/>
                <a:sym typeface="Helvetica World Bold"/>
              </a:rPr>
              <a:t>03</a:t>
            </a:r>
          </a:p>
        </p:txBody>
      </p:sp>
      <p:grpSp>
        <p:nvGrpSpPr>
          <p:cNvPr name="Group 28" id="28"/>
          <p:cNvGrpSpPr/>
          <p:nvPr/>
        </p:nvGrpSpPr>
        <p:grpSpPr>
          <a:xfrm rot="0">
            <a:off x="13373100" y="5966460"/>
            <a:ext cx="3840480" cy="1234440"/>
            <a:chOff x="0" y="0"/>
            <a:chExt cx="5120640" cy="1645920"/>
          </a:xfrm>
        </p:grpSpPr>
        <p:sp>
          <p:nvSpPr>
            <p:cNvPr name="Freeform 29" id="29"/>
            <p:cNvSpPr/>
            <p:nvPr/>
          </p:nvSpPr>
          <p:spPr>
            <a:xfrm flipH="false" flipV="false" rot="0">
              <a:off x="0" y="0"/>
              <a:ext cx="5120640" cy="1645920"/>
            </a:xfrm>
            <a:custGeom>
              <a:avLst/>
              <a:gdLst/>
              <a:ahLst/>
              <a:cxnLst/>
              <a:rect r="r" b="b" t="t" l="l"/>
              <a:pathLst>
                <a:path h="1645920" w="5120640">
                  <a:moveTo>
                    <a:pt x="0" y="0"/>
                  </a:moveTo>
                  <a:lnTo>
                    <a:pt x="5120640" y="0"/>
                  </a:lnTo>
                  <a:lnTo>
                    <a:pt x="5120640" y="1645920"/>
                  </a:lnTo>
                  <a:lnTo>
                    <a:pt x="0" y="1645920"/>
                  </a:lnTo>
                  <a:close/>
                </a:path>
              </a:pathLst>
            </a:custGeom>
            <a:blipFill>
              <a:blip r:embed="rId3">
                <a:alphaModFix amt="0"/>
              </a:blip>
              <a:stretch>
                <a:fillRect l="0" t="-10620" r="0" b="-10620"/>
              </a:stretch>
            </a:blipFill>
          </p:spPr>
        </p:sp>
        <p:sp>
          <p:nvSpPr>
            <p:cNvPr name="TextBox 30" id="30"/>
            <p:cNvSpPr txBox="true"/>
            <p:nvPr/>
          </p:nvSpPr>
          <p:spPr>
            <a:xfrm>
              <a:off x="0" y="0"/>
              <a:ext cx="5120640" cy="1645920"/>
            </a:xfrm>
            <a:prstGeom prst="rect">
              <a:avLst/>
            </a:prstGeom>
          </p:spPr>
          <p:txBody>
            <a:bodyPr anchor="ctr" rtlCol="false" tIns="0" lIns="0" bIns="0" rIns="0"/>
            <a:lstStyle/>
            <a:p>
              <a:pPr algn="l">
                <a:lnSpc>
                  <a:spcPts val="2520"/>
                </a:lnSpc>
              </a:pPr>
              <a:r>
                <a:rPr lang="en-US" sz="2100">
                  <a:solidFill>
                    <a:srgbClr val="000000"/>
                  </a:solidFill>
                  <a:latin typeface="Helvetica World"/>
                  <a:ea typeface="Helvetica World"/>
                  <a:cs typeface="Helvetica World"/>
                  <a:sym typeface="Helvetica World"/>
                </a:rPr>
                <a:t>Cross-attention adalah peluang riset berikutnya.</a:t>
              </a:r>
            </a:p>
          </p:txBody>
        </p:sp>
      </p:grpSp>
      <p:sp>
        <p:nvSpPr>
          <p:cNvPr name="TextBox 31" id="31"/>
          <p:cNvSpPr txBox="true"/>
          <p:nvPr/>
        </p:nvSpPr>
        <p:spPr>
          <a:xfrm rot="0">
            <a:off x="822960" y="7749540"/>
            <a:ext cx="11521440" cy="1371600"/>
          </a:xfrm>
          <a:prstGeom prst="rect">
            <a:avLst/>
          </a:prstGeom>
        </p:spPr>
        <p:txBody>
          <a:bodyPr anchor="t" rtlCol="false" tIns="0" lIns="0" bIns="0" rIns="0">
            <a:spAutoFit/>
          </a:bodyPr>
          <a:lstStyle/>
          <a:p>
            <a:pPr algn="l">
              <a:lnSpc>
                <a:spcPts val="3600"/>
              </a:lnSpc>
            </a:pPr>
            <a:r>
              <a:rPr lang="en-US" sz="3000" i="true">
                <a:solidFill>
                  <a:srgbClr val="000000"/>
                </a:solidFill>
                <a:latin typeface="Noto Serif Italics"/>
                <a:ea typeface="Noto Serif Italics"/>
                <a:cs typeface="Noto Serif Italics"/>
                <a:sym typeface="Noto Serif Italics"/>
              </a:rPr>
              <a:t>Reproduksi yang berhasil adalah fondasi. Interaksi lintas-modal yang lebih baik adalah hipotesis berikutnya.</a:t>
            </a:r>
          </a:p>
        </p:txBody>
      </p:sp>
      <p:sp>
        <p:nvSpPr>
          <p:cNvPr name="TextBox 32" id="32"/>
          <p:cNvSpPr txBox="true"/>
          <p:nvPr/>
        </p:nvSpPr>
        <p:spPr>
          <a:xfrm rot="0">
            <a:off x="12893040" y="7759065"/>
            <a:ext cx="4526280" cy="676275"/>
          </a:xfrm>
          <a:prstGeom prst="rect">
            <a:avLst/>
          </a:prstGeom>
        </p:spPr>
        <p:txBody>
          <a:bodyPr anchor="t" rtlCol="false" tIns="0" lIns="0" bIns="0" rIns="0">
            <a:spAutoFit/>
          </a:bodyPr>
          <a:lstStyle/>
          <a:p>
            <a:pPr algn="r">
              <a:lnSpc>
                <a:spcPts val="4680"/>
              </a:lnSpc>
            </a:pPr>
            <a:r>
              <a:rPr lang="en-US" sz="3900" b="true">
                <a:solidFill>
                  <a:srgbClr val="F5582E"/>
                </a:solidFill>
                <a:latin typeface="Helvetica World Bold"/>
                <a:ea typeface="Helvetica World Bold"/>
                <a:cs typeface="Helvetica World Bold"/>
                <a:sym typeface="Helvetica World Bold"/>
              </a:rPr>
              <a:t>TERIMA KASIH</a:t>
            </a:r>
          </a:p>
        </p:txBody>
      </p:sp>
      <p:sp>
        <p:nvSpPr>
          <p:cNvPr name="TextBox 33" id="33"/>
          <p:cNvSpPr txBox="true"/>
          <p:nvPr/>
        </p:nvSpPr>
        <p:spPr>
          <a:xfrm rot="0">
            <a:off x="12893040" y="8435340"/>
            <a:ext cx="4526280" cy="685800"/>
          </a:xfrm>
          <a:prstGeom prst="rect">
            <a:avLst/>
          </a:prstGeom>
        </p:spPr>
        <p:txBody>
          <a:bodyPr anchor="t" rtlCol="false" tIns="0" lIns="0" bIns="0" rIns="0">
            <a:spAutoFit/>
          </a:bodyPr>
          <a:lstStyle/>
          <a:p>
            <a:pPr algn="r">
              <a:lnSpc>
                <a:spcPts val="4320"/>
              </a:lnSpc>
            </a:pPr>
            <a:r>
              <a:rPr lang="en-US" sz="3600" i="true">
                <a:solidFill>
                  <a:srgbClr val="000000"/>
                </a:solidFill>
                <a:latin typeface="Noto Serif Italics"/>
                <a:ea typeface="Noto Serif Italics"/>
                <a:cs typeface="Noto Serif Italics"/>
                <a:sym typeface="Noto Serif Italics"/>
              </a:rPr>
              <a:t>Ada pertanyaan?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14</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A01</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PENELITIAN ACUAN</a:t>
            </a:r>
          </a:p>
          <a:p>
            <a:pPr algn="l">
              <a:lnSpc>
                <a:spcPts val="4788"/>
              </a:lnSpc>
            </a:pPr>
            <a:r>
              <a:rPr lang="en-US" sz="4200" i="true">
                <a:solidFill>
                  <a:srgbClr val="000000"/>
                </a:solidFill>
                <a:latin typeface="Noto Serif Italics"/>
                <a:ea typeface="Noto Serif Italics"/>
                <a:cs typeface="Noto Serif Italics"/>
                <a:sym typeface="Noto Serif Italics"/>
              </a:rPr>
              <a:t>dan Ruang Lingkup Reproduksi.</a:t>
            </a:r>
          </a:p>
        </p:txBody>
      </p:sp>
      <p:grpSp>
        <p:nvGrpSpPr>
          <p:cNvPr name="Group 9" id="9"/>
          <p:cNvGrpSpPr/>
          <p:nvPr/>
        </p:nvGrpSpPr>
        <p:grpSpPr>
          <a:xfrm rot="0">
            <a:off x="815816" y="3147536"/>
            <a:ext cx="8106728" cy="6049328"/>
            <a:chOff x="0" y="0"/>
            <a:chExt cx="10808970" cy="8065770"/>
          </a:xfrm>
        </p:grpSpPr>
        <p:sp>
          <p:nvSpPr>
            <p:cNvPr name="Freeform 10" id="10"/>
            <p:cNvSpPr/>
            <p:nvPr/>
          </p:nvSpPr>
          <p:spPr>
            <a:xfrm flipH="false" flipV="false" rot="0">
              <a:off x="0" y="0"/>
              <a:ext cx="10808970" cy="8065770"/>
            </a:xfrm>
            <a:custGeom>
              <a:avLst/>
              <a:gdLst/>
              <a:ahLst/>
              <a:cxnLst/>
              <a:rect r="r" b="b" t="t" l="l"/>
              <a:pathLst>
                <a:path h="8065770" w="10808970">
                  <a:moveTo>
                    <a:pt x="0" y="219964"/>
                  </a:moveTo>
                  <a:cubicBezTo>
                    <a:pt x="0" y="98425"/>
                    <a:pt x="98425" y="0"/>
                    <a:pt x="219964" y="0"/>
                  </a:cubicBezTo>
                  <a:lnTo>
                    <a:pt x="10589006" y="0"/>
                  </a:lnTo>
                  <a:cubicBezTo>
                    <a:pt x="10710545" y="0"/>
                    <a:pt x="10808970" y="98425"/>
                    <a:pt x="10808970" y="219964"/>
                  </a:cubicBezTo>
                  <a:lnTo>
                    <a:pt x="10808970" y="7845806"/>
                  </a:lnTo>
                  <a:cubicBezTo>
                    <a:pt x="10808970" y="7967345"/>
                    <a:pt x="10710545" y="8065770"/>
                    <a:pt x="10589006" y="8065770"/>
                  </a:cubicBezTo>
                  <a:lnTo>
                    <a:pt x="219964" y="8065770"/>
                  </a:lnTo>
                  <a:cubicBezTo>
                    <a:pt x="98425" y="8065770"/>
                    <a:pt x="0" y="7967345"/>
                    <a:pt x="0" y="7845806"/>
                  </a:cubicBezTo>
                  <a:close/>
                </a:path>
              </a:pathLst>
            </a:custGeom>
            <a:solidFill>
              <a:srgbClr val="FFFFFF"/>
            </a:solidFill>
            <a:ln w="14288" cap="sq">
              <a:solidFill>
                <a:srgbClr val="000000"/>
              </a:solidFill>
              <a:prstDash val="solid"/>
              <a:miter/>
            </a:ln>
          </p:spPr>
        </p:sp>
      </p:grpSp>
      <p:grpSp>
        <p:nvGrpSpPr>
          <p:cNvPr name="Group 11" id="11"/>
          <p:cNvGrpSpPr/>
          <p:nvPr/>
        </p:nvGrpSpPr>
        <p:grpSpPr>
          <a:xfrm rot="0">
            <a:off x="815816" y="3147536"/>
            <a:ext cx="8106728" cy="453200"/>
            <a:chOff x="0" y="0"/>
            <a:chExt cx="10808970" cy="604266"/>
          </a:xfrm>
        </p:grpSpPr>
        <p:sp>
          <p:nvSpPr>
            <p:cNvPr name="Freeform 12" id="12"/>
            <p:cNvSpPr/>
            <p:nvPr/>
          </p:nvSpPr>
          <p:spPr>
            <a:xfrm flipH="false" flipV="false" rot="0">
              <a:off x="0" y="0"/>
              <a:ext cx="10808970" cy="604266"/>
            </a:xfrm>
            <a:custGeom>
              <a:avLst/>
              <a:gdLst/>
              <a:ahLst/>
              <a:cxnLst/>
              <a:rect r="r" b="b" t="t" l="l"/>
              <a:pathLst>
                <a:path h="604266" w="10808970">
                  <a:moveTo>
                    <a:pt x="0" y="226568"/>
                  </a:moveTo>
                  <a:cubicBezTo>
                    <a:pt x="0" y="101473"/>
                    <a:pt x="101473" y="0"/>
                    <a:pt x="226568" y="0"/>
                  </a:cubicBezTo>
                  <a:lnTo>
                    <a:pt x="10582402" y="0"/>
                  </a:lnTo>
                  <a:cubicBezTo>
                    <a:pt x="10707497" y="0"/>
                    <a:pt x="10808970" y="101473"/>
                    <a:pt x="10808970" y="226568"/>
                  </a:cubicBezTo>
                  <a:lnTo>
                    <a:pt x="10808970" y="377698"/>
                  </a:lnTo>
                  <a:cubicBezTo>
                    <a:pt x="10808970" y="502793"/>
                    <a:pt x="10707497" y="604266"/>
                    <a:pt x="105824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13" id="13"/>
          <p:cNvGrpSpPr/>
          <p:nvPr/>
        </p:nvGrpSpPr>
        <p:grpSpPr>
          <a:xfrm rot="0">
            <a:off x="827151" y="3364611"/>
            <a:ext cx="8084058" cy="238506"/>
            <a:chOff x="0" y="0"/>
            <a:chExt cx="10778744" cy="318008"/>
          </a:xfrm>
        </p:grpSpPr>
        <p:sp>
          <p:nvSpPr>
            <p:cNvPr name="Freeform 14" id="14"/>
            <p:cNvSpPr/>
            <p:nvPr/>
          </p:nvSpPr>
          <p:spPr>
            <a:xfrm flipH="false" flipV="false" rot="0">
              <a:off x="0" y="0"/>
              <a:ext cx="10778744" cy="318008"/>
            </a:xfrm>
            <a:custGeom>
              <a:avLst/>
              <a:gdLst/>
              <a:ahLst/>
              <a:cxnLst/>
              <a:rect r="r" b="b" t="t" l="l"/>
              <a:pathLst>
                <a:path h="318008" w="10778744">
                  <a:moveTo>
                    <a:pt x="0" y="0"/>
                  </a:moveTo>
                  <a:lnTo>
                    <a:pt x="10778744" y="0"/>
                  </a:lnTo>
                  <a:lnTo>
                    <a:pt x="10778744" y="318008"/>
                  </a:lnTo>
                  <a:lnTo>
                    <a:pt x="0" y="318008"/>
                  </a:lnTo>
                  <a:close/>
                </a:path>
              </a:pathLst>
            </a:custGeom>
            <a:solidFill>
              <a:srgbClr val="F5582E"/>
            </a:solidFill>
            <a:ln w="19050" cap="sq">
              <a:solidFill>
                <a:srgbClr val="F5582E"/>
              </a:solidFill>
              <a:prstDash val="solid"/>
              <a:miter/>
            </a:ln>
          </p:spPr>
        </p:sp>
      </p:grpSp>
      <p:sp>
        <p:nvSpPr>
          <p:cNvPr name="AutoShape 15" id="15"/>
          <p:cNvSpPr/>
          <p:nvPr/>
        </p:nvSpPr>
        <p:spPr>
          <a:xfrm rot="6060">
            <a:off x="815807" y="3588829"/>
            <a:ext cx="8106737" cy="0"/>
          </a:xfrm>
          <a:prstGeom prst="line">
            <a:avLst/>
          </a:prstGeom>
          <a:ln cap="rnd" w="9525">
            <a:solidFill>
              <a:srgbClr val="000000"/>
            </a:solidFill>
            <a:prstDash val="solid"/>
            <a:headEnd type="none" len="sm" w="sm"/>
            <a:tailEnd type="none" len="sm" w="sm"/>
          </a:ln>
        </p:spPr>
      </p:sp>
      <p:sp>
        <p:nvSpPr>
          <p:cNvPr name="TextBox 16" id="16"/>
          <p:cNvSpPr txBox="true"/>
          <p:nvPr/>
        </p:nvSpPr>
        <p:spPr>
          <a:xfrm rot="0">
            <a:off x="1165860" y="3771900"/>
            <a:ext cx="74066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PENELITIAN ACUAN</a:t>
            </a:r>
          </a:p>
        </p:txBody>
      </p:sp>
      <p:sp>
        <p:nvSpPr>
          <p:cNvPr name="TextBox 17" id="17"/>
          <p:cNvSpPr txBox="true"/>
          <p:nvPr/>
        </p:nvSpPr>
        <p:spPr>
          <a:xfrm rot="0">
            <a:off x="1165860" y="4389120"/>
            <a:ext cx="7406640" cy="4389120"/>
          </a:xfrm>
          <a:prstGeom prst="rect">
            <a:avLst/>
          </a:prstGeom>
        </p:spPr>
        <p:txBody>
          <a:bodyPr anchor="t" rtlCol="false" tIns="0" lIns="0" bIns="0" rIns="0">
            <a:spAutoFit/>
          </a:bodyPr>
          <a:lstStyle/>
          <a:p>
            <a:pPr algn="l">
              <a:lnSpc>
                <a:spcPts val="2520"/>
              </a:lnSpc>
            </a:pPr>
            <a:r>
              <a:rPr lang="en-US" sz="2100" b="true">
                <a:solidFill>
                  <a:srgbClr val="000000"/>
                </a:solidFill>
                <a:latin typeface="Helvetica World Bold"/>
                <a:ea typeface="Helvetica World Bold"/>
                <a:cs typeface="Helvetica World Bold"/>
                <a:sym typeface="Helvetica World Bold"/>
              </a:rPr>
              <a:t>Decoding Hate in Memes: Multimodal and Multitask Approaches for Low-Resource Indonesian Social Media</a:t>
            </a:r>
          </a:p>
          <a:p>
            <a:pPr algn="l">
              <a:lnSpc>
                <a:spcPts val="2520"/>
              </a:lnSpc>
            </a:pPr>
            <a:r>
              <a:rPr lang="en-US" sz="2100">
                <a:solidFill>
                  <a:srgbClr val="000000"/>
                </a:solidFill>
                <a:latin typeface="Helvetica World"/>
                <a:ea typeface="Helvetica World"/>
                <a:cs typeface="Helvetica World"/>
                <a:sym typeface="Helvetica World"/>
              </a:rPr>
              <a:t>Pamungkas et al. (2026)</a:t>
            </a:r>
          </a:p>
          <a:p>
            <a:pPr algn="l">
              <a:lnSpc>
                <a:spcPts val="2520"/>
              </a:lnSpc>
            </a:pPr>
            <a:r>
              <a:rPr lang="en-US" sz="2100">
                <a:solidFill>
                  <a:srgbClr val="000000"/>
                </a:solidFill>
                <a:latin typeface="Helvetica World"/>
                <a:ea typeface="Helvetica World"/>
                <a:cs typeface="Helvetica World"/>
                <a:sym typeface="Helvetica World"/>
              </a:rPr>
              <a:t> </a:t>
            </a:r>
          </a:p>
          <a:p>
            <a:pPr algn="l" marL="380048" indent="-190024" lvl="1">
              <a:lnSpc>
                <a:spcPts val="2520"/>
              </a:lnSpc>
              <a:buFont typeface="Arial"/>
              <a:buChar char="•"/>
            </a:pPr>
            <a:r>
              <a:rPr lang="en-US" sz="2100">
                <a:solidFill>
                  <a:srgbClr val="000000"/>
                </a:solidFill>
                <a:latin typeface="Helvetica World"/>
                <a:ea typeface="Helvetica World"/>
                <a:cs typeface="Helvetica World"/>
                <a:sym typeface="Helvetica World"/>
              </a:rPr>
              <a:t>RQ2: kontribusi modalitas (image-only, text-only, fusion)</a:t>
            </a:r>
          </a:p>
          <a:p>
            <a:pPr algn="l" marL="380048" indent="-190024" lvl="1">
              <a:lnSpc>
                <a:spcPts val="2520"/>
              </a:lnSpc>
              <a:buFont typeface="Arial"/>
              <a:buChar char="•"/>
            </a:pPr>
            <a:r>
              <a:rPr lang="en-US" sz="2100">
                <a:solidFill>
                  <a:srgbClr val="000000"/>
                </a:solidFill>
                <a:latin typeface="Helvetica World"/>
                <a:ea typeface="Helvetica World"/>
                <a:cs typeface="Helvetica World"/>
                <a:sym typeface="Helvetica World"/>
              </a:rPr>
              <a:t>RQ4: single-task vs multitask</a:t>
            </a:r>
          </a:p>
        </p:txBody>
      </p:sp>
      <p:grpSp>
        <p:nvGrpSpPr>
          <p:cNvPr name="Group 18" id="18"/>
          <p:cNvGrpSpPr/>
          <p:nvPr/>
        </p:nvGrpSpPr>
        <p:grpSpPr>
          <a:xfrm rot="0">
            <a:off x="9319736" y="3147536"/>
            <a:ext cx="8106728" cy="6049328"/>
            <a:chOff x="0" y="0"/>
            <a:chExt cx="10808970" cy="8065770"/>
          </a:xfrm>
        </p:grpSpPr>
        <p:sp>
          <p:nvSpPr>
            <p:cNvPr name="Freeform 19" id="19"/>
            <p:cNvSpPr/>
            <p:nvPr/>
          </p:nvSpPr>
          <p:spPr>
            <a:xfrm flipH="false" flipV="false" rot="0">
              <a:off x="0" y="0"/>
              <a:ext cx="10808970" cy="8065770"/>
            </a:xfrm>
            <a:custGeom>
              <a:avLst/>
              <a:gdLst/>
              <a:ahLst/>
              <a:cxnLst/>
              <a:rect r="r" b="b" t="t" l="l"/>
              <a:pathLst>
                <a:path h="8065770" w="10808970">
                  <a:moveTo>
                    <a:pt x="0" y="219964"/>
                  </a:moveTo>
                  <a:cubicBezTo>
                    <a:pt x="0" y="98425"/>
                    <a:pt x="98425" y="0"/>
                    <a:pt x="219964" y="0"/>
                  </a:cubicBezTo>
                  <a:lnTo>
                    <a:pt x="10589006" y="0"/>
                  </a:lnTo>
                  <a:cubicBezTo>
                    <a:pt x="10710545" y="0"/>
                    <a:pt x="10808970" y="98425"/>
                    <a:pt x="10808970" y="219964"/>
                  </a:cubicBezTo>
                  <a:lnTo>
                    <a:pt x="10808970" y="7845806"/>
                  </a:lnTo>
                  <a:cubicBezTo>
                    <a:pt x="10808970" y="7967345"/>
                    <a:pt x="10710545" y="8065770"/>
                    <a:pt x="10589006" y="8065770"/>
                  </a:cubicBezTo>
                  <a:lnTo>
                    <a:pt x="219964" y="8065770"/>
                  </a:lnTo>
                  <a:cubicBezTo>
                    <a:pt x="98425" y="8065770"/>
                    <a:pt x="0" y="7967345"/>
                    <a:pt x="0" y="7845806"/>
                  </a:cubicBezTo>
                  <a:close/>
                </a:path>
              </a:pathLst>
            </a:custGeom>
            <a:solidFill>
              <a:srgbClr val="FFFFFF"/>
            </a:solidFill>
            <a:ln w="14288" cap="sq">
              <a:solidFill>
                <a:srgbClr val="000000"/>
              </a:solidFill>
              <a:prstDash val="solid"/>
              <a:miter/>
            </a:ln>
          </p:spPr>
        </p:sp>
      </p:grpSp>
      <p:grpSp>
        <p:nvGrpSpPr>
          <p:cNvPr name="Group 20" id="20"/>
          <p:cNvGrpSpPr/>
          <p:nvPr/>
        </p:nvGrpSpPr>
        <p:grpSpPr>
          <a:xfrm rot="0">
            <a:off x="9319736" y="3147536"/>
            <a:ext cx="8106728" cy="453200"/>
            <a:chOff x="0" y="0"/>
            <a:chExt cx="10808970" cy="604266"/>
          </a:xfrm>
        </p:grpSpPr>
        <p:sp>
          <p:nvSpPr>
            <p:cNvPr name="Freeform 21" id="21"/>
            <p:cNvSpPr/>
            <p:nvPr/>
          </p:nvSpPr>
          <p:spPr>
            <a:xfrm flipH="false" flipV="false" rot="0">
              <a:off x="0" y="0"/>
              <a:ext cx="10808970" cy="604266"/>
            </a:xfrm>
            <a:custGeom>
              <a:avLst/>
              <a:gdLst/>
              <a:ahLst/>
              <a:cxnLst/>
              <a:rect r="r" b="b" t="t" l="l"/>
              <a:pathLst>
                <a:path h="604266" w="10808970">
                  <a:moveTo>
                    <a:pt x="0" y="226568"/>
                  </a:moveTo>
                  <a:cubicBezTo>
                    <a:pt x="0" y="101473"/>
                    <a:pt x="101473" y="0"/>
                    <a:pt x="226568" y="0"/>
                  </a:cubicBezTo>
                  <a:lnTo>
                    <a:pt x="10582402" y="0"/>
                  </a:lnTo>
                  <a:cubicBezTo>
                    <a:pt x="10707497" y="0"/>
                    <a:pt x="10808970" y="101473"/>
                    <a:pt x="10808970" y="226568"/>
                  </a:cubicBezTo>
                  <a:lnTo>
                    <a:pt x="10808970" y="377698"/>
                  </a:lnTo>
                  <a:cubicBezTo>
                    <a:pt x="10808970" y="502793"/>
                    <a:pt x="10707497" y="604266"/>
                    <a:pt x="10582402" y="604266"/>
                  </a:cubicBezTo>
                  <a:lnTo>
                    <a:pt x="226568" y="604266"/>
                  </a:lnTo>
                  <a:cubicBezTo>
                    <a:pt x="101473" y="604266"/>
                    <a:pt x="0" y="502793"/>
                    <a:pt x="0" y="377698"/>
                  </a:cubicBezTo>
                  <a:close/>
                </a:path>
              </a:pathLst>
            </a:custGeom>
            <a:solidFill>
              <a:srgbClr val="141221"/>
            </a:solidFill>
            <a:ln w="14288" cap="sq">
              <a:solidFill>
                <a:srgbClr val="000000"/>
              </a:solidFill>
              <a:prstDash val="solid"/>
              <a:miter/>
            </a:ln>
          </p:spPr>
        </p:sp>
      </p:grpSp>
      <p:grpSp>
        <p:nvGrpSpPr>
          <p:cNvPr name="Group 22" id="22"/>
          <p:cNvGrpSpPr/>
          <p:nvPr/>
        </p:nvGrpSpPr>
        <p:grpSpPr>
          <a:xfrm rot="0">
            <a:off x="9331071" y="3364611"/>
            <a:ext cx="8084058" cy="238506"/>
            <a:chOff x="0" y="0"/>
            <a:chExt cx="10778744" cy="318008"/>
          </a:xfrm>
        </p:grpSpPr>
        <p:sp>
          <p:nvSpPr>
            <p:cNvPr name="Freeform 23" id="23"/>
            <p:cNvSpPr/>
            <p:nvPr/>
          </p:nvSpPr>
          <p:spPr>
            <a:xfrm flipH="false" flipV="false" rot="0">
              <a:off x="0" y="0"/>
              <a:ext cx="10778744" cy="318008"/>
            </a:xfrm>
            <a:custGeom>
              <a:avLst/>
              <a:gdLst/>
              <a:ahLst/>
              <a:cxnLst/>
              <a:rect r="r" b="b" t="t" l="l"/>
              <a:pathLst>
                <a:path h="318008" w="10778744">
                  <a:moveTo>
                    <a:pt x="0" y="0"/>
                  </a:moveTo>
                  <a:lnTo>
                    <a:pt x="10778744" y="0"/>
                  </a:lnTo>
                  <a:lnTo>
                    <a:pt x="10778744" y="318008"/>
                  </a:lnTo>
                  <a:lnTo>
                    <a:pt x="0" y="318008"/>
                  </a:lnTo>
                  <a:close/>
                </a:path>
              </a:pathLst>
            </a:custGeom>
            <a:solidFill>
              <a:srgbClr val="141221"/>
            </a:solidFill>
            <a:ln w="19050" cap="sq">
              <a:solidFill>
                <a:srgbClr val="141221"/>
              </a:solidFill>
              <a:prstDash val="solid"/>
              <a:miter/>
            </a:ln>
          </p:spPr>
        </p:sp>
      </p:grpSp>
      <p:sp>
        <p:nvSpPr>
          <p:cNvPr name="AutoShape 24" id="24"/>
          <p:cNvSpPr/>
          <p:nvPr/>
        </p:nvSpPr>
        <p:spPr>
          <a:xfrm rot="6060">
            <a:off x="9319727" y="3588829"/>
            <a:ext cx="8106737" cy="0"/>
          </a:xfrm>
          <a:prstGeom prst="line">
            <a:avLst/>
          </a:prstGeom>
          <a:ln cap="rnd" w="9525">
            <a:solidFill>
              <a:srgbClr val="000000"/>
            </a:solidFill>
            <a:prstDash val="solid"/>
            <a:headEnd type="none" len="sm" w="sm"/>
            <a:tailEnd type="none" len="sm" w="sm"/>
          </a:ln>
        </p:spPr>
      </p:sp>
      <p:sp>
        <p:nvSpPr>
          <p:cNvPr name="TextBox 25" id="25"/>
          <p:cNvSpPr txBox="true"/>
          <p:nvPr/>
        </p:nvSpPr>
        <p:spPr>
          <a:xfrm rot="0">
            <a:off x="9669780" y="3771900"/>
            <a:ext cx="7406640" cy="411480"/>
          </a:xfrm>
          <a:prstGeom prst="rect">
            <a:avLst/>
          </a:prstGeom>
        </p:spPr>
        <p:txBody>
          <a:bodyPr anchor="t" rtlCol="false" tIns="0" lIns="0" bIns="0" rIns="0">
            <a:spAutoFit/>
          </a:bodyPr>
          <a:lstStyle/>
          <a:p>
            <a:pPr algn="l">
              <a:lnSpc>
                <a:spcPts val="2520"/>
              </a:lnSpc>
            </a:pPr>
            <a:r>
              <a:rPr lang="en-US" sz="2100" b="true">
                <a:solidFill>
                  <a:srgbClr val="141221"/>
                </a:solidFill>
                <a:latin typeface="Helvetica World Bold"/>
                <a:ea typeface="Helvetica World Bold"/>
                <a:cs typeface="Helvetica World Bold"/>
                <a:sym typeface="Helvetica World Bold"/>
              </a:rPr>
              <a:t>RUANG LINGKUP REPRODUKSI</a:t>
            </a:r>
          </a:p>
        </p:txBody>
      </p:sp>
      <p:sp>
        <p:nvSpPr>
          <p:cNvPr name="TextBox 26" id="26"/>
          <p:cNvSpPr txBox="true"/>
          <p:nvPr/>
        </p:nvSpPr>
        <p:spPr>
          <a:xfrm rot="0">
            <a:off x="9669780" y="4389120"/>
            <a:ext cx="7406640" cy="4526280"/>
          </a:xfrm>
          <a:prstGeom prst="rect">
            <a:avLst/>
          </a:prstGeom>
        </p:spPr>
        <p:txBody>
          <a:bodyPr anchor="t" rtlCol="false" tIns="0" lIns="0" bIns="0" rIns="0">
            <a:spAutoFit/>
          </a:bodyPr>
          <a:lstStyle/>
          <a:p>
            <a:pPr algn="l" marL="380048" indent="-190024" lvl="1">
              <a:lnSpc>
                <a:spcPts val="2520"/>
              </a:lnSpc>
              <a:buFont typeface="Arial"/>
              <a:buChar char="•"/>
            </a:pPr>
            <a:r>
              <a:rPr lang="en-US" sz="2100">
                <a:solidFill>
                  <a:srgbClr val="000000"/>
                </a:solidFill>
                <a:latin typeface="Helvetica World"/>
                <a:ea typeface="Helvetica World"/>
                <a:cs typeface="Helvetica World"/>
                <a:sym typeface="Helvetica World"/>
              </a:rPr>
              <a:t>Direproduksi: 8 konfigurasi (ViT, IndoBERTweet, fusi, multitask) → 10 evaluasi pada INDOMEME (5.023 meme)</a:t>
            </a:r>
          </a:p>
          <a:p>
            <a:pPr algn="l" marL="380048" indent="-190024" lvl="1">
              <a:lnSpc>
                <a:spcPts val="2520"/>
              </a:lnSpc>
              <a:buFont typeface="Arial"/>
              <a:buChar char="•"/>
            </a:pPr>
            <a:r>
              <a:rPr lang="en-US" sz="2100">
                <a:solidFill>
                  <a:srgbClr val="000000"/>
                </a:solidFill>
                <a:latin typeface="Helvetica World"/>
                <a:ea typeface="Helvetica World"/>
                <a:cs typeface="Helvetica World"/>
                <a:sym typeface="Helvetica World"/>
              </a:rPr>
              <a:t>Evaluasi pada 1.005 data uji resmi; metrik utama Macro-F1</a:t>
            </a:r>
          </a:p>
          <a:p>
            <a:pPr algn="l" marL="380048" indent="-190024" lvl="1">
              <a:lnSpc>
                <a:spcPts val="2520"/>
              </a:lnSpc>
              <a:buFont typeface="Arial"/>
              <a:buChar char="•"/>
            </a:pPr>
            <a:r>
              <a:rPr lang="en-US" sz="2100">
                <a:solidFill>
                  <a:srgbClr val="000000"/>
                </a:solidFill>
                <a:latin typeface="Helvetica World"/>
                <a:ea typeface="Helvetica World"/>
                <a:cs typeface="Helvetica World"/>
                <a:sym typeface="Helvetica World"/>
              </a:rPr>
              <a:t>Belum direproduksi: seluruh kombinasi arsitektur lain dalam paper</a:t>
            </a:r>
          </a:p>
          <a:p>
            <a:pPr algn="l" marL="380048" indent="-190024" lvl="1">
              <a:lnSpc>
                <a:spcPts val="2520"/>
              </a:lnSpc>
              <a:buFont typeface="Arial"/>
              <a:buChar char="•"/>
            </a:pPr>
            <a:r>
              <a:rPr lang="en-US" sz="2100">
                <a:solidFill>
                  <a:srgbClr val="000000"/>
                </a:solidFill>
                <a:latin typeface="Helvetica World"/>
                <a:ea typeface="Helvetica World"/>
                <a:cs typeface="Helvetica World"/>
                <a:sym typeface="Helvetica World"/>
              </a:rPr>
              <a:t>Satu random seed (42); tanpa uji signifikansi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15</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A02</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DISTRIBUSI</a:t>
            </a:r>
          </a:p>
          <a:p>
            <a:pPr algn="l">
              <a:lnSpc>
                <a:spcPts val="4788"/>
              </a:lnSpc>
            </a:pPr>
            <a:r>
              <a:rPr lang="en-US" sz="4200" i="true">
                <a:solidFill>
                  <a:srgbClr val="000000"/>
                </a:solidFill>
                <a:latin typeface="Noto Serif Italics"/>
                <a:ea typeface="Noto Serif Italics"/>
                <a:cs typeface="Noto Serif Italics"/>
                <a:sym typeface="Noto Serif Italics"/>
              </a:rPr>
              <a:t>dan Karakteristik Dataset.</a:t>
            </a:r>
          </a:p>
        </p:txBody>
      </p:sp>
      <p:graphicFrame>
        <p:nvGraphicFramePr>
          <p:cNvPr name="Table 9" id="9"/>
          <p:cNvGraphicFramePr>
            <a:graphicFrameLocks noGrp="true"/>
          </p:cNvGraphicFramePr>
          <p:nvPr/>
        </p:nvGraphicFramePr>
        <p:xfrm>
          <a:off x="822960" y="3154680"/>
          <a:ext cx="8610600" cy="3429000"/>
        </p:xfrm>
        <a:graphic>
          <a:graphicData uri="http://schemas.openxmlformats.org/drawingml/2006/table">
            <a:tbl>
              <a:tblPr/>
              <a:tblGrid>
                <a:gridCol w="3690257"/>
                <a:gridCol w="1640114"/>
                <a:gridCol w="1640114"/>
                <a:gridCol w="1640114"/>
              </a:tblGrid>
              <a:tr h="685800">
                <a:tc>
                  <a:txBody>
                    <a:bodyPr anchor="t" rtlCol="false"/>
                    <a:lstStyle/>
                    <a:p>
                      <a:pPr algn="l">
                        <a:lnSpc>
                          <a:spcPts val="2340"/>
                        </a:lnSpc>
                        <a:defRPr/>
                      </a:pPr>
                      <a:r>
                        <a:rPr lang="en-US" sz="1950" b="true">
                          <a:solidFill>
                            <a:srgbClr val="F5582E"/>
                          </a:solidFill>
                          <a:latin typeface="Helvetica World Bold"/>
                          <a:ea typeface="Helvetica World Bold"/>
                          <a:cs typeface="Helvetica World Bold"/>
                          <a:sym typeface="Helvetica World Bold"/>
                        </a:rPr>
                        <a:t>Kombinasi Label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Train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Test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Total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858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Hate–Inappropriate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1.386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347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1.733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858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Not Hate–Inappropriate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345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431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858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Not Hate–Appropriate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2.287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572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2.859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858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Total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4.018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1.005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5.023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bl>
          </a:graphicData>
        </a:graphic>
      </p:graphicFrame>
      <p:graphicFrame>
        <p:nvGraphicFramePr>
          <p:cNvPr name="Table 10" id="10"/>
          <p:cNvGraphicFramePr>
            <a:graphicFrameLocks noGrp="true"/>
          </p:cNvGraphicFramePr>
          <p:nvPr/>
        </p:nvGraphicFramePr>
        <p:xfrm>
          <a:off x="10012680" y="3154680"/>
          <a:ext cx="7372350" cy="2743200"/>
        </p:xfrm>
        <a:graphic>
          <a:graphicData uri="http://schemas.openxmlformats.org/drawingml/2006/table">
            <a:tbl>
              <a:tblPr/>
              <a:tblGrid>
                <a:gridCol w="1911350"/>
                <a:gridCol w="1638300"/>
                <a:gridCol w="3822700"/>
              </a:tblGrid>
              <a:tr h="685800">
                <a:tc>
                  <a:txBody>
                    <a:bodyPr anchor="t" rtlCol="false"/>
                    <a:lstStyle/>
                    <a:p>
                      <a:pPr algn="l">
                        <a:lnSpc>
                          <a:spcPts val="2340"/>
                        </a:lnSpc>
                        <a:defRPr/>
                      </a:pPr>
                      <a:r>
                        <a:rPr lang="en-US" sz="1950" b="true">
                          <a:solidFill>
                            <a:srgbClr val="F5582E"/>
                          </a:solidFill>
                          <a:latin typeface="Helvetica World Bold"/>
                          <a:ea typeface="Helvetica World Bold"/>
                          <a:cs typeface="Helvetica World Bold"/>
                          <a:sym typeface="Helvetica World Bold"/>
                        </a:rPr>
                        <a:t>Bagian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Jumlah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Penggunaan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858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Fit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3.214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Pelatihan model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858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Validasi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804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Pemilihan checkpoint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858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Test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1.005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Evaluasi akhir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bl>
          </a:graphicData>
        </a:graphic>
      </p:graphicFrame>
      <p:grpSp>
        <p:nvGrpSpPr>
          <p:cNvPr name="Group 11" id="11"/>
          <p:cNvGrpSpPr/>
          <p:nvPr/>
        </p:nvGrpSpPr>
        <p:grpSpPr>
          <a:xfrm rot="0">
            <a:off x="815816" y="7125176"/>
            <a:ext cx="16610648" cy="2071688"/>
            <a:chOff x="0" y="0"/>
            <a:chExt cx="22147530" cy="2762250"/>
          </a:xfrm>
        </p:grpSpPr>
        <p:sp>
          <p:nvSpPr>
            <p:cNvPr name="Freeform 12" id="12"/>
            <p:cNvSpPr/>
            <p:nvPr/>
          </p:nvSpPr>
          <p:spPr>
            <a:xfrm flipH="false" flipV="false" rot="0">
              <a:off x="0" y="0"/>
              <a:ext cx="22147530" cy="2762250"/>
            </a:xfrm>
            <a:custGeom>
              <a:avLst/>
              <a:gdLst/>
              <a:ahLst/>
              <a:cxnLst/>
              <a:rect r="r" b="b" t="t" l="l"/>
              <a:pathLst>
                <a:path h="2762250" w="22147530">
                  <a:moveTo>
                    <a:pt x="0" y="220980"/>
                  </a:moveTo>
                  <a:cubicBezTo>
                    <a:pt x="0" y="98933"/>
                    <a:pt x="98933" y="0"/>
                    <a:pt x="220980" y="0"/>
                  </a:cubicBezTo>
                  <a:lnTo>
                    <a:pt x="21926550" y="0"/>
                  </a:lnTo>
                  <a:cubicBezTo>
                    <a:pt x="22048597" y="0"/>
                    <a:pt x="22147530" y="98933"/>
                    <a:pt x="22147530" y="220980"/>
                  </a:cubicBezTo>
                  <a:lnTo>
                    <a:pt x="22147530" y="2541270"/>
                  </a:lnTo>
                  <a:cubicBezTo>
                    <a:pt x="22147530" y="2663317"/>
                    <a:pt x="22048597" y="2762250"/>
                    <a:pt x="21926550" y="2762250"/>
                  </a:cubicBezTo>
                  <a:lnTo>
                    <a:pt x="220980" y="2762250"/>
                  </a:lnTo>
                  <a:cubicBezTo>
                    <a:pt x="98933" y="2762250"/>
                    <a:pt x="0" y="2663317"/>
                    <a:pt x="0" y="2541270"/>
                  </a:cubicBezTo>
                  <a:close/>
                </a:path>
              </a:pathLst>
            </a:custGeom>
            <a:solidFill>
              <a:srgbClr val="FFFFFF"/>
            </a:solidFill>
            <a:ln w="14288" cap="sq">
              <a:solidFill>
                <a:srgbClr val="000000"/>
              </a:solidFill>
              <a:prstDash val="solid"/>
              <a:miter/>
            </a:ln>
          </p:spPr>
        </p:sp>
      </p:grpSp>
      <p:grpSp>
        <p:nvGrpSpPr>
          <p:cNvPr name="Group 13" id="13"/>
          <p:cNvGrpSpPr/>
          <p:nvPr/>
        </p:nvGrpSpPr>
        <p:grpSpPr>
          <a:xfrm rot="0">
            <a:off x="1165860" y="7269480"/>
            <a:ext cx="15910560" cy="1783080"/>
            <a:chOff x="0" y="0"/>
            <a:chExt cx="21214080" cy="2377440"/>
          </a:xfrm>
        </p:grpSpPr>
        <p:sp>
          <p:nvSpPr>
            <p:cNvPr name="Freeform 14" id="14"/>
            <p:cNvSpPr/>
            <p:nvPr/>
          </p:nvSpPr>
          <p:spPr>
            <a:xfrm flipH="false" flipV="false" rot="0">
              <a:off x="0" y="0"/>
              <a:ext cx="21214080" cy="2377440"/>
            </a:xfrm>
            <a:custGeom>
              <a:avLst/>
              <a:gdLst/>
              <a:ahLst/>
              <a:cxnLst/>
              <a:rect r="r" b="b" t="t" l="l"/>
              <a:pathLst>
                <a:path h="2377440" w="21214080">
                  <a:moveTo>
                    <a:pt x="0" y="0"/>
                  </a:moveTo>
                  <a:lnTo>
                    <a:pt x="21214080" y="0"/>
                  </a:lnTo>
                  <a:lnTo>
                    <a:pt x="21214080" y="2377440"/>
                  </a:lnTo>
                  <a:lnTo>
                    <a:pt x="0" y="2377440"/>
                  </a:lnTo>
                  <a:close/>
                </a:path>
              </a:pathLst>
            </a:custGeom>
            <a:blipFill>
              <a:blip r:embed="rId3">
                <a:alphaModFix amt="0"/>
              </a:blip>
              <a:stretch>
                <a:fillRect l="0" t="-123866" r="0" b="-123866"/>
              </a:stretch>
            </a:blipFill>
          </p:spPr>
        </p:sp>
        <p:sp>
          <p:nvSpPr>
            <p:cNvPr name="TextBox 15" id="15"/>
            <p:cNvSpPr txBox="true"/>
            <p:nvPr/>
          </p:nvSpPr>
          <p:spPr>
            <a:xfrm>
              <a:off x="0" y="0"/>
              <a:ext cx="21214080" cy="2377440"/>
            </a:xfrm>
            <a:prstGeom prst="rect">
              <a:avLst/>
            </a:prstGeom>
          </p:spPr>
          <p:txBody>
            <a:bodyPr anchor="ctr" rtlCol="false" tIns="0" lIns="0" bIns="0" rIns="0"/>
            <a:lstStyle/>
            <a:p>
              <a:pPr algn="l">
                <a:lnSpc>
                  <a:spcPts val="2520"/>
                </a:lnSpc>
              </a:pPr>
              <a:r>
                <a:rPr lang="en-US" sz="2100">
                  <a:solidFill>
                    <a:srgbClr val="000000"/>
                  </a:solidFill>
                  <a:latin typeface="Helvetica World"/>
                  <a:ea typeface="Helvetica World"/>
                  <a:cs typeface="Helvetica World"/>
                  <a:sym typeface="Helvetica World"/>
                </a:rPr>
                <a:t>Pembagian fit–validasi: StratifiedGroupKFold (5 fold, seed 42) dengan memperhatikan kelompok gambar identik. Audit: lima kelompok gambar identik (hash gambar/piksel); dua kelompok melintasi train–test resmi. Duplikat near-duplicate (pemotongan, resolusi, kompresi ulang) belum diperiksa.</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16</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A03</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DAFTAR LENGKAP</a:t>
            </a:r>
          </a:p>
          <a:p>
            <a:pPr algn="l">
              <a:lnSpc>
                <a:spcPts val="4788"/>
              </a:lnSpc>
            </a:pPr>
            <a:r>
              <a:rPr lang="en-US" sz="4200" i="true">
                <a:solidFill>
                  <a:srgbClr val="000000"/>
                </a:solidFill>
                <a:latin typeface="Noto Serif Italics"/>
                <a:ea typeface="Noto Serif Italics"/>
                <a:cs typeface="Noto Serif Italics"/>
                <a:sym typeface="Noto Serif Italics"/>
              </a:rPr>
              <a:t>Konfigurasi Eksperimen.</a:t>
            </a:r>
          </a:p>
        </p:txBody>
      </p:sp>
      <p:graphicFrame>
        <p:nvGraphicFramePr>
          <p:cNvPr name="Table 9" id="9"/>
          <p:cNvGraphicFramePr>
            <a:graphicFrameLocks noGrp="true"/>
          </p:cNvGraphicFramePr>
          <p:nvPr/>
        </p:nvGraphicFramePr>
        <p:xfrm>
          <a:off x="822960" y="3154680"/>
          <a:ext cx="16554450" cy="5657850"/>
        </p:xfrm>
        <a:graphic>
          <a:graphicData uri="http://schemas.openxmlformats.org/drawingml/2006/table">
            <a:tbl>
              <a:tblPr/>
              <a:tblGrid>
                <a:gridCol w="1915391"/>
                <a:gridCol w="4788477"/>
                <a:gridCol w="5198918"/>
                <a:gridCol w="4651664"/>
              </a:tblGrid>
              <a:tr h="628650">
                <a:tc>
                  <a:txBody>
                    <a:bodyPr anchor="t" rtlCol="false"/>
                    <a:lstStyle/>
                    <a:p>
                      <a:pPr algn="l">
                        <a:lnSpc>
                          <a:spcPts val="2520"/>
                        </a:lnSpc>
                        <a:defRPr/>
                      </a:pPr>
                      <a:r>
                        <a:rPr lang="en-US" sz="2100" b="true">
                          <a:solidFill>
                            <a:srgbClr val="F5582E"/>
                          </a:solidFill>
                          <a:latin typeface="Helvetica World Bold"/>
                          <a:ea typeface="Helvetica World Bold"/>
                          <a:cs typeface="Helvetica World Bold"/>
                          <a:sym typeface="Helvetica World Bold"/>
                        </a:rPr>
                        <a:t>ID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b="true">
                          <a:solidFill>
                            <a:srgbClr val="F5582E"/>
                          </a:solidFill>
                          <a:latin typeface="Helvetica World Bold"/>
                          <a:ea typeface="Helvetica World Bold"/>
                          <a:cs typeface="Helvetica World Bold"/>
                          <a:sym typeface="Helvetica World Bold"/>
                        </a:rPr>
                        <a:t>Model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b="true">
                          <a:solidFill>
                            <a:srgbClr val="F5582E"/>
                          </a:solidFill>
                          <a:latin typeface="Helvetica World Bold"/>
                          <a:ea typeface="Helvetica World Bold"/>
                          <a:cs typeface="Helvetica World Bold"/>
                          <a:sym typeface="Helvetica World Bold"/>
                        </a:rPr>
                        <a:t>Pendekatan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b="true">
                          <a:solidFill>
                            <a:srgbClr val="F5582E"/>
                          </a:solidFill>
                          <a:latin typeface="Helvetica World Bold"/>
                          <a:ea typeface="Helvetica World Bold"/>
                          <a:cs typeface="Helvetica World Bold"/>
                          <a:sym typeface="Helvetica World Bold"/>
                        </a:rPr>
                        <a:t>Tugas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28650">
                <a:tc>
                  <a:txBody>
                    <a:bodyPr anchor="t" rtlCol="false"/>
                    <a:lstStyle/>
                    <a:p>
                      <a:pPr algn="l">
                        <a:lnSpc>
                          <a:spcPts val="2520"/>
                        </a:lnSpc>
                        <a:defRPr/>
                      </a:pPr>
                      <a:r>
                        <a:rPr lang="en-US" sz="2100" b="true">
                          <a:solidFill>
                            <a:srgbClr val="000000"/>
                          </a:solidFill>
                          <a:latin typeface="Helvetica World Bold"/>
                          <a:ea typeface="Helvetica World Bold"/>
                          <a:cs typeface="Helvetica World Bold"/>
                          <a:sym typeface="Helvetica World Bold"/>
                        </a:rPr>
                        <a:t>E005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ViT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Image-only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Hatefulness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28650">
                <a:tc>
                  <a:txBody>
                    <a:bodyPr anchor="t" rtlCol="false"/>
                    <a:lstStyle/>
                    <a:p>
                      <a:pPr algn="l">
                        <a:lnSpc>
                          <a:spcPts val="2520"/>
                        </a:lnSpc>
                        <a:defRPr/>
                      </a:pPr>
                      <a:r>
                        <a:rPr lang="en-US" sz="2100" b="true">
                          <a:solidFill>
                            <a:srgbClr val="000000"/>
                          </a:solidFill>
                          <a:latin typeface="Helvetica World Bold"/>
                          <a:ea typeface="Helvetica World Bold"/>
                          <a:cs typeface="Helvetica World Bold"/>
                          <a:sym typeface="Helvetica World Bold"/>
                        </a:rPr>
                        <a:t>E006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ViT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Image-only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Appropriateness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28650">
                <a:tc>
                  <a:txBody>
                    <a:bodyPr anchor="t" rtlCol="false"/>
                    <a:lstStyle/>
                    <a:p>
                      <a:pPr algn="l">
                        <a:lnSpc>
                          <a:spcPts val="2520"/>
                        </a:lnSpc>
                        <a:defRPr/>
                      </a:pPr>
                      <a:r>
                        <a:rPr lang="en-US" sz="2100" b="true">
                          <a:solidFill>
                            <a:srgbClr val="000000"/>
                          </a:solidFill>
                          <a:latin typeface="Helvetica World Bold"/>
                          <a:ea typeface="Helvetica World Bold"/>
                          <a:cs typeface="Helvetica World Bold"/>
                          <a:sym typeface="Helvetica World Bold"/>
                        </a:rPr>
                        <a:t>E041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IndoBERTweet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Text-only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Hatefulness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28650">
                <a:tc>
                  <a:txBody>
                    <a:bodyPr anchor="t" rtlCol="false"/>
                    <a:lstStyle/>
                    <a:p>
                      <a:pPr algn="l">
                        <a:lnSpc>
                          <a:spcPts val="2520"/>
                        </a:lnSpc>
                        <a:defRPr/>
                      </a:pPr>
                      <a:r>
                        <a:rPr lang="en-US" sz="2100" b="true">
                          <a:solidFill>
                            <a:srgbClr val="000000"/>
                          </a:solidFill>
                          <a:latin typeface="Helvetica World Bold"/>
                          <a:ea typeface="Helvetica World Bold"/>
                          <a:cs typeface="Helvetica World Bold"/>
                          <a:sym typeface="Helvetica World Bold"/>
                        </a:rPr>
                        <a:t>E042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IndoBERTweet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Text-only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Appropriateness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28650">
                <a:tc>
                  <a:txBody>
                    <a:bodyPr anchor="t" rtlCol="false"/>
                    <a:lstStyle/>
                    <a:p>
                      <a:pPr algn="l">
                        <a:lnSpc>
                          <a:spcPts val="2520"/>
                        </a:lnSpc>
                        <a:defRPr/>
                      </a:pPr>
                      <a:r>
                        <a:rPr lang="en-US" sz="2100" b="true">
                          <a:solidFill>
                            <a:srgbClr val="000000"/>
                          </a:solidFill>
                          <a:latin typeface="Helvetica World Bold"/>
                          <a:ea typeface="Helvetica World Bold"/>
                          <a:cs typeface="Helvetica World Bold"/>
                          <a:sym typeface="Helvetica World Bold"/>
                        </a:rPr>
                        <a:t>E059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IndoBERTweet + ViT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Multimodal fusion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Hatefulness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28650">
                <a:tc>
                  <a:txBody>
                    <a:bodyPr anchor="t" rtlCol="false"/>
                    <a:lstStyle/>
                    <a:p>
                      <a:pPr algn="l">
                        <a:lnSpc>
                          <a:spcPts val="2520"/>
                        </a:lnSpc>
                        <a:defRPr/>
                      </a:pPr>
                      <a:r>
                        <a:rPr lang="en-US" sz="2100" b="true">
                          <a:solidFill>
                            <a:srgbClr val="000000"/>
                          </a:solidFill>
                          <a:latin typeface="Helvetica World Bold"/>
                          <a:ea typeface="Helvetica World Bold"/>
                          <a:cs typeface="Helvetica World Bold"/>
                          <a:sym typeface="Helvetica World Bold"/>
                        </a:rPr>
                        <a:t>E060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IndoBERTweet + ViT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Multimodal fusion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Appropriateness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28650">
                <a:tc>
                  <a:txBody>
                    <a:bodyPr anchor="t" rtlCol="false"/>
                    <a:lstStyle/>
                    <a:p>
                      <a:pPr algn="l">
                        <a:lnSpc>
                          <a:spcPts val="2520"/>
                        </a:lnSpc>
                        <a:defRPr/>
                      </a:pPr>
                      <a:r>
                        <a:rPr lang="en-US" sz="2100" b="true">
                          <a:solidFill>
                            <a:srgbClr val="000000"/>
                          </a:solidFill>
                          <a:latin typeface="Helvetica World Bold"/>
                          <a:ea typeface="Helvetica World Bold"/>
                          <a:cs typeface="Helvetica World Bold"/>
                          <a:sym typeface="Helvetica World Bold"/>
                        </a:rPr>
                        <a:t>E101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IndoBERTweet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Multitask text-only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Kedua tugas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28650">
                <a:tc>
                  <a:txBody>
                    <a:bodyPr anchor="t" rtlCol="false"/>
                    <a:lstStyle/>
                    <a:p>
                      <a:pPr algn="l">
                        <a:lnSpc>
                          <a:spcPts val="2520"/>
                        </a:lnSpc>
                        <a:defRPr/>
                      </a:pPr>
                      <a:r>
                        <a:rPr lang="en-US" sz="2100" b="true">
                          <a:solidFill>
                            <a:srgbClr val="000000"/>
                          </a:solidFill>
                          <a:latin typeface="Helvetica World Bold"/>
                          <a:ea typeface="Helvetica World Bold"/>
                          <a:cs typeface="Helvetica World Bold"/>
                          <a:sym typeface="Helvetica World Bold"/>
                        </a:rPr>
                        <a:t>E110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IndoBERTweet + ViT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Multitask multimodal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520"/>
                        </a:lnSpc>
                        <a:defRPr/>
                      </a:pPr>
                      <a:r>
                        <a:rPr lang="en-US" sz="2100">
                          <a:solidFill>
                            <a:srgbClr val="000000"/>
                          </a:solidFill>
                          <a:latin typeface="Helvetica World"/>
                          <a:ea typeface="Helvetica World"/>
                          <a:cs typeface="Helvetica World"/>
                          <a:sym typeface="Helvetica World"/>
                        </a:rPr>
                        <a:t>Kedua tugas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17</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A04</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TAHAPAN PRA-PEMROSESAN</a:t>
            </a:r>
          </a:p>
          <a:p>
            <a:pPr algn="l">
              <a:lnSpc>
                <a:spcPts val="4788"/>
              </a:lnSpc>
            </a:pPr>
            <a:r>
              <a:rPr lang="en-US" sz="4200" i="true">
                <a:solidFill>
                  <a:srgbClr val="000000"/>
                </a:solidFill>
                <a:latin typeface="Noto Serif Italics"/>
                <a:ea typeface="Noto Serif Italics"/>
                <a:cs typeface="Noto Serif Italics"/>
                <a:sym typeface="Noto Serif Italics"/>
              </a:rPr>
              <a:t>dan Arsitektur Model.</a:t>
            </a:r>
          </a:p>
        </p:txBody>
      </p:sp>
      <p:grpSp>
        <p:nvGrpSpPr>
          <p:cNvPr name="Group 9" id="9"/>
          <p:cNvGrpSpPr/>
          <p:nvPr/>
        </p:nvGrpSpPr>
        <p:grpSpPr>
          <a:xfrm rot="0">
            <a:off x="815816" y="3147536"/>
            <a:ext cx="5363528" cy="6049328"/>
            <a:chOff x="0" y="0"/>
            <a:chExt cx="7151370" cy="8065770"/>
          </a:xfrm>
        </p:grpSpPr>
        <p:sp>
          <p:nvSpPr>
            <p:cNvPr name="Freeform 10" id="10"/>
            <p:cNvSpPr/>
            <p:nvPr/>
          </p:nvSpPr>
          <p:spPr>
            <a:xfrm flipH="false" flipV="false" rot="0">
              <a:off x="0" y="0"/>
              <a:ext cx="7151370" cy="8065770"/>
            </a:xfrm>
            <a:custGeom>
              <a:avLst/>
              <a:gdLst/>
              <a:ahLst/>
              <a:cxnLst/>
              <a:rect r="r" b="b" t="t" l="l"/>
              <a:pathLst>
                <a:path h="8065770" w="7151370">
                  <a:moveTo>
                    <a:pt x="0" y="220091"/>
                  </a:moveTo>
                  <a:cubicBezTo>
                    <a:pt x="0" y="98552"/>
                    <a:pt x="98552" y="0"/>
                    <a:pt x="220091" y="0"/>
                  </a:cubicBezTo>
                  <a:lnTo>
                    <a:pt x="6931279" y="0"/>
                  </a:lnTo>
                  <a:cubicBezTo>
                    <a:pt x="7052818" y="0"/>
                    <a:pt x="7151370" y="98552"/>
                    <a:pt x="7151370" y="220091"/>
                  </a:cubicBezTo>
                  <a:lnTo>
                    <a:pt x="7151370" y="7845679"/>
                  </a:lnTo>
                  <a:cubicBezTo>
                    <a:pt x="7151370" y="7967218"/>
                    <a:pt x="7052818" y="8065770"/>
                    <a:pt x="6931279" y="8065770"/>
                  </a:cubicBezTo>
                  <a:lnTo>
                    <a:pt x="220091" y="8065770"/>
                  </a:lnTo>
                  <a:cubicBezTo>
                    <a:pt x="98552" y="8065770"/>
                    <a:pt x="0" y="7967218"/>
                    <a:pt x="0" y="7845679"/>
                  </a:cubicBezTo>
                  <a:close/>
                </a:path>
              </a:pathLst>
            </a:custGeom>
            <a:solidFill>
              <a:srgbClr val="FFFFFF"/>
            </a:solidFill>
            <a:ln w="14288" cap="sq">
              <a:solidFill>
                <a:srgbClr val="000000"/>
              </a:solidFill>
              <a:prstDash val="solid"/>
              <a:miter/>
            </a:ln>
          </p:spPr>
        </p:sp>
      </p:grpSp>
      <p:sp>
        <p:nvSpPr>
          <p:cNvPr name="TextBox 11" id="11"/>
          <p:cNvSpPr txBox="true"/>
          <p:nvPr/>
        </p:nvSpPr>
        <p:spPr>
          <a:xfrm rot="0">
            <a:off x="1165860" y="3771900"/>
            <a:ext cx="46634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PRA-PEMROSESAN</a:t>
            </a:r>
          </a:p>
        </p:txBody>
      </p:sp>
      <p:sp>
        <p:nvSpPr>
          <p:cNvPr name="TextBox 12" id="12"/>
          <p:cNvSpPr txBox="true"/>
          <p:nvPr/>
        </p:nvSpPr>
        <p:spPr>
          <a:xfrm rot="0">
            <a:off x="1165860" y="4389120"/>
            <a:ext cx="4663440" cy="4526280"/>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Teks: topik, caption, OCR digabung dengan [SEP]</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Tokenizer IndoBERTweet, maks. 256 token</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Gambar: RGB, 224×224, ViT (vit-base-patch32-224-in21k)</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Label: 0/1 per tugas</a:t>
            </a:r>
          </a:p>
        </p:txBody>
      </p:sp>
      <p:grpSp>
        <p:nvGrpSpPr>
          <p:cNvPr name="Group 13" id="13"/>
          <p:cNvGrpSpPr/>
          <p:nvPr/>
        </p:nvGrpSpPr>
        <p:grpSpPr>
          <a:xfrm rot="0">
            <a:off x="6439376" y="3147536"/>
            <a:ext cx="5363528" cy="6049328"/>
            <a:chOff x="0" y="0"/>
            <a:chExt cx="7151370" cy="8065770"/>
          </a:xfrm>
        </p:grpSpPr>
        <p:sp>
          <p:nvSpPr>
            <p:cNvPr name="Freeform 14" id="14"/>
            <p:cNvSpPr/>
            <p:nvPr/>
          </p:nvSpPr>
          <p:spPr>
            <a:xfrm flipH="false" flipV="false" rot="0">
              <a:off x="0" y="0"/>
              <a:ext cx="7151370" cy="8065770"/>
            </a:xfrm>
            <a:custGeom>
              <a:avLst/>
              <a:gdLst/>
              <a:ahLst/>
              <a:cxnLst/>
              <a:rect r="r" b="b" t="t" l="l"/>
              <a:pathLst>
                <a:path h="8065770" w="7151370">
                  <a:moveTo>
                    <a:pt x="0" y="220091"/>
                  </a:moveTo>
                  <a:cubicBezTo>
                    <a:pt x="0" y="98552"/>
                    <a:pt x="98552" y="0"/>
                    <a:pt x="220091" y="0"/>
                  </a:cubicBezTo>
                  <a:lnTo>
                    <a:pt x="6931279" y="0"/>
                  </a:lnTo>
                  <a:cubicBezTo>
                    <a:pt x="7052818" y="0"/>
                    <a:pt x="7151370" y="98552"/>
                    <a:pt x="7151370" y="220091"/>
                  </a:cubicBezTo>
                  <a:lnTo>
                    <a:pt x="7151370" y="7845679"/>
                  </a:lnTo>
                  <a:cubicBezTo>
                    <a:pt x="7151370" y="7967218"/>
                    <a:pt x="7052818" y="8065770"/>
                    <a:pt x="6931279" y="8065770"/>
                  </a:cubicBezTo>
                  <a:lnTo>
                    <a:pt x="220091" y="8065770"/>
                  </a:lnTo>
                  <a:cubicBezTo>
                    <a:pt x="98552" y="8065770"/>
                    <a:pt x="0" y="7967218"/>
                    <a:pt x="0" y="7845679"/>
                  </a:cubicBezTo>
                  <a:close/>
                </a:path>
              </a:pathLst>
            </a:custGeom>
            <a:solidFill>
              <a:srgbClr val="FFFFFF"/>
            </a:solidFill>
            <a:ln w="14288" cap="sq">
              <a:solidFill>
                <a:srgbClr val="000000"/>
              </a:solidFill>
              <a:prstDash val="solid"/>
              <a:miter/>
            </a:ln>
          </p:spPr>
        </p:sp>
      </p:grpSp>
      <p:grpSp>
        <p:nvGrpSpPr>
          <p:cNvPr name="Group 15" id="15"/>
          <p:cNvGrpSpPr/>
          <p:nvPr/>
        </p:nvGrpSpPr>
        <p:grpSpPr>
          <a:xfrm rot="0">
            <a:off x="6439376" y="3147536"/>
            <a:ext cx="5363528" cy="453200"/>
            <a:chOff x="0" y="0"/>
            <a:chExt cx="7151370" cy="604266"/>
          </a:xfrm>
        </p:grpSpPr>
        <p:sp>
          <p:nvSpPr>
            <p:cNvPr name="Freeform 16" id="16"/>
            <p:cNvSpPr/>
            <p:nvPr/>
          </p:nvSpPr>
          <p:spPr>
            <a:xfrm flipH="false" flipV="false" rot="0">
              <a:off x="0" y="0"/>
              <a:ext cx="7151370" cy="604266"/>
            </a:xfrm>
            <a:custGeom>
              <a:avLst/>
              <a:gdLst/>
              <a:ahLst/>
              <a:cxnLst/>
              <a:rect r="r" b="b" t="t" l="l"/>
              <a:pathLst>
                <a:path h="604266" w="7151370">
                  <a:moveTo>
                    <a:pt x="0" y="226568"/>
                  </a:moveTo>
                  <a:cubicBezTo>
                    <a:pt x="0" y="101473"/>
                    <a:pt x="101473" y="0"/>
                    <a:pt x="226568" y="0"/>
                  </a:cubicBezTo>
                  <a:lnTo>
                    <a:pt x="6924802" y="0"/>
                  </a:lnTo>
                  <a:cubicBezTo>
                    <a:pt x="7049897" y="0"/>
                    <a:pt x="7151370" y="101473"/>
                    <a:pt x="7151370" y="226568"/>
                  </a:cubicBezTo>
                  <a:lnTo>
                    <a:pt x="7151370" y="377698"/>
                  </a:lnTo>
                  <a:cubicBezTo>
                    <a:pt x="7151370" y="502793"/>
                    <a:pt x="7049897" y="604266"/>
                    <a:pt x="69248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17" id="17"/>
          <p:cNvGrpSpPr/>
          <p:nvPr/>
        </p:nvGrpSpPr>
        <p:grpSpPr>
          <a:xfrm rot="0">
            <a:off x="6450711" y="3364611"/>
            <a:ext cx="5340858" cy="238506"/>
            <a:chOff x="0" y="0"/>
            <a:chExt cx="7121144" cy="318008"/>
          </a:xfrm>
        </p:grpSpPr>
        <p:sp>
          <p:nvSpPr>
            <p:cNvPr name="Freeform 18" id="18"/>
            <p:cNvSpPr/>
            <p:nvPr/>
          </p:nvSpPr>
          <p:spPr>
            <a:xfrm flipH="false" flipV="false" rot="0">
              <a:off x="0" y="0"/>
              <a:ext cx="7121144" cy="318008"/>
            </a:xfrm>
            <a:custGeom>
              <a:avLst/>
              <a:gdLst/>
              <a:ahLst/>
              <a:cxnLst/>
              <a:rect r="r" b="b" t="t" l="l"/>
              <a:pathLst>
                <a:path h="318008" w="7121144">
                  <a:moveTo>
                    <a:pt x="0" y="0"/>
                  </a:moveTo>
                  <a:lnTo>
                    <a:pt x="7121144" y="0"/>
                  </a:lnTo>
                  <a:lnTo>
                    <a:pt x="7121144" y="318008"/>
                  </a:lnTo>
                  <a:lnTo>
                    <a:pt x="0" y="318008"/>
                  </a:lnTo>
                  <a:close/>
                </a:path>
              </a:pathLst>
            </a:custGeom>
            <a:solidFill>
              <a:srgbClr val="F5582E"/>
            </a:solidFill>
            <a:ln w="19050" cap="sq">
              <a:solidFill>
                <a:srgbClr val="F5582E"/>
              </a:solidFill>
              <a:prstDash val="solid"/>
              <a:miter/>
            </a:ln>
          </p:spPr>
        </p:sp>
      </p:grpSp>
      <p:sp>
        <p:nvSpPr>
          <p:cNvPr name="AutoShape 19" id="19"/>
          <p:cNvSpPr/>
          <p:nvPr/>
        </p:nvSpPr>
        <p:spPr>
          <a:xfrm rot="9180">
            <a:off x="6439367" y="3588829"/>
            <a:ext cx="5363547" cy="0"/>
          </a:xfrm>
          <a:prstGeom prst="line">
            <a:avLst/>
          </a:prstGeom>
          <a:ln cap="rnd" w="9525">
            <a:solidFill>
              <a:srgbClr val="000000"/>
            </a:solidFill>
            <a:prstDash val="solid"/>
            <a:headEnd type="none" len="sm" w="sm"/>
            <a:tailEnd type="none" len="sm" w="sm"/>
          </a:ln>
        </p:spPr>
      </p:sp>
      <p:sp>
        <p:nvSpPr>
          <p:cNvPr name="TextBox 20" id="20"/>
          <p:cNvSpPr txBox="true"/>
          <p:nvPr/>
        </p:nvSpPr>
        <p:spPr>
          <a:xfrm rot="0">
            <a:off x="6789420" y="3771900"/>
            <a:ext cx="46634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ARSITEKTUR</a:t>
            </a:r>
          </a:p>
        </p:txBody>
      </p:sp>
      <p:sp>
        <p:nvSpPr>
          <p:cNvPr name="TextBox 21" id="21"/>
          <p:cNvSpPr txBox="true"/>
          <p:nvPr/>
        </p:nvSpPr>
        <p:spPr>
          <a:xfrm rot="0">
            <a:off x="6789420" y="4389120"/>
            <a:ext cx="4663440" cy="4526280"/>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IndoBERTweet (teks) dan ViT (citra)</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Fusi: feature concatenation</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Fine-tuning encoder + lapisan klasifikasi</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Loss: cross-entropy</a:t>
            </a:r>
          </a:p>
        </p:txBody>
      </p:sp>
      <p:grpSp>
        <p:nvGrpSpPr>
          <p:cNvPr name="Group 22" id="22"/>
          <p:cNvGrpSpPr/>
          <p:nvPr/>
        </p:nvGrpSpPr>
        <p:grpSpPr>
          <a:xfrm rot="0">
            <a:off x="12062936" y="3147536"/>
            <a:ext cx="5363528" cy="6049328"/>
            <a:chOff x="0" y="0"/>
            <a:chExt cx="7151370" cy="8065770"/>
          </a:xfrm>
        </p:grpSpPr>
        <p:sp>
          <p:nvSpPr>
            <p:cNvPr name="Freeform 23" id="23"/>
            <p:cNvSpPr/>
            <p:nvPr/>
          </p:nvSpPr>
          <p:spPr>
            <a:xfrm flipH="false" flipV="false" rot="0">
              <a:off x="0" y="0"/>
              <a:ext cx="7151370" cy="8065770"/>
            </a:xfrm>
            <a:custGeom>
              <a:avLst/>
              <a:gdLst/>
              <a:ahLst/>
              <a:cxnLst/>
              <a:rect r="r" b="b" t="t" l="l"/>
              <a:pathLst>
                <a:path h="8065770" w="7151370">
                  <a:moveTo>
                    <a:pt x="0" y="220091"/>
                  </a:moveTo>
                  <a:cubicBezTo>
                    <a:pt x="0" y="98552"/>
                    <a:pt x="98552" y="0"/>
                    <a:pt x="220091" y="0"/>
                  </a:cubicBezTo>
                  <a:lnTo>
                    <a:pt x="6931279" y="0"/>
                  </a:lnTo>
                  <a:cubicBezTo>
                    <a:pt x="7052818" y="0"/>
                    <a:pt x="7151370" y="98552"/>
                    <a:pt x="7151370" y="220091"/>
                  </a:cubicBezTo>
                  <a:lnTo>
                    <a:pt x="7151370" y="7845679"/>
                  </a:lnTo>
                  <a:cubicBezTo>
                    <a:pt x="7151370" y="7967218"/>
                    <a:pt x="7052818" y="8065770"/>
                    <a:pt x="6931279" y="8065770"/>
                  </a:cubicBezTo>
                  <a:lnTo>
                    <a:pt x="220091" y="8065770"/>
                  </a:lnTo>
                  <a:cubicBezTo>
                    <a:pt x="98552" y="8065770"/>
                    <a:pt x="0" y="7967218"/>
                    <a:pt x="0" y="7845679"/>
                  </a:cubicBezTo>
                  <a:close/>
                </a:path>
              </a:pathLst>
            </a:custGeom>
            <a:solidFill>
              <a:srgbClr val="FFFFFF"/>
            </a:solidFill>
            <a:ln w="14288" cap="sq">
              <a:solidFill>
                <a:srgbClr val="000000"/>
              </a:solidFill>
              <a:prstDash val="solid"/>
              <a:miter/>
            </a:ln>
          </p:spPr>
        </p:sp>
      </p:grpSp>
      <p:sp>
        <p:nvSpPr>
          <p:cNvPr name="TextBox 24" id="24"/>
          <p:cNvSpPr txBox="true"/>
          <p:nvPr/>
        </p:nvSpPr>
        <p:spPr>
          <a:xfrm rot="0">
            <a:off x="12412980" y="3771900"/>
            <a:ext cx="46634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MULTITASK</a:t>
            </a:r>
          </a:p>
        </p:txBody>
      </p:sp>
      <p:sp>
        <p:nvSpPr>
          <p:cNvPr name="TextBox 25" id="25"/>
          <p:cNvSpPr txBox="true"/>
          <p:nvPr/>
        </p:nvSpPr>
        <p:spPr>
          <a:xfrm rot="0">
            <a:off x="12412980" y="4389120"/>
            <a:ext cx="4663440" cy="4526280"/>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Representasi bersama</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Dua classification head</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Bobot loss 0,5 per tugas</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Constrained prediction (konsistensi label)</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18</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A05</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KONFIGURASI PELATIHAN</a:t>
            </a:r>
          </a:p>
          <a:p>
            <a:pPr algn="l">
              <a:lnSpc>
                <a:spcPts val="4788"/>
              </a:lnSpc>
            </a:pPr>
            <a:r>
              <a:rPr lang="en-US" sz="4200" i="true">
                <a:solidFill>
                  <a:srgbClr val="000000"/>
                </a:solidFill>
                <a:latin typeface="Noto Serif Italics"/>
                <a:ea typeface="Noto Serif Italics"/>
                <a:cs typeface="Noto Serif Italics"/>
                <a:sym typeface="Noto Serif Italics"/>
              </a:rPr>
              <a:t>dan Hyperparameter.</a:t>
            </a:r>
          </a:p>
        </p:txBody>
      </p:sp>
      <p:graphicFrame>
        <p:nvGraphicFramePr>
          <p:cNvPr name="Table 9" id="9"/>
          <p:cNvGraphicFramePr>
            <a:graphicFrameLocks noGrp="true"/>
          </p:cNvGraphicFramePr>
          <p:nvPr/>
        </p:nvGraphicFramePr>
        <p:xfrm>
          <a:off x="822960" y="3154680"/>
          <a:ext cx="8077200" cy="4953397"/>
        </p:xfrm>
        <a:graphic>
          <a:graphicData uri="http://schemas.openxmlformats.org/drawingml/2006/table">
            <a:tbl>
              <a:tblPr/>
              <a:tblGrid>
                <a:gridCol w="4380854"/>
                <a:gridCol w="3696346"/>
              </a:tblGrid>
              <a:tr h="609594">
                <a:tc>
                  <a:txBody>
                    <a:bodyPr anchor="t" rtlCol="false"/>
                    <a:lstStyle/>
                    <a:p>
                      <a:pPr algn="l">
                        <a:lnSpc>
                          <a:spcPts val="2340"/>
                        </a:lnSpc>
                        <a:defRPr/>
                      </a:pPr>
                      <a:r>
                        <a:rPr lang="en-US" sz="1950" b="true">
                          <a:solidFill>
                            <a:srgbClr val="F5582E"/>
                          </a:solidFill>
                          <a:latin typeface="Helvetica World Bold"/>
                          <a:ea typeface="Helvetica World Bold"/>
                          <a:cs typeface="Helvetica World Bold"/>
                          <a:sym typeface="Helvetica World Bold"/>
                        </a:rPr>
                        <a:t>Hyperparameter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Nilai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594">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Random seed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594">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Maximum epoch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8624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Optimizer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AdamW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594">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Learning rate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2 × 10⁻⁵</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594">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Weight decay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594">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Dropout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594">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Maximum token length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256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bl>
          </a:graphicData>
        </a:graphic>
      </p:graphicFrame>
      <p:graphicFrame>
        <p:nvGraphicFramePr>
          <p:cNvPr name="Table 10" id="10"/>
          <p:cNvGraphicFramePr>
            <a:graphicFrameLocks noGrp="true"/>
          </p:cNvGraphicFramePr>
          <p:nvPr/>
        </p:nvGraphicFramePr>
        <p:xfrm>
          <a:off x="9326880" y="3154680"/>
          <a:ext cx="8077200" cy="4876800"/>
        </p:xfrm>
        <a:graphic>
          <a:graphicData uri="http://schemas.openxmlformats.org/drawingml/2006/table">
            <a:tbl>
              <a:tblPr/>
              <a:tblGrid>
                <a:gridCol w="4107051"/>
                <a:gridCol w="3970149"/>
              </a:tblGrid>
              <a:tr h="609600">
                <a:tc>
                  <a:txBody>
                    <a:bodyPr anchor="t" rtlCol="false"/>
                    <a:lstStyle/>
                    <a:p>
                      <a:pPr algn="l">
                        <a:lnSpc>
                          <a:spcPts val="2340"/>
                        </a:lnSpc>
                        <a:defRPr/>
                      </a:pPr>
                      <a:r>
                        <a:rPr lang="en-US" sz="1950" b="true">
                          <a:solidFill>
                            <a:srgbClr val="F5582E"/>
                          </a:solidFill>
                          <a:latin typeface="Helvetica World Bold"/>
                          <a:ea typeface="Helvetica World Bold"/>
                          <a:cs typeface="Helvetica World Bold"/>
                          <a:sym typeface="Helvetica World Bold"/>
                        </a:rPr>
                        <a:t>Hyperparameter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Nilai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Precision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FP32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Scheduler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Linear, tanpa warmup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Early stopping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Patience 2 epoch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Gradient clipping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Norma maks. 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Physical batch · akumulasi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1 · 8 atau 2 · 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Effective batch size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Sekitar 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Bobot loss multitask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0,5 per tugas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19</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A06</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PERBANDINGAN LENGKAP</a:t>
            </a:r>
          </a:p>
          <a:p>
            <a:pPr algn="l">
              <a:lnSpc>
                <a:spcPts val="4788"/>
              </a:lnSpc>
            </a:pPr>
            <a:r>
              <a:rPr lang="en-US" sz="4200" i="true">
                <a:solidFill>
                  <a:srgbClr val="000000"/>
                </a:solidFill>
                <a:latin typeface="Noto Serif Italics"/>
                <a:ea typeface="Noto Serif Italics"/>
                <a:cs typeface="Noto Serif Italics"/>
                <a:sym typeface="Noto Serif Italics"/>
              </a:rPr>
              <a:t>dengan Penelitian Acuan.</a:t>
            </a:r>
          </a:p>
        </p:txBody>
      </p:sp>
      <p:graphicFrame>
        <p:nvGraphicFramePr>
          <p:cNvPr name="Table 9" id="9"/>
          <p:cNvGraphicFramePr>
            <a:graphicFrameLocks noGrp="true"/>
          </p:cNvGraphicFramePr>
          <p:nvPr/>
        </p:nvGraphicFramePr>
        <p:xfrm>
          <a:off x="822960" y="2948940"/>
          <a:ext cx="16573500" cy="5867400"/>
        </p:xfrm>
        <a:graphic>
          <a:graphicData uri="http://schemas.openxmlformats.org/drawingml/2006/table">
            <a:tbl>
              <a:tblPr/>
              <a:tblGrid>
                <a:gridCol w="7533409"/>
                <a:gridCol w="2739421"/>
                <a:gridCol w="3150335"/>
                <a:gridCol w="3150335"/>
              </a:tblGrid>
              <a:tr h="533400">
                <a:tc>
                  <a:txBody>
                    <a:bodyPr anchor="t" rtlCol="false"/>
                    <a:lstStyle/>
                    <a:p>
                      <a:pPr algn="l">
                        <a:lnSpc>
                          <a:spcPts val="2340"/>
                        </a:lnSpc>
                        <a:defRPr/>
                      </a:pPr>
                      <a:r>
                        <a:rPr lang="en-US" sz="1950" b="true">
                          <a:solidFill>
                            <a:srgbClr val="F5582E"/>
                          </a:solidFill>
                          <a:latin typeface="Helvetica World Bold"/>
                          <a:ea typeface="Helvetica World Bold"/>
                          <a:cs typeface="Helvetica World Bold"/>
                          <a:sym typeface="Helvetica World Bold"/>
                        </a:rPr>
                        <a:t>ID · Model dan Tugas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Paper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Reproduksi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Selisih (pp)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E005 ViT · Hate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0,6300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0,6408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+1,08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E006 ViT · Inappropriate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0,6300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0,6315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E041 IndoBERTweet · Hate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E042 IndoBERTweet · Inappropriate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0,7880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0,7984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+1,04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E059 Fusi · Hate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0,8200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−1,57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E060 Fusi · Inappropriate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E101 Multitask Teks · Hate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E101 Multitask Teks · Inappropriate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0,7981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E110 Multitask Fusi · Hate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0,8029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E110 Multitask Fusi · Inappropriate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20</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A07</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HASIL EVALUASI LENGKAP</a:t>
            </a:r>
          </a:p>
          <a:p>
            <a:pPr algn="l">
              <a:lnSpc>
                <a:spcPts val="4788"/>
              </a:lnSpc>
            </a:pPr>
            <a:r>
              <a:rPr lang="en-US" sz="4200" i="true">
                <a:solidFill>
                  <a:srgbClr val="000000"/>
                </a:solidFill>
                <a:latin typeface="Noto Serif Italics"/>
                <a:ea typeface="Noto Serif Italics"/>
                <a:cs typeface="Noto Serif Italics"/>
                <a:sym typeface="Noto Serif Italics"/>
              </a:rPr>
              <a:t>pada Data Uji.</a:t>
            </a:r>
          </a:p>
        </p:txBody>
      </p:sp>
      <p:graphicFrame>
        <p:nvGraphicFramePr>
          <p:cNvPr name="Table 9" id="9"/>
          <p:cNvGraphicFramePr>
            <a:graphicFrameLocks noGrp="true"/>
          </p:cNvGraphicFramePr>
          <p:nvPr/>
        </p:nvGraphicFramePr>
        <p:xfrm>
          <a:off x="822960" y="2948940"/>
          <a:ext cx="16554450" cy="5867400"/>
        </p:xfrm>
        <a:graphic>
          <a:graphicData uri="http://schemas.openxmlformats.org/drawingml/2006/table">
            <a:tbl>
              <a:tblPr/>
              <a:tblGrid>
                <a:gridCol w="1641764"/>
                <a:gridCol w="3557155"/>
                <a:gridCol w="3146714"/>
                <a:gridCol w="2873086"/>
                <a:gridCol w="2599459"/>
                <a:gridCol w="2736273"/>
              </a:tblGrid>
              <a:tr h="533400">
                <a:tc>
                  <a:txBody>
                    <a:bodyPr anchor="t" rtlCol="false"/>
                    <a:lstStyle/>
                    <a:p>
                      <a:pPr algn="l">
                        <a:lnSpc>
                          <a:spcPts val="2340"/>
                        </a:lnSpc>
                        <a:defRPr/>
                      </a:pPr>
                      <a:r>
                        <a:rPr lang="en-US" sz="1950" b="true">
                          <a:solidFill>
                            <a:srgbClr val="F5582E"/>
                          </a:solidFill>
                          <a:latin typeface="Helvetica World Bold"/>
                          <a:ea typeface="Helvetica World Bold"/>
                          <a:cs typeface="Helvetica World Bold"/>
                          <a:sym typeface="Helvetica World Bold"/>
                        </a:rPr>
                        <a:t>ID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l">
                        <a:lnSpc>
                          <a:spcPts val="2340"/>
                        </a:lnSpc>
                        <a:defRPr/>
                      </a:pPr>
                      <a:r>
                        <a:rPr lang="en-US" sz="1950" b="true">
                          <a:solidFill>
                            <a:srgbClr val="F5582E"/>
                          </a:solidFill>
                          <a:latin typeface="Helvetica World Bold"/>
                          <a:ea typeface="Helvetica World Bold"/>
                          <a:cs typeface="Helvetica World Bold"/>
                          <a:sym typeface="Helvetica World Bold"/>
                        </a:rPr>
                        <a:t>Tugas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Macro-Precision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Macro-Recall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Macro-F1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Accuracy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Hatefulness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0,6425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0,6395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0,6408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0,6786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E006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Appropriateness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0,6326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0,6308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0,6315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0,6408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E041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Hatefulness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0,8269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Appropriateness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0,7937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0,7984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Hatefulness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0,8239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E060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Appropriateness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E101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Hatefulness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0,7983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0,8269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E101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Appropriateness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0,7955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0,7981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E110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Hatefulness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0,7994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0,8029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0,8239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5334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E110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Appropriateness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0,8159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21</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A08</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CONFUSION MATRIX</a:t>
            </a:r>
          </a:p>
          <a:p>
            <a:pPr algn="l">
              <a:lnSpc>
                <a:spcPts val="4788"/>
              </a:lnSpc>
            </a:pPr>
            <a:r>
              <a:rPr lang="en-US" sz="4200" i="true">
                <a:solidFill>
                  <a:srgbClr val="000000"/>
                </a:solidFill>
                <a:latin typeface="Noto Serif Italics"/>
                <a:ea typeface="Noto Serif Italics"/>
                <a:cs typeface="Noto Serif Italics"/>
                <a:sym typeface="Noto Serif Italics"/>
              </a:rPr>
              <a:t>dan Analisis Kesalahan.</a:t>
            </a:r>
          </a:p>
        </p:txBody>
      </p:sp>
      <p:grpSp>
        <p:nvGrpSpPr>
          <p:cNvPr name="Group 9" id="9"/>
          <p:cNvGrpSpPr/>
          <p:nvPr/>
        </p:nvGrpSpPr>
        <p:grpSpPr>
          <a:xfrm rot="0">
            <a:off x="815816" y="3147536"/>
            <a:ext cx="3991928" cy="4952047"/>
            <a:chOff x="0" y="0"/>
            <a:chExt cx="5322570" cy="6602730"/>
          </a:xfrm>
        </p:grpSpPr>
        <p:sp>
          <p:nvSpPr>
            <p:cNvPr name="Freeform 10" id="10"/>
            <p:cNvSpPr/>
            <p:nvPr/>
          </p:nvSpPr>
          <p:spPr>
            <a:xfrm flipH="false" flipV="false" rot="0">
              <a:off x="0" y="0"/>
              <a:ext cx="5322570" cy="6602730"/>
            </a:xfrm>
            <a:custGeom>
              <a:avLst/>
              <a:gdLst/>
              <a:ahLst/>
              <a:cxnLst/>
              <a:rect r="r" b="b" t="t" l="l"/>
              <a:pathLst>
                <a:path h="6602730" w="5322570">
                  <a:moveTo>
                    <a:pt x="0" y="220218"/>
                  </a:moveTo>
                  <a:cubicBezTo>
                    <a:pt x="0" y="98552"/>
                    <a:pt x="98552" y="0"/>
                    <a:pt x="220218" y="0"/>
                  </a:cubicBezTo>
                  <a:lnTo>
                    <a:pt x="5102352" y="0"/>
                  </a:lnTo>
                  <a:cubicBezTo>
                    <a:pt x="5224018" y="0"/>
                    <a:pt x="5322570" y="98552"/>
                    <a:pt x="5322570" y="220218"/>
                  </a:cubicBezTo>
                  <a:lnTo>
                    <a:pt x="5322570" y="6382512"/>
                  </a:lnTo>
                  <a:cubicBezTo>
                    <a:pt x="5322570" y="6504178"/>
                    <a:pt x="5224018" y="6602730"/>
                    <a:pt x="5102352" y="6602730"/>
                  </a:cubicBezTo>
                  <a:lnTo>
                    <a:pt x="220218" y="6602730"/>
                  </a:lnTo>
                  <a:cubicBezTo>
                    <a:pt x="98552" y="6602730"/>
                    <a:pt x="0" y="6504178"/>
                    <a:pt x="0" y="6382512"/>
                  </a:cubicBezTo>
                  <a:close/>
                </a:path>
              </a:pathLst>
            </a:custGeom>
            <a:solidFill>
              <a:srgbClr val="FFFFFF"/>
            </a:solidFill>
            <a:ln w="14288" cap="sq">
              <a:solidFill>
                <a:srgbClr val="000000"/>
              </a:solidFill>
              <a:prstDash val="solid"/>
              <a:miter/>
            </a:ln>
          </p:spPr>
        </p:sp>
      </p:grpSp>
      <p:sp>
        <p:nvSpPr>
          <p:cNvPr name="TextBox 11" id="11"/>
          <p:cNvSpPr txBox="true"/>
          <p:nvPr/>
        </p:nvSpPr>
        <p:spPr>
          <a:xfrm rot="0">
            <a:off x="1028700" y="3360420"/>
            <a:ext cx="3566160" cy="411480"/>
          </a:xfrm>
          <a:prstGeom prst="rect">
            <a:avLst/>
          </a:prstGeom>
        </p:spPr>
        <p:txBody>
          <a:bodyPr anchor="t" rtlCol="false" tIns="0" lIns="0" bIns="0" rIns="0">
            <a:spAutoFit/>
          </a:bodyPr>
          <a:lstStyle/>
          <a:p>
            <a:pPr algn="l">
              <a:lnSpc>
                <a:spcPts val="2160"/>
              </a:lnSpc>
            </a:pPr>
            <a:r>
              <a:rPr lang="en-US" sz="1800" b="true">
                <a:solidFill>
                  <a:srgbClr val="F5582E"/>
                </a:solidFill>
                <a:latin typeface="Helvetica World Bold"/>
                <a:ea typeface="Helvetica World Bold"/>
                <a:cs typeface="Helvetica World Bold"/>
                <a:sym typeface="Helvetica World Bold"/>
              </a:rPr>
              <a:t>E041 · Hatefulness</a:t>
            </a:r>
          </a:p>
        </p:txBody>
      </p:sp>
      <p:grpSp>
        <p:nvGrpSpPr>
          <p:cNvPr name="Group 12" id="12"/>
          <p:cNvGrpSpPr/>
          <p:nvPr/>
        </p:nvGrpSpPr>
        <p:grpSpPr>
          <a:xfrm rot="0">
            <a:off x="1501616" y="4107656"/>
            <a:ext cx="1454468" cy="1317308"/>
            <a:chOff x="0" y="0"/>
            <a:chExt cx="1939290" cy="1756410"/>
          </a:xfrm>
        </p:grpSpPr>
        <p:sp>
          <p:nvSpPr>
            <p:cNvPr name="Freeform 13" id="13"/>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DE3DA"/>
            </a:solidFill>
            <a:ln w="14288" cap="sq">
              <a:solidFill>
                <a:srgbClr val="000000"/>
              </a:solidFill>
              <a:prstDash val="solid"/>
              <a:miter/>
            </a:ln>
          </p:spPr>
        </p:sp>
      </p:grpSp>
      <p:grpSp>
        <p:nvGrpSpPr>
          <p:cNvPr name="Group 14" id="14"/>
          <p:cNvGrpSpPr/>
          <p:nvPr/>
        </p:nvGrpSpPr>
        <p:grpSpPr>
          <a:xfrm rot="0">
            <a:off x="1508760" y="4114800"/>
            <a:ext cx="1440180" cy="960120"/>
            <a:chOff x="0" y="0"/>
            <a:chExt cx="1920240" cy="1280160"/>
          </a:xfrm>
        </p:grpSpPr>
        <p:sp>
          <p:nvSpPr>
            <p:cNvPr name="Freeform 15" id="15"/>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16" id="16"/>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581</a:t>
              </a:r>
            </a:p>
          </p:txBody>
        </p:sp>
      </p:grpSp>
      <p:sp>
        <p:nvSpPr>
          <p:cNvPr name="TextBox 17" id="17"/>
          <p:cNvSpPr txBox="true"/>
          <p:nvPr/>
        </p:nvSpPr>
        <p:spPr>
          <a:xfrm rot="0">
            <a:off x="1508760" y="49968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TN</a:t>
            </a:r>
          </a:p>
        </p:txBody>
      </p:sp>
      <p:grpSp>
        <p:nvGrpSpPr>
          <p:cNvPr name="Group 18" id="18"/>
          <p:cNvGrpSpPr/>
          <p:nvPr/>
        </p:nvGrpSpPr>
        <p:grpSpPr>
          <a:xfrm rot="0">
            <a:off x="3010376" y="4107656"/>
            <a:ext cx="1454468" cy="1317308"/>
            <a:chOff x="0" y="0"/>
            <a:chExt cx="1939290" cy="1756410"/>
          </a:xfrm>
        </p:grpSpPr>
        <p:sp>
          <p:nvSpPr>
            <p:cNvPr name="Freeform 19" id="19"/>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FFFFF"/>
            </a:solidFill>
            <a:ln w="14288" cap="sq">
              <a:solidFill>
                <a:srgbClr val="000000"/>
              </a:solidFill>
              <a:prstDash val="solid"/>
              <a:miter/>
            </a:ln>
          </p:spPr>
        </p:sp>
      </p:grpSp>
      <p:grpSp>
        <p:nvGrpSpPr>
          <p:cNvPr name="Group 20" id="20"/>
          <p:cNvGrpSpPr/>
          <p:nvPr/>
        </p:nvGrpSpPr>
        <p:grpSpPr>
          <a:xfrm rot="0">
            <a:off x="3017520" y="4114800"/>
            <a:ext cx="1440180" cy="960120"/>
            <a:chOff x="0" y="0"/>
            <a:chExt cx="1920240" cy="1280160"/>
          </a:xfrm>
        </p:grpSpPr>
        <p:sp>
          <p:nvSpPr>
            <p:cNvPr name="Freeform 21" id="21"/>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22" id="22"/>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77</a:t>
              </a:r>
            </a:p>
          </p:txBody>
        </p:sp>
      </p:grpSp>
      <p:sp>
        <p:nvSpPr>
          <p:cNvPr name="TextBox 23" id="23"/>
          <p:cNvSpPr txBox="true"/>
          <p:nvPr/>
        </p:nvSpPr>
        <p:spPr>
          <a:xfrm rot="0">
            <a:off x="3017520" y="49968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FP</a:t>
            </a:r>
          </a:p>
        </p:txBody>
      </p:sp>
      <p:grpSp>
        <p:nvGrpSpPr>
          <p:cNvPr name="Group 24" id="24"/>
          <p:cNvGrpSpPr/>
          <p:nvPr/>
        </p:nvGrpSpPr>
        <p:grpSpPr>
          <a:xfrm rot="0">
            <a:off x="1501616" y="5479256"/>
            <a:ext cx="1454468" cy="1317308"/>
            <a:chOff x="0" y="0"/>
            <a:chExt cx="1939290" cy="1756410"/>
          </a:xfrm>
        </p:grpSpPr>
        <p:sp>
          <p:nvSpPr>
            <p:cNvPr name="Freeform 25" id="25"/>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FFFFF"/>
            </a:solidFill>
            <a:ln w="14288" cap="sq">
              <a:solidFill>
                <a:srgbClr val="000000"/>
              </a:solidFill>
              <a:prstDash val="solid"/>
              <a:miter/>
            </a:ln>
          </p:spPr>
        </p:sp>
      </p:grpSp>
      <p:grpSp>
        <p:nvGrpSpPr>
          <p:cNvPr name="Group 26" id="26"/>
          <p:cNvGrpSpPr/>
          <p:nvPr/>
        </p:nvGrpSpPr>
        <p:grpSpPr>
          <a:xfrm rot="0">
            <a:off x="1508760" y="5486400"/>
            <a:ext cx="1440180" cy="960120"/>
            <a:chOff x="0" y="0"/>
            <a:chExt cx="1920240" cy="1280160"/>
          </a:xfrm>
        </p:grpSpPr>
        <p:sp>
          <p:nvSpPr>
            <p:cNvPr name="Freeform 27" id="27"/>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28" id="28"/>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97</a:t>
              </a:r>
            </a:p>
          </p:txBody>
        </p:sp>
      </p:grpSp>
      <p:sp>
        <p:nvSpPr>
          <p:cNvPr name="TextBox 29" id="29"/>
          <p:cNvSpPr txBox="true"/>
          <p:nvPr/>
        </p:nvSpPr>
        <p:spPr>
          <a:xfrm rot="0">
            <a:off x="1508760" y="63684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FN</a:t>
            </a:r>
          </a:p>
        </p:txBody>
      </p:sp>
      <p:grpSp>
        <p:nvGrpSpPr>
          <p:cNvPr name="Group 30" id="30"/>
          <p:cNvGrpSpPr/>
          <p:nvPr/>
        </p:nvGrpSpPr>
        <p:grpSpPr>
          <a:xfrm rot="0">
            <a:off x="3010376" y="5479256"/>
            <a:ext cx="1454468" cy="1317308"/>
            <a:chOff x="0" y="0"/>
            <a:chExt cx="1939290" cy="1756410"/>
          </a:xfrm>
        </p:grpSpPr>
        <p:sp>
          <p:nvSpPr>
            <p:cNvPr name="Freeform 31" id="31"/>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DE3DA"/>
            </a:solidFill>
            <a:ln w="14288" cap="sq">
              <a:solidFill>
                <a:srgbClr val="000000"/>
              </a:solidFill>
              <a:prstDash val="solid"/>
              <a:miter/>
            </a:ln>
          </p:spPr>
        </p:sp>
      </p:grpSp>
      <p:grpSp>
        <p:nvGrpSpPr>
          <p:cNvPr name="Group 32" id="32"/>
          <p:cNvGrpSpPr/>
          <p:nvPr/>
        </p:nvGrpSpPr>
        <p:grpSpPr>
          <a:xfrm rot="0">
            <a:off x="3017520" y="5486400"/>
            <a:ext cx="1440180" cy="960120"/>
            <a:chOff x="0" y="0"/>
            <a:chExt cx="1920240" cy="1280160"/>
          </a:xfrm>
        </p:grpSpPr>
        <p:sp>
          <p:nvSpPr>
            <p:cNvPr name="Freeform 33" id="33"/>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34" id="34"/>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250</a:t>
              </a:r>
            </a:p>
          </p:txBody>
        </p:sp>
      </p:grpSp>
      <p:sp>
        <p:nvSpPr>
          <p:cNvPr name="TextBox 35" id="35"/>
          <p:cNvSpPr txBox="true"/>
          <p:nvPr/>
        </p:nvSpPr>
        <p:spPr>
          <a:xfrm rot="0">
            <a:off x="3017520" y="63684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TP</a:t>
            </a:r>
          </a:p>
        </p:txBody>
      </p:sp>
      <p:sp>
        <p:nvSpPr>
          <p:cNvPr name="TextBox 36" id="36"/>
          <p:cNvSpPr txBox="true"/>
          <p:nvPr/>
        </p:nvSpPr>
        <p:spPr>
          <a:xfrm rot="0">
            <a:off x="1028700" y="6985635"/>
            <a:ext cx="3566160" cy="832485"/>
          </a:xfrm>
          <a:prstGeom prst="rect">
            <a:avLst/>
          </a:prstGeom>
        </p:spPr>
        <p:txBody>
          <a:bodyPr anchor="t" rtlCol="false" tIns="0" lIns="0" bIns="0" rIns="0">
            <a:spAutoFit/>
          </a:bodyPr>
          <a:lstStyle/>
          <a:p>
            <a:pPr algn="l">
              <a:lnSpc>
                <a:spcPts val="1800"/>
              </a:lnSpc>
            </a:pPr>
            <a:r>
              <a:rPr lang="en-US" sz="1500">
                <a:solidFill>
                  <a:srgbClr val="595959"/>
                </a:solidFill>
                <a:latin typeface="Helvetica World"/>
                <a:ea typeface="Helvetica World"/>
                <a:cs typeface="Helvetica World"/>
                <a:sym typeface="Helvetica World"/>
              </a:rPr>
              <a:t>Baris: label benar · Kolom: prediksi</a:t>
            </a:r>
          </a:p>
        </p:txBody>
      </p:sp>
      <p:grpSp>
        <p:nvGrpSpPr>
          <p:cNvPr name="Group 37" id="37"/>
          <p:cNvGrpSpPr/>
          <p:nvPr/>
        </p:nvGrpSpPr>
        <p:grpSpPr>
          <a:xfrm rot="0">
            <a:off x="5040344" y="3147536"/>
            <a:ext cx="3991928" cy="4952047"/>
            <a:chOff x="0" y="0"/>
            <a:chExt cx="5322570" cy="6602730"/>
          </a:xfrm>
        </p:grpSpPr>
        <p:sp>
          <p:nvSpPr>
            <p:cNvPr name="Freeform 38" id="38"/>
            <p:cNvSpPr/>
            <p:nvPr/>
          </p:nvSpPr>
          <p:spPr>
            <a:xfrm flipH="false" flipV="false" rot="0">
              <a:off x="0" y="0"/>
              <a:ext cx="5322570" cy="6602730"/>
            </a:xfrm>
            <a:custGeom>
              <a:avLst/>
              <a:gdLst/>
              <a:ahLst/>
              <a:cxnLst/>
              <a:rect r="r" b="b" t="t" l="l"/>
              <a:pathLst>
                <a:path h="6602730" w="5322570">
                  <a:moveTo>
                    <a:pt x="0" y="220218"/>
                  </a:moveTo>
                  <a:cubicBezTo>
                    <a:pt x="0" y="98552"/>
                    <a:pt x="98552" y="0"/>
                    <a:pt x="220218" y="0"/>
                  </a:cubicBezTo>
                  <a:lnTo>
                    <a:pt x="5102352" y="0"/>
                  </a:lnTo>
                  <a:cubicBezTo>
                    <a:pt x="5224018" y="0"/>
                    <a:pt x="5322570" y="98552"/>
                    <a:pt x="5322570" y="220218"/>
                  </a:cubicBezTo>
                  <a:lnTo>
                    <a:pt x="5322570" y="6382512"/>
                  </a:lnTo>
                  <a:cubicBezTo>
                    <a:pt x="5322570" y="6504178"/>
                    <a:pt x="5224018" y="6602730"/>
                    <a:pt x="5102352" y="6602730"/>
                  </a:cubicBezTo>
                  <a:lnTo>
                    <a:pt x="220218" y="6602730"/>
                  </a:lnTo>
                  <a:cubicBezTo>
                    <a:pt x="98552" y="6602730"/>
                    <a:pt x="0" y="6504178"/>
                    <a:pt x="0" y="6382512"/>
                  </a:cubicBezTo>
                  <a:close/>
                </a:path>
              </a:pathLst>
            </a:custGeom>
            <a:solidFill>
              <a:srgbClr val="FFFFFF"/>
            </a:solidFill>
            <a:ln w="14288" cap="sq">
              <a:solidFill>
                <a:srgbClr val="000000"/>
              </a:solidFill>
              <a:prstDash val="solid"/>
              <a:miter/>
            </a:ln>
          </p:spPr>
        </p:sp>
      </p:grpSp>
      <p:sp>
        <p:nvSpPr>
          <p:cNvPr name="TextBox 39" id="39"/>
          <p:cNvSpPr txBox="true"/>
          <p:nvPr/>
        </p:nvSpPr>
        <p:spPr>
          <a:xfrm rot="0">
            <a:off x="5253228" y="3360420"/>
            <a:ext cx="3566160" cy="411480"/>
          </a:xfrm>
          <a:prstGeom prst="rect">
            <a:avLst/>
          </a:prstGeom>
        </p:spPr>
        <p:txBody>
          <a:bodyPr anchor="t" rtlCol="false" tIns="0" lIns="0" bIns="0" rIns="0">
            <a:spAutoFit/>
          </a:bodyPr>
          <a:lstStyle/>
          <a:p>
            <a:pPr algn="l">
              <a:lnSpc>
                <a:spcPts val="2160"/>
              </a:lnSpc>
            </a:pPr>
            <a:r>
              <a:rPr lang="en-US" sz="1800" b="true">
                <a:solidFill>
                  <a:srgbClr val="F5582E"/>
                </a:solidFill>
                <a:latin typeface="Helvetica World Bold"/>
                <a:ea typeface="Helvetica World Bold"/>
                <a:cs typeface="Helvetica World Bold"/>
                <a:sym typeface="Helvetica World Bold"/>
              </a:rPr>
              <a:t>E059 · Hatefulness</a:t>
            </a:r>
          </a:p>
        </p:txBody>
      </p:sp>
      <p:grpSp>
        <p:nvGrpSpPr>
          <p:cNvPr name="Group 40" id="40"/>
          <p:cNvGrpSpPr/>
          <p:nvPr/>
        </p:nvGrpSpPr>
        <p:grpSpPr>
          <a:xfrm rot="0">
            <a:off x="5726144" y="4107656"/>
            <a:ext cx="1454468" cy="1317308"/>
            <a:chOff x="0" y="0"/>
            <a:chExt cx="1939290" cy="1756410"/>
          </a:xfrm>
        </p:grpSpPr>
        <p:sp>
          <p:nvSpPr>
            <p:cNvPr name="Freeform 41" id="41"/>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DE3DA"/>
            </a:solidFill>
            <a:ln w="14288" cap="sq">
              <a:solidFill>
                <a:srgbClr val="000000"/>
              </a:solidFill>
              <a:prstDash val="solid"/>
              <a:miter/>
            </a:ln>
          </p:spPr>
        </p:sp>
      </p:grpSp>
      <p:grpSp>
        <p:nvGrpSpPr>
          <p:cNvPr name="Group 42" id="42"/>
          <p:cNvGrpSpPr/>
          <p:nvPr/>
        </p:nvGrpSpPr>
        <p:grpSpPr>
          <a:xfrm rot="0">
            <a:off x="5733288" y="4114800"/>
            <a:ext cx="1440180" cy="960120"/>
            <a:chOff x="0" y="0"/>
            <a:chExt cx="1920240" cy="1280160"/>
          </a:xfrm>
        </p:grpSpPr>
        <p:sp>
          <p:nvSpPr>
            <p:cNvPr name="Freeform 43" id="43"/>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44" id="44"/>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573</a:t>
              </a:r>
            </a:p>
          </p:txBody>
        </p:sp>
      </p:grpSp>
      <p:sp>
        <p:nvSpPr>
          <p:cNvPr name="TextBox 45" id="45"/>
          <p:cNvSpPr txBox="true"/>
          <p:nvPr/>
        </p:nvSpPr>
        <p:spPr>
          <a:xfrm rot="0">
            <a:off x="5733288" y="49968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TN</a:t>
            </a:r>
          </a:p>
        </p:txBody>
      </p:sp>
      <p:grpSp>
        <p:nvGrpSpPr>
          <p:cNvPr name="Group 46" id="46"/>
          <p:cNvGrpSpPr/>
          <p:nvPr/>
        </p:nvGrpSpPr>
        <p:grpSpPr>
          <a:xfrm rot="0">
            <a:off x="7234904" y="4107656"/>
            <a:ext cx="1454468" cy="1317308"/>
            <a:chOff x="0" y="0"/>
            <a:chExt cx="1939290" cy="1756410"/>
          </a:xfrm>
        </p:grpSpPr>
        <p:sp>
          <p:nvSpPr>
            <p:cNvPr name="Freeform 47" id="47"/>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FFFFF"/>
            </a:solidFill>
            <a:ln w="14288" cap="sq">
              <a:solidFill>
                <a:srgbClr val="000000"/>
              </a:solidFill>
              <a:prstDash val="solid"/>
              <a:miter/>
            </a:ln>
          </p:spPr>
        </p:sp>
      </p:grpSp>
      <p:grpSp>
        <p:nvGrpSpPr>
          <p:cNvPr name="Group 48" id="48"/>
          <p:cNvGrpSpPr/>
          <p:nvPr/>
        </p:nvGrpSpPr>
        <p:grpSpPr>
          <a:xfrm rot="0">
            <a:off x="7242048" y="4114800"/>
            <a:ext cx="1440180" cy="960120"/>
            <a:chOff x="0" y="0"/>
            <a:chExt cx="1920240" cy="1280160"/>
          </a:xfrm>
        </p:grpSpPr>
        <p:sp>
          <p:nvSpPr>
            <p:cNvPr name="Freeform 49" id="49"/>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50" id="50"/>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85</a:t>
              </a:r>
            </a:p>
          </p:txBody>
        </p:sp>
      </p:grpSp>
      <p:sp>
        <p:nvSpPr>
          <p:cNvPr name="TextBox 51" id="51"/>
          <p:cNvSpPr txBox="true"/>
          <p:nvPr/>
        </p:nvSpPr>
        <p:spPr>
          <a:xfrm rot="0">
            <a:off x="7242048" y="49968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FP</a:t>
            </a:r>
          </a:p>
        </p:txBody>
      </p:sp>
      <p:grpSp>
        <p:nvGrpSpPr>
          <p:cNvPr name="Group 52" id="52"/>
          <p:cNvGrpSpPr/>
          <p:nvPr/>
        </p:nvGrpSpPr>
        <p:grpSpPr>
          <a:xfrm rot="0">
            <a:off x="5726144" y="5479256"/>
            <a:ext cx="1454468" cy="1317308"/>
            <a:chOff x="0" y="0"/>
            <a:chExt cx="1939290" cy="1756410"/>
          </a:xfrm>
        </p:grpSpPr>
        <p:sp>
          <p:nvSpPr>
            <p:cNvPr name="Freeform 53" id="53"/>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FFFFF"/>
            </a:solidFill>
            <a:ln w="14288" cap="sq">
              <a:solidFill>
                <a:srgbClr val="000000"/>
              </a:solidFill>
              <a:prstDash val="solid"/>
              <a:miter/>
            </a:ln>
          </p:spPr>
        </p:sp>
      </p:grpSp>
      <p:grpSp>
        <p:nvGrpSpPr>
          <p:cNvPr name="Group 54" id="54"/>
          <p:cNvGrpSpPr/>
          <p:nvPr/>
        </p:nvGrpSpPr>
        <p:grpSpPr>
          <a:xfrm rot="0">
            <a:off x="5733288" y="5486400"/>
            <a:ext cx="1440180" cy="960120"/>
            <a:chOff x="0" y="0"/>
            <a:chExt cx="1920240" cy="1280160"/>
          </a:xfrm>
        </p:grpSpPr>
        <p:sp>
          <p:nvSpPr>
            <p:cNvPr name="Freeform 55" id="55"/>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56" id="56"/>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92</a:t>
              </a:r>
            </a:p>
          </p:txBody>
        </p:sp>
      </p:grpSp>
      <p:sp>
        <p:nvSpPr>
          <p:cNvPr name="TextBox 57" id="57"/>
          <p:cNvSpPr txBox="true"/>
          <p:nvPr/>
        </p:nvSpPr>
        <p:spPr>
          <a:xfrm rot="0">
            <a:off x="5733288" y="63684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FN</a:t>
            </a:r>
          </a:p>
        </p:txBody>
      </p:sp>
      <p:grpSp>
        <p:nvGrpSpPr>
          <p:cNvPr name="Group 58" id="58"/>
          <p:cNvGrpSpPr/>
          <p:nvPr/>
        </p:nvGrpSpPr>
        <p:grpSpPr>
          <a:xfrm rot="0">
            <a:off x="7234904" y="5479256"/>
            <a:ext cx="1454468" cy="1317308"/>
            <a:chOff x="0" y="0"/>
            <a:chExt cx="1939290" cy="1756410"/>
          </a:xfrm>
        </p:grpSpPr>
        <p:sp>
          <p:nvSpPr>
            <p:cNvPr name="Freeform 59" id="59"/>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DE3DA"/>
            </a:solidFill>
            <a:ln w="14288" cap="sq">
              <a:solidFill>
                <a:srgbClr val="000000"/>
              </a:solidFill>
              <a:prstDash val="solid"/>
              <a:miter/>
            </a:ln>
          </p:spPr>
        </p:sp>
      </p:grpSp>
      <p:grpSp>
        <p:nvGrpSpPr>
          <p:cNvPr name="Group 60" id="60"/>
          <p:cNvGrpSpPr/>
          <p:nvPr/>
        </p:nvGrpSpPr>
        <p:grpSpPr>
          <a:xfrm rot="0">
            <a:off x="7242048" y="5486400"/>
            <a:ext cx="1440180" cy="960120"/>
            <a:chOff x="0" y="0"/>
            <a:chExt cx="1920240" cy="1280160"/>
          </a:xfrm>
        </p:grpSpPr>
        <p:sp>
          <p:nvSpPr>
            <p:cNvPr name="Freeform 61" id="61"/>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62" id="62"/>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255</a:t>
              </a:r>
            </a:p>
          </p:txBody>
        </p:sp>
      </p:grpSp>
      <p:sp>
        <p:nvSpPr>
          <p:cNvPr name="TextBox 63" id="63"/>
          <p:cNvSpPr txBox="true"/>
          <p:nvPr/>
        </p:nvSpPr>
        <p:spPr>
          <a:xfrm rot="0">
            <a:off x="7242048" y="63684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TP</a:t>
            </a:r>
          </a:p>
        </p:txBody>
      </p:sp>
      <p:sp>
        <p:nvSpPr>
          <p:cNvPr name="TextBox 64" id="64"/>
          <p:cNvSpPr txBox="true"/>
          <p:nvPr/>
        </p:nvSpPr>
        <p:spPr>
          <a:xfrm rot="0">
            <a:off x="5253228" y="6985635"/>
            <a:ext cx="3566160" cy="832485"/>
          </a:xfrm>
          <a:prstGeom prst="rect">
            <a:avLst/>
          </a:prstGeom>
        </p:spPr>
        <p:txBody>
          <a:bodyPr anchor="t" rtlCol="false" tIns="0" lIns="0" bIns="0" rIns="0">
            <a:spAutoFit/>
          </a:bodyPr>
          <a:lstStyle/>
          <a:p>
            <a:pPr algn="l">
              <a:lnSpc>
                <a:spcPts val="1800"/>
              </a:lnSpc>
            </a:pPr>
            <a:r>
              <a:rPr lang="en-US" sz="1500">
                <a:solidFill>
                  <a:srgbClr val="595959"/>
                </a:solidFill>
                <a:latin typeface="Helvetica World"/>
                <a:ea typeface="Helvetica World"/>
                <a:cs typeface="Helvetica World"/>
                <a:sym typeface="Helvetica World"/>
              </a:rPr>
              <a:t>Baris: label benar · Kolom: prediksi</a:t>
            </a:r>
          </a:p>
        </p:txBody>
      </p:sp>
      <p:grpSp>
        <p:nvGrpSpPr>
          <p:cNvPr name="Group 65" id="65"/>
          <p:cNvGrpSpPr/>
          <p:nvPr/>
        </p:nvGrpSpPr>
        <p:grpSpPr>
          <a:xfrm rot="0">
            <a:off x="9264872" y="3147536"/>
            <a:ext cx="3991928" cy="4952047"/>
            <a:chOff x="0" y="0"/>
            <a:chExt cx="5322570" cy="6602730"/>
          </a:xfrm>
        </p:grpSpPr>
        <p:sp>
          <p:nvSpPr>
            <p:cNvPr name="Freeform 66" id="66"/>
            <p:cNvSpPr/>
            <p:nvPr/>
          </p:nvSpPr>
          <p:spPr>
            <a:xfrm flipH="false" flipV="false" rot="0">
              <a:off x="0" y="0"/>
              <a:ext cx="5322570" cy="6602730"/>
            </a:xfrm>
            <a:custGeom>
              <a:avLst/>
              <a:gdLst/>
              <a:ahLst/>
              <a:cxnLst/>
              <a:rect r="r" b="b" t="t" l="l"/>
              <a:pathLst>
                <a:path h="6602730" w="5322570">
                  <a:moveTo>
                    <a:pt x="0" y="220218"/>
                  </a:moveTo>
                  <a:cubicBezTo>
                    <a:pt x="0" y="98552"/>
                    <a:pt x="98552" y="0"/>
                    <a:pt x="220218" y="0"/>
                  </a:cubicBezTo>
                  <a:lnTo>
                    <a:pt x="5102352" y="0"/>
                  </a:lnTo>
                  <a:cubicBezTo>
                    <a:pt x="5224018" y="0"/>
                    <a:pt x="5322570" y="98552"/>
                    <a:pt x="5322570" y="220218"/>
                  </a:cubicBezTo>
                  <a:lnTo>
                    <a:pt x="5322570" y="6382512"/>
                  </a:lnTo>
                  <a:cubicBezTo>
                    <a:pt x="5322570" y="6504178"/>
                    <a:pt x="5224018" y="6602730"/>
                    <a:pt x="5102352" y="6602730"/>
                  </a:cubicBezTo>
                  <a:lnTo>
                    <a:pt x="220218" y="6602730"/>
                  </a:lnTo>
                  <a:cubicBezTo>
                    <a:pt x="98552" y="6602730"/>
                    <a:pt x="0" y="6504178"/>
                    <a:pt x="0" y="6382512"/>
                  </a:cubicBezTo>
                  <a:close/>
                </a:path>
              </a:pathLst>
            </a:custGeom>
            <a:solidFill>
              <a:srgbClr val="FFFFFF"/>
            </a:solidFill>
            <a:ln w="14288" cap="sq">
              <a:solidFill>
                <a:srgbClr val="000000"/>
              </a:solidFill>
              <a:prstDash val="solid"/>
              <a:miter/>
            </a:ln>
          </p:spPr>
        </p:sp>
      </p:grpSp>
      <p:sp>
        <p:nvSpPr>
          <p:cNvPr name="TextBox 67" id="67"/>
          <p:cNvSpPr txBox="true"/>
          <p:nvPr/>
        </p:nvSpPr>
        <p:spPr>
          <a:xfrm rot="0">
            <a:off x="9477756" y="3360420"/>
            <a:ext cx="3566160" cy="411480"/>
          </a:xfrm>
          <a:prstGeom prst="rect">
            <a:avLst/>
          </a:prstGeom>
        </p:spPr>
        <p:txBody>
          <a:bodyPr anchor="t" rtlCol="false" tIns="0" lIns="0" bIns="0" rIns="0">
            <a:spAutoFit/>
          </a:bodyPr>
          <a:lstStyle/>
          <a:p>
            <a:pPr algn="l">
              <a:lnSpc>
                <a:spcPts val="2160"/>
              </a:lnSpc>
            </a:pPr>
            <a:r>
              <a:rPr lang="en-US" sz="1800" b="true">
                <a:solidFill>
                  <a:srgbClr val="F5582E"/>
                </a:solidFill>
                <a:latin typeface="Helvetica World Bold"/>
                <a:ea typeface="Helvetica World Bold"/>
                <a:cs typeface="Helvetica World Bold"/>
                <a:sym typeface="Helvetica World Bold"/>
              </a:rPr>
              <a:t>E042 · Appropriateness</a:t>
            </a:r>
          </a:p>
        </p:txBody>
      </p:sp>
      <p:grpSp>
        <p:nvGrpSpPr>
          <p:cNvPr name="Group 68" id="68"/>
          <p:cNvGrpSpPr/>
          <p:nvPr/>
        </p:nvGrpSpPr>
        <p:grpSpPr>
          <a:xfrm rot="0">
            <a:off x="9950672" y="4107656"/>
            <a:ext cx="1454468" cy="1317308"/>
            <a:chOff x="0" y="0"/>
            <a:chExt cx="1939290" cy="1756410"/>
          </a:xfrm>
        </p:grpSpPr>
        <p:sp>
          <p:nvSpPr>
            <p:cNvPr name="Freeform 69" id="69"/>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DE3DA"/>
            </a:solidFill>
            <a:ln w="14288" cap="sq">
              <a:solidFill>
                <a:srgbClr val="000000"/>
              </a:solidFill>
              <a:prstDash val="solid"/>
              <a:miter/>
            </a:ln>
          </p:spPr>
        </p:sp>
      </p:grpSp>
      <p:grpSp>
        <p:nvGrpSpPr>
          <p:cNvPr name="Group 70" id="70"/>
          <p:cNvGrpSpPr/>
          <p:nvPr/>
        </p:nvGrpSpPr>
        <p:grpSpPr>
          <a:xfrm rot="0">
            <a:off x="9957816" y="4114800"/>
            <a:ext cx="1440180" cy="960120"/>
            <a:chOff x="0" y="0"/>
            <a:chExt cx="1920240" cy="1280160"/>
          </a:xfrm>
        </p:grpSpPr>
        <p:sp>
          <p:nvSpPr>
            <p:cNvPr name="Freeform 71" id="71"/>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72" id="72"/>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509</a:t>
              </a:r>
            </a:p>
          </p:txBody>
        </p:sp>
      </p:grpSp>
      <p:sp>
        <p:nvSpPr>
          <p:cNvPr name="TextBox 73" id="73"/>
          <p:cNvSpPr txBox="true"/>
          <p:nvPr/>
        </p:nvSpPr>
        <p:spPr>
          <a:xfrm rot="0">
            <a:off x="9957816" y="49968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TN</a:t>
            </a:r>
          </a:p>
        </p:txBody>
      </p:sp>
      <p:grpSp>
        <p:nvGrpSpPr>
          <p:cNvPr name="Group 74" id="74"/>
          <p:cNvGrpSpPr/>
          <p:nvPr/>
        </p:nvGrpSpPr>
        <p:grpSpPr>
          <a:xfrm rot="0">
            <a:off x="11459432" y="4107656"/>
            <a:ext cx="1454468" cy="1317308"/>
            <a:chOff x="0" y="0"/>
            <a:chExt cx="1939290" cy="1756410"/>
          </a:xfrm>
        </p:grpSpPr>
        <p:sp>
          <p:nvSpPr>
            <p:cNvPr name="Freeform 75" id="75"/>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FFFFF"/>
            </a:solidFill>
            <a:ln w="14288" cap="sq">
              <a:solidFill>
                <a:srgbClr val="000000"/>
              </a:solidFill>
              <a:prstDash val="solid"/>
              <a:miter/>
            </a:ln>
          </p:spPr>
        </p:sp>
      </p:grpSp>
      <p:grpSp>
        <p:nvGrpSpPr>
          <p:cNvPr name="Group 76" id="76"/>
          <p:cNvGrpSpPr/>
          <p:nvPr/>
        </p:nvGrpSpPr>
        <p:grpSpPr>
          <a:xfrm rot="0">
            <a:off x="11466576" y="4114800"/>
            <a:ext cx="1440180" cy="960120"/>
            <a:chOff x="0" y="0"/>
            <a:chExt cx="1920240" cy="1280160"/>
          </a:xfrm>
        </p:grpSpPr>
        <p:sp>
          <p:nvSpPr>
            <p:cNvPr name="Freeform 77" id="77"/>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78" id="78"/>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63</a:t>
              </a:r>
            </a:p>
          </p:txBody>
        </p:sp>
      </p:grpSp>
      <p:sp>
        <p:nvSpPr>
          <p:cNvPr name="TextBox 79" id="79"/>
          <p:cNvSpPr txBox="true"/>
          <p:nvPr/>
        </p:nvSpPr>
        <p:spPr>
          <a:xfrm rot="0">
            <a:off x="11466576" y="49968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FP</a:t>
            </a:r>
          </a:p>
        </p:txBody>
      </p:sp>
      <p:grpSp>
        <p:nvGrpSpPr>
          <p:cNvPr name="Group 80" id="80"/>
          <p:cNvGrpSpPr/>
          <p:nvPr/>
        </p:nvGrpSpPr>
        <p:grpSpPr>
          <a:xfrm rot="0">
            <a:off x="9950672" y="5479256"/>
            <a:ext cx="1454468" cy="1317308"/>
            <a:chOff x="0" y="0"/>
            <a:chExt cx="1939290" cy="1756410"/>
          </a:xfrm>
        </p:grpSpPr>
        <p:sp>
          <p:nvSpPr>
            <p:cNvPr name="Freeform 81" id="81"/>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FFFFF"/>
            </a:solidFill>
            <a:ln w="14288" cap="sq">
              <a:solidFill>
                <a:srgbClr val="000000"/>
              </a:solidFill>
              <a:prstDash val="solid"/>
              <a:miter/>
            </a:ln>
          </p:spPr>
        </p:sp>
      </p:grpSp>
      <p:grpSp>
        <p:nvGrpSpPr>
          <p:cNvPr name="Group 82" id="82"/>
          <p:cNvGrpSpPr/>
          <p:nvPr/>
        </p:nvGrpSpPr>
        <p:grpSpPr>
          <a:xfrm rot="0">
            <a:off x="9957816" y="5486400"/>
            <a:ext cx="1440180" cy="960120"/>
            <a:chOff x="0" y="0"/>
            <a:chExt cx="1920240" cy="1280160"/>
          </a:xfrm>
        </p:grpSpPr>
        <p:sp>
          <p:nvSpPr>
            <p:cNvPr name="Freeform 83" id="83"/>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84" id="84"/>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131</a:t>
              </a:r>
            </a:p>
          </p:txBody>
        </p:sp>
      </p:grpSp>
      <p:sp>
        <p:nvSpPr>
          <p:cNvPr name="TextBox 85" id="85"/>
          <p:cNvSpPr txBox="true"/>
          <p:nvPr/>
        </p:nvSpPr>
        <p:spPr>
          <a:xfrm rot="0">
            <a:off x="9957816" y="63684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FN</a:t>
            </a:r>
          </a:p>
        </p:txBody>
      </p:sp>
      <p:grpSp>
        <p:nvGrpSpPr>
          <p:cNvPr name="Group 86" id="86"/>
          <p:cNvGrpSpPr/>
          <p:nvPr/>
        </p:nvGrpSpPr>
        <p:grpSpPr>
          <a:xfrm rot="0">
            <a:off x="11459432" y="5479256"/>
            <a:ext cx="1454468" cy="1317308"/>
            <a:chOff x="0" y="0"/>
            <a:chExt cx="1939290" cy="1756410"/>
          </a:xfrm>
        </p:grpSpPr>
        <p:sp>
          <p:nvSpPr>
            <p:cNvPr name="Freeform 87" id="87"/>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DE3DA"/>
            </a:solidFill>
            <a:ln w="14288" cap="sq">
              <a:solidFill>
                <a:srgbClr val="000000"/>
              </a:solidFill>
              <a:prstDash val="solid"/>
              <a:miter/>
            </a:ln>
          </p:spPr>
        </p:sp>
      </p:grpSp>
      <p:grpSp>
        <p:nvGrpSpPr>
          <p:cNvPr name="Group 88" id="88"/>
          <p:cNvGrpSpPr/>
          <p:nvPr/>
        </p:nvGrpSpPr>
        <p:grpSpPr>
          <a:xfrm rot="0">
            <a:off x="11466576" y="5486400"/>
            <a:ext cx="1440180" cy="960120"/>
            <a:chOff x="0" y="0"/>
            <a:chExt cx="1920240" cy="1280160"/>
          </a:xfrm>
        </p:grpSpPr>
        <p:sp>
          <p:nvSpPr>
            <p:cNvPr name="Freeform 89" id="89"/>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90" id="90"/>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302</a:t>
              </a:r>
            </a:p>
          </p:txBody>
        </p:sp>
      </p:grpSp>
      <p:sp>
        <p:nvSpPr>
          <p:cNvPr name="TextBox 91" id="91"/>
          <p:cNvSpPr txBox="true"/>
          <p:nvPr/>
        </p:nvSpPr>
        <p:spPr>
          <a:xfrm rot="0">
            <a:off x="11466576" y="63684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TP</a:t>
            </a:r>
          </a:p>
        </p:txBody>
      </p:sp>
      <p:sp>
        <p:nvSpPr>
          <p:cNvPr name="TextBox 92" id="92"/>
          <p:cNvSpPr txBox="true"/>
          <p:nvPr/>
        </p:nvSpPr>
        <p:spPr>
          <a:xfrm rot="0">
            <a:off x="9477756" y="6985635"/>
            <a:ext cx="3566160" cy="832485"/>
          </a:xfrm>
          <a:prstGeom prst="rect">
            <a:avLst/>
          </a:prstGeom>
        </p:spPr>
        <p:txBody>
          <a:bodyPr anchor="t" rtlCol="false" tIns="0" lIns="0" bIns="0" rIns="0">
            <a:spAutoFit/>
          </a:bodyPr>
          <a:lstStyle/>
          <a:p>
            <a:pPr algn="l">
              <a:lnSpc>
                <a:spcPts val="1800"/>
              </a:lnSpc>
            </a:pPr>
            <a:r>
              <a:rPr lang="en-US" sz="1500">
                <a:solidFill>
                  <a:srgbClr val="595959"/>
                </a:solidFill>
                <a:latin typeface="Helvetica World"/>
                <a:ea typeface="Helvetica World"/>
                <a:cs typeface="Helvetica World"/>
                <a:sym typeface="Helvetica World"/>
              </a:rPr>
              <a:t>Baris: label benar · Kolom: prediksi</a:t>
            </a:r>
          </a:p>
        </p:txBody>
      </p:sp>
      <p:grpSp>
        <p:nvGrpSpPr>
          <p:cNvPr name="Group 93" id="93"/>
          <p:cNvGrpSpPr/>
          <p:nvPr/>
        </p:nvGrpSpPr>
        <p:grpSpPr>
          <a:xfrm rot="0">
            <a:off x="13489400" y="3147536"/>
            <a:ext cx="3991928" cy="4952047"/>
            <a:chOff x="0" y="0"/>
            <a:chExt cx="5322570" cy="6602730"/>
          </a:xfrm>
        </p:grpSpPr>
        <p:sp>
          <p:nvSpPr>
            <p:cNvPr name="Freeform 94" id="94"/>
            <p:cNvSpPr/>
            <p:nvPr/>
          </p:nvSpPr>
          <p:spPr>
            <a:xfrm flipH="false" flipV="false" rot="0">
              <a:off x="0" y="0"/>
              <a:ext cx="5322570" cy="6602730"/>
            </a:xfrm>
            <a:custGeom>
              <a:avLst/>
              <a:gdLst/>
              <a:ahLst/>
              <a:cxnLst/>
              <a:rect r="r" b="b" t="t" l="l"/>
              <a:pathLst>
                <a:path h="6602730" w="5322570">
                  <a:moveTo>
                    <a:pt x="0" y="220218"/>
                  </a:moveTo>
                  <a:cubicBezTo>
                    <a:pt x="0" y="98552"/>
                    <a:pt x="98552" y="0"/>
                    <a:pt x="220218" y="0"/>
                  </a:cubicBezTo>
                  <a:lnTo>
                    <a:pt x="5102352" y="0"/>
                  </a:lnTo>
                  <a:cubicBezTo>
                    <a:pt x="5224018" y="0"/>
                    <a:pt x="5322570" y="98552"/>
                    <a:pt x="5322570" y="220218"/>
                  </a:cubicBezTo>
                  <a:lnTo>
                    <a:pt x="5322570" y="6382512"/>
                  </a:lnTo>
                  <a:cubicBezTo>
                    <a:pt x="5322570" y="6504178"/>
                    <a:pt x="5224018" y="6602730"/>
                    <a:pt x="5102352" y="6602730"/>
                  </a:cubicBezTo>
                  <a:lnTo>
                    <a:pt x="220218" y="6602730"/>
                  </a:lnTo>
                  <a:cubicBezTo>
                    <a:pt x="98552" y="6602730"/>
                    <a:pt x="0" y="6504178"/>
                    <a:pt x="0" y="6382512"/>
                  </a:cubicBezTo>
                  <a:close/>
                </a:path>
              </a:pathLst>
            </a:custGeom>
            <a:solidFill>
              <a:srgbClr val="FFFFFF"/>
            </a:solidFill>
            <a:ln w="14288" cap="sq">
              <a:solidFill>
                <a:srgbClr val="000000"/>
              </a:solidFill>
              <a:prstDash val="solid"/>
              <a:miter/>
            </a:ln>
          </p:spPr>
        </p:sp>
      </p:grpSp>
      <p:sp>
        <p:nvSpPr>
          <p:cNvPr name="TextBox 95" id="95"/>
          <p:cNvSpPr txBox="true"/>
          <p:nvPr/>
        </p:nvSpPr>
        <p:spPr>
          <a:xfrm rot="0">
            <a:off x="13702284" y="3360420"/>
            <a:ext cx="3566160" cy="411480"/>
          </a:xfrm>
          <a:prstGeom prst="rect">
            <a:avLst/>
          </a:prstGeom>
        </p:spPr>
        <p:txBody>
          <a:bodyPr anchor="t" rtlCol="false" tIns="0" lIns="0" bIns="0" rIns="0">
            <a:spAutoFit/>
          </a:bodyPr>
          <a:lstStyle/>
          <a:p>
            <a:pPr algn="l">
              <a:lnSpc>
                <a:spcPts val="2160"/>
              </a:lnSpc>
            </a:pPr>
            <a:r>
              <a:rPr lang="en-US" sz="1800" b="true">
                <a:solidFill>
                  <a:srgbClr val="F5582E"/>
                </a:solidFill>
                <a:latin typeface="Helvetica World Bold"/>
                <a:ea typeface="Helvetica World Bold"/>
                <a:cs typeface="Helvetica World Bold"/>
                <a:sym typeface="Helvetica World Bold"/>
              </a:rPr>
              <a:t>E060 · Appropriateness</a:t>
            </a:r>
          </a:p>
        </p:txBody>
      </p:sp>
      <p:grpSp>
        <p:nvGrpSpPr>
          <p:cNvPr name="Group 96" id="96"/>
          <p:cNvGrpSpPr/>
          <p:nvPr/>
        </p:nvGrpSpPr>
        <p:grpSpPr>
          <a:xfrm rot="0">
            <a:off x="14175200" y="4107656"/>
            <a:ext cx="1454468" cy="1317308"/>
            <a:chOff x="0" y="0"/>
            <a:chExt cx="1939290" cy="1756410"/>
          </a:xfrm>
        </p:grpSpPr>
        <p:sp>
          <p:nvSpPr>
            <p:cNvPr name="Freeform 97" id="97"/>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DE3DA"/>
            </a:solidFill>
            <a:ln w="14288" cap="sq">
              <a:solidFill>
                <a:srgbClr val="000000"/>
              </a:solidFill>
              <a:prstDash val="solid"/>
              <a:miter/>
            </a:ln>
          </p:spPr>
        </p:sp>
      </p:grpSp>
      <p:grpSp>
        <p:nvGrpSpPr>
          <p:cNvPr name="Group 98" id="98"/>
          <p:cNvGrpSpPr/>
          <p:nvPr/>
        </p:nvGrpSpPr>
        <p:grpSpPr>
          <a:xfrm rot="0">
            <a:off x="14182344" y="4114800"/>
            <a:ext cx="1440180" cy="960120"/>
            <a:chOff x="0" y="0"/>
            <a:chExt cx="1920240" cy="1280160"/>
          </a:xfrm>
        </p:grpSpPr>
        <p:sp>
          <p:nvSpPr>
            <p:cNvPr name="Freeform 99" id="99"/>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100" id="100"/>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496</a:t>
              </a:r>
            </a:p>
          </p:txBody>
        </p:sp>
      </p:grpSp>
      <p:sp>
        <p:nvSpPr>
          <p:cNvPr name="TextBox 101" id="101"/>
          <p:cNvSpPr txBox="true"/>
          <p:nvPr/>
        </p:nvSpPr>
        <p:spPr>
          <a:xfrm rot="0">
            <a:off x="14182344" y="49968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TN</a:t>
            </a:r>
          </a:p>
        </p:txBody>
      </p:sp>
      <p:grpSp>
        <p:nvGrpSpPr>
          <p:cNvPr name="Group 102" id="102"/>
          <p:cNvGrpSpPr/>
          <p:nvPr/>
        </p:nvGrpSpPr>
        <p:grpSpPr>
          <a:xfrm rot="0">
            <a:off x="15683960" y="4107656"/>
            <a:ext cx="1454468" cy="1317308"/>
            <a:chOff x="0" y="0"/>
            <a:chExt cx="1939290" cy="1756410"/>
          </a:xfrm>
        </p:grpSpPr>
        <p:sp>
          <p:nvSpPr>
            <p:cNvPr name="Freeform 103" id="103"/>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FFFFF"/>
            </a:solidFill>
            <a:ln w="14288" cap="sq">
              <a:solidFill>
                <a:srgbClr val="000000"/>
              </a:solidFill>
              <a:prstDash val="solid"/>
              <a:miter/>
            </a:ln>
          </p:spPr>
        </p:sp>
      </p:grpSp>
      <p:grpSp>
        <p:nvGrpSpPr>
          <p:cNvPr name="Group 104" id="104"/>
          <p:cNvGrpSpPr/>
          <p:nvPr/>
        </p:nvGrpSpPr>
        <p:grpSpPr>
          <a:xfrm rot="0">
            <a:off x="15691104" y="4114800"/>
            <a:ext cx="1440180" cy="960120"/>
            <a:chOff x="0" y="0"/>
            <a:chExt cx="1920240" cy="1280160"/>
          </a:xfrm>
        </p:grpSpPr>
        <p:sp>
          <p:nvSpPr>
            <p:cNvPr name="Freeform 105" id="105"/>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106" id="106"/>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76</a:t>
              </a:r>
            </a:p>
          </p:txBody>
        </p:sp>
      </p:grpSp>
      <p:sp>
        <p:nvSpPr>
          <p:cNvPr name="TextBox 107" id="107"/>
          <p:cNvSpPr txBox="true"/>
          <p:nvPr/>
        </p:nvSpPr>
        <p:spPr>
          <a:xfrm rot="0">
            <a:off x="15691104" y="49968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FP</a:t>
            </a:r>
          </a:p>
        </p:txBody>
      </p:sp>
      <p:grpSp>
        <p:nvGrpSpPr>
          <p:cNvPr name="Group 108" id="108"/>
          <p:cNvGrpSpPr/>
          <p:nvPr/>
        </p:nvGrpSpPr>
        <p:grpSpPr>
          <a:xfrm rot="0">
            <a:off x="14175200" y="5479256"/>
            <a:ext cx="1454468" cy="1317308"/>
            <a:chOff x="0" y="0"/>
            <a:chExt cx="1939290" cy="1756410"/>
          </a:xfrm>
        </p:grpSpPr>
        <p:sp>
          <p:nvSpPr>
            <p:cNvPr name="Freeform 109" id="109"/>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FFFFF"/>
            </a:solidFill>
            <a:ln w="14288" cap="sq">
              <a:solidFill>
                <a:srgbClr val="000000"/>
              </a:solidFill>
              <a:prstDash val="solid"/>
              <a:miter/>
            </a:ln>
          </p:spPr>
        </p:sp>
      </p:grpSp>
      <p:grpSp>
        <p:nvGrpSpPr>
          <p:cNvPr name="Group 110" id="110"/>
          <p:cNvGrpSpPr/>
          <p:nvPr/>
        </p:nvGrpSpPr>
        <p:grpSpPr>
          <a:xfrm rot="0">
            <a:off x="14182344" y="5486400"/>
            <a:ext cx="1440180" cy="960120"/>
            <a:chOff x="0" y="0"/>
            <a:chExt cx="1920240" cy="1280160"/>
          </a:xfrm>
        </p:grpSpPr>
        <p:sp>
          <p:nvSpPr>
            <p:cNvPr name="Freeform 111" id="111"/>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112" id="112"/>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107</a:t>
              </a:r>
            </a:p>
          </p:txBody>
        </p:sp>
      </p:grpSp>
      <p:sp>
        <p:nvSpPr>
          <p:cNvPr name="TextBox 113" id="113"/>
          <p:cNvSpPr txBox="true"/>
          <p:nvPr/>
        </p:nvSpPr>
        <p:spPr>
          <a:xfrm rot="0">
            <a:off x="14182344" y="63684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FN</a:t>
            </a:r>
          </a:p>
        </p:txBody>
      </p:sp>
      <p:grpSp>
        <p:nvGrpSpPr>
          <p:cNvPr name="Group 114" id="114"/>
          <p:cNvGrpSpPr/>
          <p:nvPr/>
        </p:nvGrpSpPr>
        <p:grpSpPr>
          <a:xfrm rot="0">
            <a:off x="15683960" y="5479256"/>
            <a:ext cx="1454468" cy="1317308"/>
            <a:chOff x="0" y="0"/>
            <a:chExt cx="1939290" cy="1756410"/>
          </a:xfrm>
        </p:grpSpPr>
        <p:sp>
          <p:nvSpPr>
            <p:cNvPr name="Freeform 115" id="115"/>
            <p:cNvSpPr/>
            <p:nvPr/>
          </p:nvSpPr>
          <p:spPr>
            <a:xfrm flipH="false" flipV="false" rot="0">
              <a:off x="0" y="0"/>
              <a:ext cx="1939290" cy="1756410"/>
            </a:xfrm>
            <a:custGeom>
              <a:avLst/>
              <a:gdLst/>
              <a:ahLst/>
              <a:cxnLst/>
              <a:rect r="r" b="b" t="t" l="l"/>
              <a:pathLst>
                <a:path h="1756410" w="1939290">
                  <a:moveTo>
                    <a:pt x="0" y="0"/>
                  </a:moveTo>
                  <a:lnTo>
                    <a:pt x="1939290" y="0"/>
                  </a:lnTo>
                  <a:lnTo>
                    <a:pt x="1939290" y="1756410"/>
                  </a:lnTo>
                  <a:lnTo>
                    <a:pt x="0" y="1756410"/>
                  </a:lnTo>
                  <a:close/>
                </a:path>
              </a:pathLst>
            </a:custGeom>
            <a:solidFill>
              <a:srgbClr val="FDE3DA"/>
            </a:solidFill>
            <a:ln w="14288" cap="sq">
              <a:solidFill>
                <a:srgbClr val="000000"/>
              </a:solidFill>
              <a:prstDash val="solid"/>
              <a:miter/>
            </a:ln>
          </p:spPr>
        </p:sp>
      </p:grpSp>
      <p:grpSp>
        <p:nvGrpSpPr>
          <p:cNvPr name="Group 116" id="116"/>
          <p:cNvGrpSpPr/>
          <p:nvPr/>
        </p:nvGrpSpPr>
        <p:grpSpPr>
          <a:xfrm rot="0">
            <a:off x="15691104" y="5486400"/>
            <a:ext cx="1440180" cy="960120"/>
            <a:chOff x="0" y="0"/>
            <a:chExt cx="1920240" cy="1280160"/>
          </a:xfrm>
        </p:grpSpPr>
        <p:sp>
          <p:nvSpPr>
            <p:cNvPr name="Freeform 117" id="117"/>
            <p:cNvSpPr/>
            <p:nvPr/>
          </p:nvSpPr>
          <p:spPr>
            <a:xfrm flipH="false" flipV="false" rot="0">
              <a:off x="0" y="0"/>
              <a:ext cx="1920240" cy="1280160"/>
            </a:xfrm>
            <a:custGeom>
              <a:avLst/>
              <a:gdLst/>
              <a:ahLst/>
              <a:cxnLst/>
              <a:rect r="r" b="b" t="t" l="l"/>
              <a:pathLst>
                <a:path h="1280160" w="1920240">
                  <a:moveTo>
                    <a:pt x="0" y="0"/>
                  </a:moveTo>
                  <a:lnTo>
                    <a:pt x="1920240" y="0"/>
                  </a:lnTo>
                  <a:lnTo>
                    <a:pt x="1920240" y="1280160"/>
                  </a:lnTo>
                  <a:lnTo>
                    <a:pt x="0" y="1280160"/>
                  </a:lnTo>
                  <a:close/>
                </a:path>
              </a:pathLst>
            </a:custGeom>
            <a:blipFill>
              <a:blip r:embed="rId3">
                <a:alphaModFix amt="0"/>
              </a:blip>
              <a:stretch>
                <a:fillRect l="-35535" t="0" r="-35535" b="0"/>
              </a:stretch>
            </a:blipFill>
          </p:spPr>
        </p:sp>
        <p:sp>
          <p:nvSpPr>
            <p:cNvPr name="TextBox 118" id="118"/>
            <p:cNvSpPr txBox="true"/>
            <p:nvPr/>
          </p:nvSpPr>
          <p:spPr>
            <a:xfrm>
              <a:off x="0" y="0"/>
              <a:ext cx="1920240" cy="1280160"/>
            </a:xfrm>
            <a:prstGeom prst="rect">
              <a:avLst/>
            </a:prstGeom>
          </p:spPr>
          <p:txBody>
            <a:bodyPr anchor="ctr" rtlCol="false" tIns="0" lIns="0" bIns="0" rIns="0"/>
            <a:lstStyle/>
            <a:p>
              <a:pPr algn="ctr">
                <a:lnSpc>
                  <a:spcPts val="3960"/>
                </a:lnSpc>
              </a:pPr>
              <a:r>
                <a:rPr lang="en-US" sz="3300" b="true">
                  <a:solidFill>
                    <a:srgbClr val="000000"/>
                  </a:solidFill>
                  <a:latin typeface="Helvetica World Bold"/>
                  <a:ea typeface="Helvetica World Bold"/>
                  <a:cs typeface="Helvetica World Bold"/>
                  <a:sym typeface="Helvetica World Bold"/>
                </a:rPr>
                <a:t>326</a:t>
              </a:r>
            </a:p>
          </p:txBody>
        </p:sp>
      </p:grpSp>
      <p:sp>
        <p:nvSpPr>
          <p:cNvPr name="TextBox 119" id="119"/>
          <p:cNvSpPr txBox="true"/>
          <p:nvPr/>
        </p:nvSpPr>
        <p:spPr>
          <a:xfrm rot="0">
            <a:off x="15691104" y="6368415"/>
            <a:ext cx="1440180" cy="352425"/>
          </a:xfrm>
          <a:prstGeom prst="rect">
            <a:avLst/>
          </a:prstGeom>
        </p:spPr>
        <p:txBody>
          <a:bodyPr anchor="t" rtlCol="false" tIns="0" lIns="0" bIns="0" rIns="0">
            <a:spAutoFit/>
          </a:bodyPr>
          <a:lstStyle/>
          <a:p>
            <a:pPr algn="ctr">
              <a:lnSpc>
                <a:spcPts val="1800"/>
              </a:lnSpc>
            </a:pPr>
            <a:r>
              <a:rPr lang="en-US" sz="1500">
                <a:solidFill>
                  <a:srgbClr val="595959"/>
                </a:solidFill>
                <a:latin typeface="Helvetica World"/>
                <a:ea typeface="Helvetica World"/>
                <a:cs typeface="Helvetica World"/>
                <a:sym typeface="Helvetica World"/>
              </a:rPr>
              <a:t>TP</a:t>
            </a:r>
          </a:p>
        </p:txBody>
      </p:sp>
      <p:sp>
        <p:nvSpPr>
          <p:cNvPr name="TextBox 120" id="120"/>
          <p:cNvSpPr txBox="true"/>
          <p:nvPr/>
        </p:nvSpPr>
        <p:spPr>
          <a:xfrm rot="0">
            <a:off x="13702284" y="6985635"/>
            <a:ext cx="3566160" cy="832485"/>
          </a:xfrm>
          <a:prstGeom prst="rect">
            <a:avLst/>
          </a:prstGeom>
        </p:spPr>
        <p:txBody>
          <a:bodyPr anchor="t" rtlCol="false" tIns="0" lIns="0" bIns="0" rIns="0">
            <a:spAutoFit/>
          </a:bodyPr>
          <a:lstStyle/>
          <a:p>
            <a:pPr algn="l">
              <a:lnSpc>
                <a:spcPts val="1800"/>
              </a:lnSpc>
            </a:pPr>
            <a:r>
              <a:rPr lang="en-US" sz="1500">
                <a:solidFill>
                  <a:srgbClr val="595959"/>
                </a:solidFill>
                <a:latin typeface="Helvetica World"/>
                <a:ea typeface="Helvetica World"/>
                <a:cs typeface="Helvetica World"/>
                <a:sym typeface="Helvetica World"/>
              </a:rPr>
              <a:t>Baris: label benar · Kolom: prediksi</a:t>
            </a:r>
          </a:p>
        </p:txBody>
      </p:sp>
      <p:sp>
        <p:nvSpPr>
          <p:cNvPr name="TextBox 121" id="121"/>
          <p:cNvSpPr txBox="true"/>
          <p:nvPr/>
        </p:nvSpPr>
        <p:spPr>
          <a:xfrm rot="0">
            <a:off x="822960" y="8366760"/>
            <a:ext cx="16596360" cy="96012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Data uji resmi (1.005 meme). Hate teridentifikasi: E041 250 dari 347; E059 255. Inappropriate: E042 302 dari 433; E060 326. Dari 86 meme Not Hate–Inappropriate di data uji: E042 benar 48, E060 benar 51.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22</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A09</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RIWAYAT PELATIHAN</a:t>
            </a:r>
          </a:p>
          <a:p>
            <a:pPr algn="l">
              <a:lnSpc>
                <a:spcPts val="4788"/>
              </a:lnSpc>
            </a:pPr>
            <a:r>
              <a:rPr lang="en-US" sz="4200" i="true">
                <a:solidFill>
                  <a:srgbClr val="000000"/>
                </a:solidFill>
                <a:latin typeface="Noto Serif Italics"/>
                <a:ea typeface="Noto Serif Italics"/>
                <a:cs typeface="Noto Serif Italics"/>
                <a:sym typeface="Noto Serif Italics"/>
              </a:rPr>
              <a:t>dan Evaluasi AUC.</a:t>
            </a:r>
          </a:p>
        </p:txBody>
      </p:sp>
      <p:graphicFrame>
        <p:nvGraphicFramePr>
          <p:cNvPr name="Table 9" id="9"/>
          <p:cNvGraphicFramePr>
            <a:graphicFrameLocks noGrp="true"/>
          </p:cNvGraphicFramePr>
          <p:nvPr/>
        </p:nvGraphicFramePr>
        <p:xfrm>
          <a:off x="822960" y="3154680"/>
          <a:ext cx="9029700" cy="5486400"/>
        </p:xfrm>
        <a:graphic>
          <a:graphicData uri="http://schemas.openxmlformats.org/drawingml/2006/table">
            <a:tbl>
              <a:tblPr/>
              <a:tblGrid>
                <a:gridCol w="1504950"/>
                <a:gridCol w="2325832"/>
                <a:gridCol w="2325832"/>
                <a:gridCol w="2873086"/>
              </a:tblGrid>
              <a:tr h="609600">
                <a:tc>
                  <a:txBody>
                    <a:bodyPr anchor="t" rtlCol="false"/>
                    <a:lstStyle/>
                    <a:p>
                      <a:pPr algn="l">
                        <a:lnSpc>
                          <a:spcPts val="2340"/>
                        </a:lnSpc>
                        <a:defRPr/>
                      </a:pPr>
                      <a:r>
                        <a:rPr lang="en-US" sz="1950" b="true">
                          <a:solidFill>
                            <a:srgbClr val="F5582E"/>
                          </a:solidFill>
                          <a:latin typeface="Helvetica World Bold"/>
                          <a:ea typeface="Helvetica World Bold"/>
                          <a:cs typeface="Helvetica World Bold"/>
                          <a:sym typeface="Helvetica World Bold"/>
                        </a:rPr>
                        <a:t>ID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Epoch dilatih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Epoch terpilih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Skor seleksi validasi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0,6407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E006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0,6348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E041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0,7924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0,8293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E060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0,7849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E101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0,7957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E110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0,8099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bl>
          </a:graphicData>
        </a:graphic>
      </p:graphicFrame>
      <p:grpSp>
        <p:nvGrpSpPr>
          <p:cNvPr name="Group 10" id="10"/>
          <p:cNvGrpSpPr/>
          <p:nvPr/>
        </p:nvGrpSpPr>
        <p:grpSpPr>
          <a:xfrm rot="0">
            <a:off x="10279856" y="3147536"/>
            <a:ext cx="7146607" cy="6049328"/>
            <a:chOff x="0" y="0"/>
            <a:chExt cx="9528810" cy="8065770"/>
          </a:xfrm>
        </p:grpSpPr>
        <p:sp>
          <p:nvSpPr>
            <p:cNvPr name="Freeform 11" id="11"/>
            <p:cNvSpPr/>
            <p:nvPr/>
          </p:nvSpPr>
          <p:spPr>
            <a:xfrm flipH="false" flipV="false" rot="0">
              <a:off x="0" y="0"/>
              <a:ext cx="9528810" cy="8065770"/>
            </a:xfrm>
            <a:custGeom>
              <a:avLst/>
              <a:gdLst/>
              <a:ahLst/>
              <a:cxnLst/>
              <a:rect r="r" b="b" t="t" l="l"/>
              <a:pathLst>
                <a:path h="8065770" w="9528810">
                  <a:moveTo>
                    <a:pt x="0" y="219964"/>
                  </a:moveTo>
                  <a:cubicBezTo>
                    <a:pt x="0" y="98425"/>
                    <a:pt x="98425" y="0"/>
                    <a:pt x="219964" y="0"/>
                  </a:cubicBezTo>
                  <a:lnTo>
                    <a:pt x="9308846" y="0"/>
                  </a:lnTo>
                  <a:cubicBezTo>
                    <a:pt x="9430385" y="0"/>
                    <a:pt x="9528810" y="98425"/>
                    <a:pt x="9528810" y="219964"/>
                  </a:cubicBezTo>
                  <a:lnTo>
                    <a:pt x="9528810" y="7845806"/>
                  </a:lnTo>
                  <a:cubicBezTo>
                    <a:pt x="9528810" y="7967345"/>
                    <a:pt x="9430385" y="8065770"/>
                    <a:pt x="9308846" y="8065770"/>
                  </a:cubicBezTo>
                  <a:lnTo>
                    <a:pt x="219964" y="8065770"/>
                  </a:lnTo>
                  <a:cubicBezTo>
                    <a:pt x="98425" y="8065770"/>
                    <a:pt x="0" y="7967345"/>
                    <a:pt x="0" y="7845806"/>
                  </a:cubicBezTo>
                  <a:close/>
                </a:path>
              </a:pathLst>
            </a:custGeom>
            <a:solidFill>
              <a:srgbClr val="FFFFFF"/>
            </a:solidFill>
            <a:ln w="14288" cap="sq">
              <a:solidFill>
                <a:srgbClr val="000000"/>
              </a:solidFill>
              <a:prstDash val="solid"/>
              <a:miter/>
            </a:ln>
          </p:spPr>
        </p:sp>
      </p:grpSp>
      <p:grpSp>
        <p:nvGrpSpPr>
          <p:cNvPr name="Group 12" id="12"/>
          <p:cNvGrpSpPr/>
          <p:nvPr/>
        </p:nvGrpSpPr>
        <p:grpSpPr>
          <a:xfrm rot="0">
            <a:off x="10279856" y="3147536"/>
            <a:ext cx="7146607" cy="453200"/>
            <a:chOff x="0" y="0"/>
            <a:chExt cx="9528810" cy="604266"/>
          </a:xfrm>
        </p:grpSpPr>
        <p:sp>
          <p:nvSpPr>
            <p:cNvPr name="Freeform 13" id="13"/>
            <p:cNvSpPr/>
            <p:nvPr/>
          </p:nvSpPr>
          <p:spPr>
            <a:xfrm flipH="false" flipV="false" rot="0">
              <a:off x="0" y="0"/>
              <a:ext cx="9528811" cy="604266"/>
            </a:xfrm>
            <a:custGeom>
              <a:avLst/>
              <a:gdLst/>
              <a:ahLst/>
              <a:cxnLst/>
              <a:rect r="r" b="b" t="t" l="l"/>
              <a:pathLst>
                <a:path h="604266" w="9528811">
                  <a:moveTo>
                    <a:pt x="0" y="226568"/>
                  </a:moveTo>
                  <a:cubicBezTo>
                    <a:pt x="0" y="101473"/>
                    <a:pt x="101473" y="0"/>
                    <a:pt x="226568" y="0"/>
                  </a:cubicBezTo>
                  <a:lnTo>
                    <a:pt x="9302242" y="0"/>
                  </a:lnTo>
                  <a:cubicBezTo>
                    <a:pt x="9427337" y="0"/>
                    <a:pt x="9528811" y="101473"/>
                    <a:pt x="9528811" y="226568"/>
                  </a:cubicBezTo>
                  <a:lnTo>
                    <a:pt x="9528811" y="377698"/>
                  </a:lnTo>
                  <a:cubicBezTo>
                    <a:pt x="9528811" y="502793"/>
                    <a:pt x="9427337" y="604266"/>
                    <a:pt x="930224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14" id="14"/>
          <p:cNvGrpSpPr/>
          <p:nvPr/>
        </p:nvGrpSpPr>
        <p:grpSpPr>
          <a:xfrm rot="0">
            <a:off x="10291191" y="3364611"/>
            <a:ext cx="7123938" cy="238506"/>
            <a:chOff x="0" y="0"/>
            <a:chExt cx="9498584" cy="318008"/>
          </a:xfrm>
        </p:grpSpPr>
        <p:sp>
          <p:nvSpPr>
            <p:cNvPr name="Freeform 15" id="15"/>
            <p:cNvSpPr/>
            <p:nvPr/>
          </p:nvSpPr>
          <p:spPr>
            <a:xfrm flipH="false" flipV="false" rot="0">
              <a:off x="0" y="0"/>
              <a:ext cx="9498584" cy="318008"/>
            </a:xfrm>
            <a:custGeom>
              <a:avLst/>
              <a:gdLst/>
              <a:ahLst/>
              <a:cxnLst/>
              <a:rect r="r" b="b" t="t" l="l"/>
              <a:pathLst>
                <a:path h="318008" w="9498584">
                  <a:moveTo>
                    <a:pt x="0" y="0"/>
                  </a:moveTo>
                  <a:lnTo>
                    <a:pt x="9498584" y="0"/>
                  </a:lnTo>
                  <a:lnTo>
                    <a:pt x="9498584" y="318008"/>
                  </a:lnTo>
                  <a:lnTo>
                    <a:pt x="0" y="318008"/>
                  </a:lnTo>
                  <a:close/>
                </a:path>
              </a:pathLst>
            </a:custGeom>
            <a:solidFill>
              <a:srgbClr val="F5582E"/>
            </a:solidFill>
            <a:ln w="19050" cap="sq">
              <a:solidFill>
                <a:srgbClr val="F5582E"/>
              </a:solidFill>
              <a:prstDash val="solid"/>
              <a:miter/>
            </a:ln>
          </p:spPr>
        </p:sp>
      </p:grpSp>
      <p:sp>
        <p:nvSpPr>
          <p:cNvPr name="AutoShape 16" id="16"/>
          <p:cNvSpPr/>
          <p:nvPr/>
        </p:nvSpPr>
        <p:spPr>
          <a:xfrm rot="6900">
            <a:off x="10279847" y="3588829"/>
            <a:ext cx="7146617" cy="0"/>
          </a:xfrm>
          <a:prstGeom prst="line">
            <a:avLst/>
          </a:prstGeom>
          <a:ln cap="rnd" w="9525">
            <a:solidFill>
              <a:srgbClr val="000000"/>
            </a:solidFill>
            <a:prstDash val="solid"/>
            <a:headEnd type="none" len="sm" w="sm"/>
            <a:tailEnd type="none" len="sm" w="sm"/>
          </a:ln>
        </p:spPr>
      </p:sp>
      <p:sp>
        <p:nvSpPr>
          <p:cNvPr name="TextBox 17" id="17"/>
          <p:cNvSpPr txBox="true"/>
          <p:nvPr/>
        </p:nvSpPr>
        <p:spPr>
          <a:xfrm rot="0">
            <a:off x="10629900" y="3771900"/>
            <a:ext cx="644652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AUC · APPROPRIATENESS</a:t>
            </a:r>
          </a:p>
        </p:txBody>
      </p:sp>
      <p:sp>
        <p:nvSpPr>
          <p:cNvPr name="TextBox 18" id="18"/>
          <p:cNvSpPr txBox="true"/>
          <p:nvPr/>
        </p:nvSpPr>
        <p:spPr>
          <a:xfrm rot="0">
            <a:off x="10629900" y="4389120"/>
            <a:ext cx="342900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E042 IndoBERTweet</a:t>
            </a:r>
          </a:p>
        </p:txBody>
      </p:sp>
      <p:sp>
        <p:nvSpPr>
          <p:cNvPr name="TextBox 19" id="19"/>
          <p:cNvSpPr txBox="true"/>
          <p:nvPr/>
        </p:nvSpPr>
        <p:spPr>
          <a:xfrm rot="0">
            <a:off x="13990320" y="4261485"/>
            <a:ext cx="3154680" cy="676275"/>
          </a:xfrm>
          <a:prstGeom prst="rect">
            <a:avLst/>
          </a:prstGeom>
        </p:spPr>
        <p:txBody>
          <a:bodyPr anchor="t" rtlCol="false" tIns="0" lIns="0" bIns="0" rIns="0">
            <a:spAutoFit/>
          </a:bodyPr>
          <a:lstStyle/>
          <a:p>
            <a:pPr algn="r">
              <a:lnSpc>
                <a:spcPts val="4680"/>
              </a:lnSpc>
            </a:pPr>
            <a:r>
              <a:rPr lang="en-US" sz="3900" b="true">
                <a:solidFill>
                  <a:srgbClr val="000000"/>
                </a:solidFill>
                <a:latin typeface="Helvetica World Bold"/>
                <a:ea typeface="Helvetica World Bold"/>
                <a:cs typeface="Helvetica World Bold"/>
                <a:sym typeface="Helvetica World Bold"/>
              </a:rPr>
              <a:t>0,8780</a:t>
            </a:r>
          </a:p>
        </p:txBody>
      </p:sp>
      <p:sp>
        <p:nvSpPr>
          <p:cNvPr name="TextBox 20" id="20"/>
          <p:cNvSpPr txBox="true"/>
          <p:nvPr/>
        </p:nvSpPr>
        <p:spPr>
          <a:xfrm rot="0">
            <a:off x="10629900" y="5212080"/>
            <a:ext cx="3429000" cy="4114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E060 IndoBERTweet + ViT</a:t>
            </a:r>
          </a:p>
        </p:txBody>
      </p:sp>
      <p:sp>
        <p:nvSpPr>
          <p:cNvPr name="TextBox 21" id="21"/>
          <p:cNvSpPr txBox="true"/>
          <p:nvPr/>
        </p:nvSpPr>
        <p:spPr>
          <a:xfrm rot="0">
            <a:off x="13990320" y="5084445"/>
            <a:ext cx="3154680" cy="676275"/>
          </a:xfrm>
          <a:prstGeom prst="rect">
            <a:avLst/>
          </a:prstGeom>
        </p:spPr>
        <p:txBody>
          <a:bodyPr anchor="t" rtlCol="false" tIns="0" lIns="0" bIns="0" rIns="0">
            <a:spAutoFit/>
          </a:bodyPr>
          <a:lstStyle/>
          <a:p>
            <a:pPr algn="r">
              <a:lnSpc>
                <a:spcPts val="4680"/>
              </a:lnSpc>
            </a:pPr>
            <a:r>
              <a:rPr lang="en-US" sz="3900" b="true">
                <a:solidFill>
                  <a:srgbClr val="F5582E"/>
                </a:solidFill>
                <a:latin typeface="Helvetica World Bold"/>
                <a:ea typeface="Helvetica World Bold"/>
                <a:cs typeface="Helvetica World Bold"/>
                <a:sym typeface="Helvetica World Bold"/>
              </a:rPr>
              <a:t>0,8818</a:t>
            </a:r>
          </a:p>
        </p:txBody>
      </p:sp>
      <p:sp>
        <p:nvSpPr>
          <p:cNvPr name="TextBox 22" id="22"/>
          <p:cNvSpPr txBox="true"/>
          <p:nvPr/>
        </p:nvSpPr>
        <p:spPr>
          <a:xfrm rot="0">
            <a:off x="10629900" y="6309360"/>
            <a:ext cx="6446520" cy="246888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E059: training loss turun 0,4856 → 0,0773 (epoch 1–4), tetapi Macro-F1 validasi puncak 0,8293 di epoch 2, lalu 0,8197 dan 0,8097.</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23</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A10</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EKSPERIMEN BASELINE</a:t>
            </a:r>
          </a:p>
          <a:p>
            <a:pPr algn="l">
              <a:lnSpc>
                <a:spcPts val="4788"/>
              </a:lnSpc>
            </a:pPr>
            <a:r>
              <a:rPr lang="en-US" sz="4200" i="true">
                <a:solidFill>
                  <a:srgbClr val="000000"/>
                </a:solidFill>
                <a:latin typeface="Noto Serif Italics"/>
                <a:ea typeface="Noto Serif Italics"/>
                <a:cs typeface="Noto Serif Italics"/>
                <a:sym typeface="Noto Serif Italics"/>
              </a:rPr>
              <a:t>Konvensional.</a:t>
            </a:r>
          </a:p>
        </p:txBody>
      </p:sp>
      <p:graphicFrame>
        <p:nvGraphicFramePr>
          <p:cNvPr name="Table 9" id="9"/>
          <p:cNvGraphicFramePr>
            <a:graphicFrameLocks noGrp="true"/>
          </p:cNvGraphicFramePr>
          <p:nvPr/>
        </p:nvGraphicFramePr>
        <p:xfrm>
          <a:off x="822960" y="3154680"/>
          <a:ext cx="11239500" cy="4876800"/>
        </p:xfrm>
        <a:graphic>
          <a:graphicData uri="http://schemas.openxmlformats.org/drawingml/2006/table">
            <a:tbl>
              <a:tblPr/>
              <a:tblGrid>
                <a:gridCol w="5482683"/>
                <a:gridCol w="2878409"/>
                <a:gridCol w="2878409"/>
              </a:tblGrid>
              <a:tr h="609600">
                <a:tc>
                  <a:txBody>
                    <a:bodyPr anchor="t" rtlCol="false"/>
                    <a:lstStyle/>
                    <a:p>
                      <a:pPr algn="l">
                        <a:lnSpc>
                          <a:spcPts val="2340"/>
                        </a:lnSpc>
                        <a:defRPr/>
                      </a:pPr>
                      <a:r>
                        <a:rPr lang="en-US" sz="1950" b="true">
                          <a:solidFill>
                            <a:srgbClr val="F5582E"/>
                          </a:solidFill>
                          <a:latin typeface="Helvetica World Bold"/>
                          <a:ea typeface="Helvetica World Bold"/>
                          <a:cs typeface="Helvetica World Bold"/>
                          <a:sym typeface="Helvetica World Bold"/>
                        </a:rPr>
                        <a:t>Variasi Input (TF-IDF + Logistic Regression)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Macro-F1 Hatefulness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b="true">
                          <a:solidFill>
                            <a:srgbClr val="F5582E"/>
                          </a:solidFill>
                          <a:latin typeface="Helvetica World Bold"/>
                          <a:ea typeface="Helvetica World Bold"/>
                          <a:cs typeface="Helvetica World Bold"/>
                          <a:sym typeface="Helvetica World Bold"/>
                        </a:rPr>
                        <a:t>Macro-F1 Appropriateness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Majority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0,3978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0,3609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OCR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0,7287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0,6822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Caption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0,7333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0,7147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Caption + OCR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0,7551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Caption + Topic</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0,7805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0,7453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OCR + Topic</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0,7649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0,7487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5F5F5"/>
                    </a:solidFill>
                  </a:tcPr>
                </a:tc>
              </a:tr>
              <a:tr h="609600">
                <a:tc>
                  <a:txBody>
                    <a:bodyPr anchor="t" rtlCol="false"/>
                    <a:lstStyle/>
                    <a:p>
                      <a:pPr algn="l">
                        <a:lnSpc>
                          <a:spcPts val="2340"/>
                        </a:lnSpc>
                        <a:defRPr/>
                      </a:pPr>
                      <a:r>
                        <a:rPr lang="en-US" sz="1950">
                          <a:solidFill>
                            <a:srgbClr val="000000"/>
                          </a:solidFill>
                          <a:latin typeface="Helvetica World"/>
                          <a:ea typeface="Helvetica World"/>
                          <a:cs typeface="Helvetica World"/>
                          <a:sym typeface="Helvetica World"/>
                        </a:rPr>
                        <a:t>Caption + OCR + Topic</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0,7873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000000"/>
                          </a:solidFill>
                          <a:latin typeface="Helvetica World"/>
                          <a:ea typeface="Helvetica World"/>
                          <a:cs typeface="Helvetica World"/>
                          <a:sym typeface="Helvetica World"/>
                        </a:rPr>
                        <a:t>0,7561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6350">
                      <a:solidFill>
                        <a:srgbClr val="BBBBBB"/>
                      </a:solidFill>
                      <a:prstDash val="solid"/>
                      <a:round/>
                      <a:headEnd type="none" w="med" len="med"/>
                      <a:tailEnd type="none" w="med" len="med"/>
                    </a:lnB>
                    <a:solidFill>
                      <a:srgbClr val="FFFFFF"/>
                    </a:solidFill>
                  </a:tcPr>
                </a:tc>
              </a:tr>
            </a:tbl>
          </a:graphicData>
        </a:graphic>
      </p:graphicFrame>
      <p:grpSp>
        <p:nvGrpSpPr>
          <p:cNvPr name="Group 10" id="10"/>
          <p:cNvGrpSpPr/>
          <p:nvPr/>
        </p:nvGrpSpPr>
        <p:grpSpPr>
          <a:xfrm rot="0">
            <a:off x="12474416" y="3147536"/>
            <a:ext cx="4952047" cy="4952047"/>
            <a:chOff x="0" y="0"/>
            <a:chExt cx="6602730" cy="6602730"/>
          </a:xfrm>
        </p:grpSpPr>
        <p:sp>
          <p:nvSpPr>
            <p:cNvPr name="Freeform 11" id="11"/>
            <p:cNvSpPr/>
            <p:nvPr/>
          </p:nvSpPr>
          <p:spPr>
            <a:xfrm flipH="false" flipV="false" rot="0">
              <a:off x="0" y="0"/>
              <a:ext cx="6602730" cy="6602730"/>
            </a:xfrm>
            <a:custGeom>
              <a:avLst/>
              <a:gdLst/>
              <a:ahLst/>
              <a:cxnLst/>
              <a:rect r="r" b="b" t="t" l="l"/>
              <a:pathLst>
                <a:path h="6602730" w="6602730">
                  <a:moveTo>
                    <a:pt x="0" y="220091"/>
                  </a:moveTo>
                  <a:cubicBezTo>
                    <a:pt x="0" y="98552"/>
                    <a:pt x="98552" y="0"/>
                    <a:pt x="220091" y="0"/>
                  </a:cubicBezTo>
                  <a:lnTo>
                    <a:pt x="6382639" y="0"/>
                  </a:lnTo>
                  <a:cubicBezTo>
                    <a:pt x="6504178" y="0"/>
                    <a:pt x="6602730" y="98552"/>
                    <a:pt x="6602730" y="220091"/>
                  </a:cubicBezTo>
                  <a:lnTo>
                    <a:pt x="6602730" y="6382639"/>
                  </a:lnTo>
                  <a:cubicBezTo>
                    <a:pt x="6602730" y="6504178"/>
                    <a:pt x="6504178" y="6602730"/>
                    <a:pt x="6382639" y="6602730"/>
                  </a:cubicBezTo>
                  <a:lnTo>
                    <a:pt x="220091" y="6602730"/>
                  </a:lnTo>
                  <a:cubicBezTo>
                    <a:pt x="98552" y="6602730"/>
                    <a:pt x="0" y="6504178"/>
                    <a:pt x="0" y="6382639"/>
                  </a:cubicBezTo>
                  <a:close/>
                </a:path>
              </a:pathLst>
            </a:custGeom>
            <a:solidFill>
              <a:srgbClr val="FFFFFF"/>
            </a:solidFill>
            <a:ln w="14288" cap="sq">
              <a:solidFill>
                <a:srgbClr val="000000"/>
              </a:solidFill>
              <a:prstDash val="solid"/>
              <a:miter/>
            </a:ln>
          </p:spPr>
        </p:sp>
      </p:grpSp>
      <p:grpSp>
        <p:nvGrpSpPr>
          <p:cNvPr name="Group 12" id="12"/>
          <p:cNvGrpSpPr/>
          <p:nvPr/>
        </p:nvGrpSpPr>
        <p:grpSpPr>
          <a:xfrm rot="0">
            <a:off x="12474416" y="3147536"/>
            <a:ext cx="4952047" cy="453200"/>
            <a:chOff x="0" y="0"/>
            <a:chExt cx="6602730" cy="604266"/>
          </a:xfrm>
        </p:grpSpPr>
        <p:sp>
          <p:nvSpPr>
            <p:cNvPr name="Freeform 13" id="13"/>
            <p:cNvSpPr/>
            <p:nvPr/>
          </p:nvSpPr>
          <p:spPr>
            <a:xfrm flipH="false" flipV="false" rot="0">
              <a:off x="0" y="0"/>
              <a:ext cx="6602730" cy="604266"/>
            </a:xfrm>
            <a:custGeom>
              <a:avLst/>
              <a:gdLst/>
              <a:ahLst/>
              <a:cxnLst/>
              <a:rect r="r" b="b" t="t" l="l"/>
              <a:pathLst>
                <a:path h="604266" w="6602730">
                  <a:moveTo>
                    <a:pt x="0" y="226568"/>
                  </a:moveTo>
                  <a:cubicBezTo>
                    <a:pt x="0" y="101473"/>
                    <a:pt x="101473" y="0"/>
                    <a:pt x="226568" y="0"/>
                  </a:cubicBezTo>
                  <a:lnTo>
                    <a:pt x="6376162" y="0"/>
                  </a:lnTo>
                  <a:cubicBezTo>
                    <a:pt x="6501257" y="0"/>
                    <a:pt x="6602730" y="101473"/>
                    <a:pt x="6602730" y="226568"/>
                  </a:cubicBezTo>
                  <a:lnTo>
                    <a:pt x="6602730" y="377698"/>
                  </a:lnTo>
                  <a:cubicBezTo>
                    <a:pt x="6602730" y="502793"/>
                    <a:pt x="6501257" y="604266"/>
                    <a:pt x="6376162" y="604266"/>
                  </a:cubicBezTo>
                  <a:lnTo>
                    <a:pt x="226568" y="604266"/>
                  </a:lnTo>
                  <a:cubicBezTo>
                    <a:pt x="101473" y="604266"/>
                    <a:pt x="0" y="502793"/>
                    <a:pt x="0" y="377698"/>
                  </a:cubicBezTo>
                  <a:close/>
                </a:path>
              </a:pathLst>
            </a:custGeom>
            <a:solidFill>
              <a:srgbClr val="141221"/>
            </a:solidFill>
            <a:ln w="14288" cap="sq">
              <a:solidFill>
                <a:srgbClr val="000000"/>
              </a:solidFill>
              <a:prstDash val="solid"/>
              <a:miter/>
            </a:ln>
          </p:spPr>
        </p:sp>
      </p:grpSp>
      <p:grpSp>
        <p:nvGrpSpPr>
          <p:cNvPr name="Group 14" id="14"/>
          <p:cNvGrpSpPr/>
          <p:nvPr/>
        </p:nvGrpSpPr>
        <p:grpSpPr>
          <a:xfrm rot="0">
            <a:off x="12485751" y="3364611"/>
            <a:ext cx="4929378" cy="238506"/>
            <a:chOff x="0" y="0"/>
            <a:chExt cx="6572504" cy="318008"/>
          </a:xfrm>
        </p:grpSpPr>
        <p:sp>
          <p:nvSpPr>
            <p:cNvPr name="Freeform 15" id="15"/>
            <p:cNvSpPr/>
            <p:nvPr/>
          </p:nvSpPr>
          <p:spPr>
            <a:xfrm flipH="false" flipV="false" rot="0">
              <a:off x="0" y="0"/>
              <a:ext cx="6572504" cy="318008"/>
            </a:xfrm>
            <a:custGeom>
              <a:avLst/>
              <a:gdLst/>
              <a:ahLst/>
              <a:cxnLst/>
              <a:rect r="r" b="b" t="t" l="l"/>
              <a:pathLst>
                <a:path h="318008" w="6572504">
                  <a:moveTo>
                    <a:pt x="0" y="0"/>
                  </a:moveTo>
                  <a:lnTo>
                    <a:pt x="6572504" y="0"/>
                  </a:lnTo>
                  <a:lnTo>
                    <a:pt x="6572504" y="318008"/>
                  </a:lnTo>
                  <a:lnTo>
                    <a:pt x="0" y="318008"/>
                  </a:lnTo>
                  <a:close/>
                </a:path>
              </a:pathLst>
            </a:custGeom>
            <a:solidFill>
              <a:srgbClr val="141221"/>
            </a:solidFill>
            <a:ln w="19050" cap="sq">
              <a:solidFill>
                <a:srgbClr val="141221"/>
              </a:solidFill>
              <a:prstDash val="solid"/>
              <a:miter/>
            </a:ln>
          </p:spPr>
        </p:sp>
      </p:grpSp>
      <p:sp>
        <p:nvSpPr>
          <p:cNvPr name="AutoShape 16" id="16"/>
          <p:cNvSpPr/>
          <p:nvPr/>
        </p:nvSpPr>
        <p:spPr>
          <a:xfrm rot="9900">
            <a:off x="12474407" y="3588829"/>
            <a:ext cx="4952067" cy="0"/>
          </a:xfrm>
          <a:prstGeom prst="line">
            <a:avLst/>
          </a:prstGeom>
          <a:ln cap="rnd" w="9525">
            <a:solidFill>
              <a:srgbClr val="000000"/>
            </a:solidFill>
            <a:prstDash val="solid"/>
            <a:headEnd type="none" len="sm" w="sm"/>
            <a:tailEnd type="none" len="sm" w="sm"/>
          </a:ln>
        </p:spPr>
      </p:sp>
      <p:sp>
        <p:nvSpPr>
          <p:cNvPr name="TextBox 17" id="17"/>
          <p:cNvSpPr txBox="true"/>
          <p:nvPr/>
        </p:nvSpPr>
        <p:spPr>
          <a:xfrm rot="0">
            <a:off x="12755880" y="3840480"/>
            <a:ext cx="4389120" cy="411480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Seluruh nilai adalah Macro-F1 pada validation set. Tidak dapat dibandingkan langsung dengan hasil uji deep learning. IndoBERTweet: 0,8208 (Hate) dan 0,7924 (Inapp.) pada validasi; selisih 3,35 dan 3,62 pp.</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24</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A11</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KENDALA TEKNIS</a:t>
            </a:r>
          </a:p>
          <a:p>
            <a:pPr algn="l">
              <a:lnSpc>
                <a:spcPts val="4788"/>
              </a:lnSpc>
            </a:pPr>
            <a:r>
              <a:rPr lang="en-US" sz="4200" i="true">
                <a:solidFill>
                  <a:srgbClr val="000000"/>
                </a:solidFill>
                <a:latin typeface="Noto Serif Italics"/>
                <a:ea typeface="Noto Serif Italics"/>
                <a:cs typeface="Noto Serif Italics"/>
                <a:sym typeface="Noto Serif Italics"/>
              </a:rPr>
              <a:t>dan Keterbatasan Reproduksi.</a:t>
            </a:r>
          </a:p>
        </p:txBody>
      </p:sp>
      <p:grpSp>
        <p:nvGrpSpPr>
          <p:cNvPr name="Group 9" id="9"/>
          <p:cNvGrpSpPr/>
          <p:nvPr/>
        </p:nvGrpSpPr>
        <p:grpSpPr>
          <a:xfrm rot="0">
            <a:off x="815816" y="3147536"/>
            <a:ext cx="5363528" cy="2894648"/>
            <a:chOff x="0" y="0"/>
            <a:chExt cx="7151370" cy="3859530"/>
          </a:xfrm>
        </p:grpSpPr>
        <p:sp>
          <p:nvSpPr>
            <p:cNvPr name="Freeform 10" id="10"/>
            <p:cNvSpPr/>
            <p:nvPr/>
          </p:nvSpPr>
          <p:spPr>
            <a:xfrm flipH="false" flipV="false" rot="0">
              <a:off x="0" y="0"/>
              <a:ext cx="7151370" cy="3859530"/>
            </a:xfrm>
            <a:custGeom>
              <a:avLst/>
              <a:gdLst/>
              <a:ahLst/>
              <a:cxnLst/>
              <a:rect r="r" b="b" t="t" l="l"/>
              <a:pathLst>
                <a:path h="3859530" w="7151370">
                  <a:moveTo>
                    <a:pt x="0" y="220472"/>
                  </a:moveTo>
                  <a:cubicBezTo>
                    <a:pt x="0" y="98679"/>
                    <a:pt x="98679" y="0"/>
                    <a:pt x="220472" y="0"/>
                  </a:cubicBezTo>
                  <a:lnTo>
                    <a:pt x="6930898" y="0"/>
                  </a:lnTo>
                  <a:cubicBezTo>
                    <a:pt x="7052691" y="0"/>
                    <a:pt x="7151370" y="98679"/>
                    <a:pt x="7151370" y="220472"/>
                  </a:cubicBezTo>
                  <a:lnTo>
                    <a:pt x="7151370" y="3639058"/>
                  </a:lnTo>
                  <a:cubicBezTo>
                    <a:pt x="7151370" y="3760851"/>
                    <a:pt x="7052691" y="3859530"/>
                    <a:pt x="6930898" y="3859530"/>
                  </a:cubicBezTo>
                  <a:lnTo>
                    <a:pt x="220472" y="3859530"/>
                  </a:lnTo>
                  <a:cubicBezTo>
                    <a:pt x="98679" y="3859530"/>
                    <a:pt x="0" y="3760851"/>
                    <a:pt x="0" y="3639058"/>
                  </a:cubicBezTo>
                  <a:close/>
                </a:path>
              </a:pathLst>
            </a:custGeom>
            <a:solidFill>
              <a:srgbClr val="FFFFFF"/>
            </a:solidFill>
            <a:ln w="14288" cap="sq">
              <a:solidFill>
                <a:srgbClr val="000000"/>
              </a:solidFill>
              <a:prstDash val="solid"/>
              <a:miter/>
            </a:ln>
          </p:spPr>
        </p:sp>
      </p:grpSp>
      <p:grpSp>
        <p:nvGrpSpPr>
          <p:cNvPr name="Group 11" id="11"/>
          <p:cNvGrpSpPr/>
          <p:nvPr/>
        </p:nvGrpSpPr>
        <p:grpSpPr>
          <a:xfrm rot="0">
            <a:off x="815816" y="3147536"/>
            <a:ext cx="5363528" cy="453200"/>
            <a:chOff x="0" y="0"/>
            <a:chExt cx="7151370" cy="604266"/>
          </a:xfrm>
        </p:grpSpPr>
        <p:sp>
          <p:nvSpPr>
            <p:cNvPr name="Freeform 12" id="12"/>
            <p:cNvSpPr/>
            <p:nvPr/>
          </p:nvSpPr>
          <p:spPr>
            <a:xfrm flipH="false" flipV="false" rot="0">
              <a:off x="0" y="0"/>
              <a:ext cx="7151370" cy="604266"/>
            </a:xfrm>
            <a:custGeom>
              <a:avLst/>
              <a:gdLst/>
              <a:ahLst/>
              <a:cxnLst/>
              <a:rect r="r" b="b" t="t" l="l"/>
              <a:pathLst>
                <a:path h="604266" w="7151370">
                  <a:moveTo>
                    <a:pt x="0" y="226568"/>
                  </a:moveTo>
                  <a:cubicBezTo>
                    <a:pt x="0" y="101473"/>
                    <a:pt x="101473" y="0"/>
                    <a:pt x="226568" y="0"/>
                  </a:cubicBezTo>
                  <a:lnTo>
                    <a:pt x="6924802" y="0"/>
                  </a:lnTo>
                  <a:cubicBezTo>
                    <a:pt x="7049897" y="0"/>
                    <a:pt x="7151370" y="101473"/>
                    <a:pt x="7151370" y="226568"/>
                  </a:cubicBezTo>
                  <a:lnTo>
                    <a:pt x="7151370" y="377698"/>
                  </a:lnTo>
                  <a:cubicBezTo>
                    <a:pt x="7151370" y="502793"/>
                    <a:pt x="7049897" y="604266"/>
                    <a:pt x="69248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13" id="13"/>
          <p:cNvGrpSpPr/>
          <p:nvPr/>
        </p:nvGrpSpPr>
        <p:grpSpPr>
          <a:xfrm rot="0">
            <a:off x="827151" y="3364611"/>
            <a:ext cx="5340858" cy="238506"/>
            <a:chOff x="0" y="0"/>
            <a:chExt cx="7121144" cy="318008"/>
          </a:xfrm>
        </p:grpSpPr>
        <p:sp>
          <p:nvSpPr>
            <p:cNvPr name="Freeform 14" id="14"/>
            <p:cNvSpPr/>
            <p:nvPr/>
          </p:nvSpPr>
          <p:spPr>
            <a:xfrm flipH="false" flipV="false" rot="0">
              <a:off x="0" y="0"/>
              <a:ext cx="7121144" cy="318008"/>
            </a:xfrm>
            <a:custGeom>
              <a:avLst/>
              <a:gdLst/>
              <a:ahLst/>
              <a:cxnLst/>
              <a:rect r="r" b="b" t="t" l="l"/>
              <a:pathLst>
                <a:path h="318008" w="7121144">
                  <a:moveTo>
                    <a:pt x="0" y="0"/>
                  </a:moveTo>
                  <a:lnTo>
                    <a:pt x="7121144" y="0"/>
                  </a:lnTo>
                  <a:lnTo>
                    <a:pt x="7121144" y="318008"/>
                  </a:lnTo>
                  <a:lnTo>
                    <a:pt x="0" y="318008"/>
                  </a:lnTo>
                  <a:close/>
                </a:path>
              </a:pathLst>
            </a:custGeom>
            <a:solidFill>
              <a:srgbClr val="F5582E"/>
            </a:solidFill>
            <a:ln w="19050" cap="sq">
              <a:solidFill>
                <a:srgbClr val="F5582E"/>
              </a:solidFill>
              <a:prstDash val="solid"/>
              <a:miter/>
            </a:ln>
          </p:spPr>
        </p:sp>
      </p:grpSp>
      <p:sp>
        <p:nvSpPr>
          <p:cNvPr name="AutoShape 15" id="15"/>
          <p:cNvSpPr/>
          <p:nvPr/>
        </p:nvSpPr>
        <p:spPr>
          <a:xfrm rot="9180">
            <a:off x="815807" y="3588829"/>
            <a:ext cx="5363547" cy="0"/>
          </a:xfrm>
          <a:prstGeom prst="line">
            <a:avLst/>
          </a:prstGeom>
          <a:ln cap="rnd" w="9525">
            <a:solidFill>
              <a:srgbClr val="000000"/>
            </a:solidFill>
            <a:prstDash val="solid"/>
            <a:headEnd type="none" len="sm" w="sm"/>
            <a:tailEnd type="none" len="sm" w="sm"/>
          </a:ln>
        </p:spPr>
      </p:sp>
      <p:sp>
        <p:nvSpPr>
          <p:cNvPr name="TextBox 16" id="16"/>
          <p:cNvSpPr txBox="true"/>
          <p:nvPr/>
        </p:nvSpPr>
        <p:spPr>
          <a:xfrm rot="0">
            <a:off x="1165860" y="3840480"/>
            <a:ext cx="46634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Memori GPU</a:t>
            </a:r>
          </a:p>
        </p:txBody>
      </p:sp>
      <p:sp>
        <p:nvSpPr>
          <p:cNvPr name="TextBox 17" id="17"/>
          <p:cNvSpPr txBox="true"/>
          <p:nvPr/>
        </p:nvSpPr>
        <p:spPr>
          <a:xfrm rot="0">
            <a:off x="1165860" y="4389120"/>
            <a:ext cx="4663440" cy="150876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Out of memory pada konfigurasi dua encoder.</a:t>
            </a:r>
          </a:p>
        </p:txBody>
      </p:sp>
      <p:grpSp>
        <p:nvGrpSpPr>
          <p:cNvPr name="Group 18" id="18"/>
          <p:cNvGrpSpPr/>
          <p:nvPr/>
        </p:nvGrpSpPr>
        <p:grpSpPr>
          <a:xfrm rot="0">
            <a:off x="6439376" y="3147536"/>
            <a:ext cx="5363528" cy="2894648"/>
            <a:chOff x="0" y="0"/>
            <a:chExt cx="7151370" cy="3859530"/>
          </a:xfrm>
        </p:grpSpPr>
        <p:sp>
          <p:nvSpPr>
            <p:cNvPr name="Freeform 19" id="19"/>
            <p:cNvSpPr/>
            <p:nvPr/>
          </p:nvSpPr>
          <p:spPr>
            <a:xfrm flipH="false" flipV="false" rot="0">
              <a:off x="0" y="0"/>
              <a:ext cx="7151370" cy="3859530"/>
            </a:xfrm>
            <a:custGeom>
              <a:avLst/>
              <a:gdLst/>
              <a:ahLst/>
              <a:cxnLst/>
              <a:rect r="r" b="b" t="t" l="l"/>
              <a:pathLst>
                <a:path h="3859530" w="7151370">
                  <a:moveTo>
                    <a:pt x="0" y="220472"/>
                  </a:moveTo>
                  <a:cubicBezTo>
                    <a:pt x="0" y="98679"/>
                    <a:pt x="98679" y="0"/>
                    <a:pt x="220472" y="0"/>
                  </a:cubicBezTo>
                  <a:lnTo>
                    <a:pt x="6930898" y="0"/>
                  </a:lnTo>
                  <a:cubicBezTo>
                    <a:pt x="7052691" y="0"/>
                    <a:pt x="7151370" y="98679"/>
                    <a:pt x="7151370" y="220472"/>
                  </a:cubicBezTo>
                  <a:lnTo>
                    <a:pt x="7151370" y="3639058"/>
                  </a:lnTo>
                  <a:cubicBezTo>
                    <a:pt x="7151370" y="3760851"/>
                    <a:pt x="7052691" y="3859530"/>
                    <a:pt x="6930898" y="3859530"/>
                  </a:cubicBezTo>
                  <a:lnTo>
                    <a:pt x="220472" y="3859530"/>
                  </a:lnTo>
                  <a:cubicBezTo>
                    <a:pt x="98679" y="3859530"/>
                    <a:pt x="0" y="3760851"/>
                    <a:pt x="0" y="3639058"/>
                  </a:cubicBezTo>
                  <a:close/>
                </a:path>
              </a:pathLst>
            </a:custGeom>
            <a:solidFill>
              <a:srgbClr val="FFFFFF"/>
            </a:solidFill>
            <a:ln w="14288" cap="sq">
              <a:solidFill>
                <a:srgbClr val="000000"/>
              </a:solidFill>
              <a:prstDash val="solid"/>
              <a:miter/>
            </a:ln>
          </p:spPr>
        </p:sp>
      </p:grpSp>
      <p:sp>
        <p:nvSpPr>
          <p:cNvPr name="TextBox 20" id="20"/>
          <p:cNvSpPr txBox="true"/>
          <p:nvPr/>
        </p:nvSpPr>
        <p:spPr>
          <a:xfrm rot="0">
            <a:off x="6789420" y="3840480"/>
            <a:ext cx="46634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Penyesuaian batch</a:t>
            </a:r>
          </a:p>
        </p:txBody>
      </p:sp>
      <p:sp>
        <p:nvSpPr>
          <p:cNvPr name="TextBox 21" id="21"/>
          <p:cNvSpPr txBox="true"/>
          <p:nvPr/>
        </p:nvSpPr>
        <p:spPr>
          <a:xfrm rot="0">
            <a:off x="6789420" y="4389120"/>
            <a:ext cx="4663440" cy="150876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Batch fisik 1×8 atau 2×4; batch efektif sekitar 8.</a:t>
            </a:r>
          </a:p>
        </p:txBody>
      </p:sp>
      <p:grpSp>
        <p:nvGrpSpPr>
          <p:cNvPr name="Group 22" id="22"/>
          <p:cNvGrpSpPr/>
          <p:nvPr/>
        </p:nvGrpSpPr>
        <p:grpSpPr>
          <a:xfrm rot="0">
            <a:off x="12062936" y="3147536"/>
            <a:ext cx="5363528" cy="2894648"/>
            <a:chOff x="0" y="0"/>
            <a:chExt cx="7151370" cy="3859530"/>
          </a:xfrm>
        </p:grpSpPr>
        <p:sp>
          <p:nvSpPr>
            <p:cNvPr name="Freeform 23" id="23"/>
            <p:cNvSpPr/>
            <p:nvPr/>
          </p:nvSpPr>
          <p:spPr>
            <a:xfrm flipH="false" flipV="false" rot="0">
              <a:off x="0" y="0"/>
              <a:ext cx="7151370" cy="3859530"/>
            </a:xfrm>
            <a:custGeom>
              <a:avLst/>
              <a:gdLst/>
              <a:ahLst/>
              <a:cxnLst/>
              <a:rect r="r" b="b" t="t" l="l"/>
              <a:pathLst>
                <a:path h="3859530" w="7151370">
                  <a:moveTo>
                    <a:pt x="0" y="220472"/>
                  </a:moveTo>
                  <a:cubicBezTo>
                    <a:pt x="0" y="98679"/>
                    <a:pt x="98679" y="0"/>
                    <a:pt x="220472" y="0"/>
                  </a:cubicBezTo>
                  <a:lnTo>
                    <a:pt x="6930898" y="0"/>
                  </a:lnTo>
                  <a:cubicBezTo>
                    <a:pt x="7052691" y="0"/>
                    <a:pt x="7151370" y="98679"/>
                    <a:pt x="7151370" y="220472"/>
                  </a:cubicBezTo>
                  <a:lnTo>
                    <a:pt x="7151370" y="3639058"/>
                  </a:lnTo>
                  <a:cubicBezTo>
                    <a:pt x="7151370" y="3760851"/>
                    <a:pt x="7052691" y="3859530"/>
                    <a:pt x="6930898" y="3859530"/>
                  </a:cubicBezTo>
                  <a:lnTo>
                    <a:pt x="220472" y="3859530"/>
                  </a:lnTo>
                  <a:cubicBezTo>
                    <a:pt x="98679" y="3859530"/>
                    <a:pt x="0" y="3760851"/>
                    <a:pt x="0" y="3639058"/>
                  </a:cubicBezTo>
                  <a:close/>
                </a:path>
              </a:pathLst>
            </a:custGeom>
            <a:solidFill>
              <a:srgbClr val="FFFFFF"/>
            </a:solidFill>
            <a:ln w="14288" cap="sq">
              <a:solidFill>
                <a:srgbClr val="000000"/>
              </a:solidFill>
              <a:prstDash val="solid"/>
              <a:miter/>
            </a:ln>
          </p:spPr>
        </p:sp>
      </p:grpSp>
      <p:grpSp>
        <p:nvGrpSpPr>
          <p:cNvPr name="Group 24" id="24"/>
          <p:cNvGrpSpPr/>
          <p:nvPr/>
        </p:nvGrpSpPr>
        <p:grpSpPr>
          <a:xfrm rot="0">
            <a:off x="12062936" y="3147536"/>
            <a:ext cx="5363528" cy="453200"/>
            <a:chOff x="0" y="0"/>
            <a:chExt cx="7151370" cy="604266"/>
          </a:xfrm>
        </p:grpSpPr>
        <p:sp>
          <p:nvSpPr>
            <p:cNvPr name="Freeform 25" id="25"/>
            <p:cNvSpPr/>
            <p:nvPr/>
          </p:nvSpPr>
          <p:spPr>
            <a:xfrm flipH="false" flipV="false" rot="0">
              <a:off x="0" y="0"/>
              <a:ext cx="7151370" cy="604266"/>
            </a:xfrm>
            <a:custGeom>
              <a:avLst/>
              <a:gdLst/>
              <a:ahLst/>
              <a:cxnLst/>
              <a:rect r="r" b="b" t="t" l="l"/>
              <a:pathLst>
                <a:path h="604266" w="7151370">
                  <a:moveTo>
                    <a:pt x="0" y="226568"/>
                  </a:moveTo>
                  <a:cubicBezTo>
                    <a:pt x="0" y="101473"/>
                    <a:pt x="101473" y="0"/>
                    <a:pt x="226568" y="0"/>
                  </a:cubicBezTo>
                  <a:lnTo>
                    <a:pt x="6924802" y="0"/>
                  </a:lnTo>
                  <a:cubicBezTo>
                    <a:pt x="7049897" y="0"/>
                    <a:pt x="7151370" y="101473"/>
                    <a:pt x="7151370" y="226568"/>
                  </a:cubicBezTo>
                  <a:lnTo>
                    <a:pt x="7151370" y="377698"/>
                  </a:lnTo>
                  <a:cubicBezTo>
                    <a:pt x="7151370" y="502793"/>
                    <a:pt x="7049897" y="604266"/>
                    <a:pt x="69248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26" id="26"/>
          <p:cNvGrpSpPr/>
          <p:nvPr/>
        </p:nvGrpSpPr>
        <p:grpSpPr>
          <a:xfrm rot="0">
            <a:off x="12074271" y="3364611"/>
            <a:ext cx="5340858" cy="238506"/>
            <a:chOff x="0" y="0"/>
            <a:chExt cx="7121144" cy="318008"/>
          </a:xfrm>
        </p:grpSpPr>
        <p:sp>
          <p:nvSpPr>
            <p:cNvPr name="Freeform 27" id="27"/>
            <p:cNvSpPr/>
            <p:nvPr/>
          </p:nvSpPr>
          <p:spPr>
            <a:xfrm flipH="false" flipV="false" rot="0">
              <a:off x="0" y="0"/>
              <a:ext cx="7121144" cy="318008"/>
            </a:xfrm>
            <a:custGeom>
              <a:avLst/>
              <a:gdLst/>
              <a:ahLst/>
              <a:cxnLst/>
              <a:rect r="r" b="b" t="t" l="l"/>
              <a:pathLst>
                <a:path h="318008" w="7121144">
                  <a:moveTo>
                    <a:pt x="0" y="0"/>
                  </a:moveTo>
                  <a:lnTo>
                    <a:pt x="7121144" y="0"/>
                  </a:lnTo>
                  <a:lnTo>
                    <a:pt x="7121144" y="318008"/>
                  </a:lnTo>
                  <a:lnTo>
                    <a:pt x="0" y="318008"/>
                  </a:lnTo>
                  <a:close/>
                </a:path>
              </a:pathLst>
            </a:custGeom>
            <a:solidFill>
              <a:srgbClr val="F5582E"/>
            </a:solidFill>
            <a:ln w="19050" cap="sq">
              <a:solidFill>
                <a:srgbClr val="F5582E"/>
              </a:solidFill>
              <a:prstDash val="solid"/>
              <a:miter/>
            </a:ln>
          </p:spPr>
        </p:sp>
      </p:grpSp>
      <p:sp>
        <p:nvSpPr>
          <p:cNvPr name="AutoShape 28" id="28"/>
          <p:cNvSpPr/>
          <p:nvPr/>
        </p:nvSpPr>
        <p:spPr>
          <a:xfrm rot="9180">
            <a:off x="12062927" y="3588829"/>
            <a:ext cx="5363547" cy="0"/>
          </a:xfrm>
          <a:prstGeom prst="line">
            <a:avLst/>
          </a:prstGeom>
          <a:ln cap="rnd" w="9525">
            <a:solidFill>
              <a:srgbClr val="000000"/>
            </a:solidFill>
            <a:prstDash val="solid"/>
            <a:headEnd type="none" len="sm" w="sm"/>
            <a:tailEnd type="none" len="sm" w="sm"/>
          </a:ln>
        </p:spPr>
      </p:sp>
      <p:sp>
        <p:nvSpPr>
          <p:cNvPr name="TextBox 29" id="29"/>
          <p:cNvSpPr txBox="true"/>
          <p:nvPr/>
        </p:nvSpPr>
        <p:spPr>
          <a:xfrm rot="0">
            <a:off x="12412980" y="3840480"/>
            <a:ext cx="46634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Checkpoint</a:t>
            </a:r>
          </a:p>
        </p:txBody>
      </p:sp>
      <p:sp>
        <p:nvSpPr>
          <p:cNvPr name="TextBox 30" id="30"/>
          <p:cNvSpPr txBox="true"/>
          <p:nvPr/>
        </p:nvSpPr>
        <p:spPr>
          <a:xfrm rot="0">
            <a:off x="12412980" y="4389120"/>
            <a:ext cx="4663440" cy="150876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8 best checkpoint diperiksa (hash, CPU); verifikasi server terkendala akses SSH.</a:t>
            </a:r>
          </a:p>
        </p:txBody>
      </p:sp>
      <p:grpSp>
        <p:nvGrpSpPr>
          <p:cNvPr name="Group 31" id="31"/>
          <p:cNvGrpSpPr/>
          <p:nvPr/>
        </p:nvGrpSpPr>
        <p:grpSpPr>
          <a:xfrm rot="0">
            <a:off x="815816" y="6302216"/>
            <a:ext cx="5363528" cy="2894648"/>
            <a:chOff x="0" y="0"/>
            <a:chExt cx="7151370" cy="3859530"/>
          </a:xfrm>
        </p:grpSpPr>
        <p:sp>
          <p:nvSpPr>
            <p:cNvPr name="Freeform 32" id="32"/>
            <p:cNvSpPr/>
            <p:nvPr/>
          </p:nvSpPr>
          <p:spPr>
            <a:xfrm flipH="false" flipV="false" rot="0">
              <a:off x="0" y="0"/>
              <a:ext cx="7151370" cy="3859530"/>
            </a:xfrm>
            <a:custGeom>
              <a:avLst/>
              <a:gdLst/>
              <a:ahLst/>
              <a:cxnLst/>
              <a:rect r="r" b="b" t="t" l="l"/>
              <a:pathLst>
                <a:path h="3859530" w="7151370">
                  <a:moveTo>
                    <a:pt x="0" y="220472"/>
                  </a:moveTo>
                  <a:cubicBezTo>
                    <a:pt x="0" y="98679"/>
                    <a:pt x="98679" y="0"/>
                    <a:pt x="220472" y="0"/>
                  </a:cubicBezTo>
                  <a:lnTo>
                    <a:pt x="6930898" y="0"/>
                  </a:lnTo>
                  <a:cubicBezTo>
                    <a:pt x="7052691" y="0"/>
                    <a:pt x="7151370" y="98679"/>
                    <a:pt x="7151370" y="220472"/>
                  </a:cubicBezTo>
                  <a:lnTo>
                    <a:pt x="7151370" y="3639058"/>
                  </a:lnTo>
                  <a:cubicBezTo>
                    <a:pt x="7151370" y="3760851"/>
                    <a:pt x="7052691" y="3859530"/>
                    <a:pt x="6930898" y="3859530"/>
                  </a:cubicBezTo>
                  <a:lnTo>
                    <a:pt x="220472" y="3859530"/>
                  </a:lnTo>
                  <a:cubicBezTo>
                    <a:pt x="98679" y="3859530"/>
                    <a:pt x="0" y="3760851"/>
                    <a:pt x="0" y="3639058"/>
                  </a:cubicBezTo>
                  <a:close/>
                </a:path>
              </a:pathLst>
            </a:custGeom>
            <a:solidFill>
              <a:srgbClr val="FFFFFF"/>
            </a:solidFill>
            <a:ln w="14288" cap="sq">
              <a:solidFill>
                <a:srgbClr val="000000"/>
              </a:solidFill>
              <a:prstDash val="solid"/>
              <a:miter/>
            </a:ln>
          </p:spPr>
        </p:sp>
      </p:grpSp>
      <p:sp>
        <p:nvSpPr>
          <p:cNvPr name="TextBox 33" id="33"/>
          <p:cNvSpPr txBox="true"/>
          <p:nvPr/>
        </p:nvSpPr>
        <p:spPr>
          <a:xfrm rot="0">
            <a:off x="1165860" y="6995160"/>
            <a:ext cx="46634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Duplikasi gambar</a:t>
            </a:r>
          </a:p>
        </p:txBody>
      </p:sp>
      <p:sp>
        <p:nvSpPr>
          <p:cNvPr name="TextBox 34" id="34"/>
          <p:cNvSpPr txBox="true"/>
          <p:nvPr/>
        </p:nvSpPr>
        <p:spPr>
          <a:xfrm rot="0">
            <a:off x="1165860" y="7543800"/>
            <a:ext cx="4663440" cy="150876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2 kelompok identik melintasi train–test.</a:t>
            </a:r>
          </a:p>
        </p:txBody>
      </p:sp>
      <p:grpSp>
        <p:nvGrpSpPr>
          <p:cNvPr name="Group 35" id="35"/>
          <p:cNvGrpSpPr/>
          <p:nvPr/>
        </p:nvGrpSpPr>
        <p:grpSpPr>
          <a:xfrm rot="0">
            <a:off x="6439376" y="6302216"/>
            <a:ext cx="5363528" cy="2894648"/>
            <a:chOff x="0" y="0"/>
            <a:chExt cx="7151370" cy="3859530"/>
          </a:xfrm>
        </p:grpSpPr>
        <p:sp>
          <p:nvSpPr>
            <p:cNvPr name="Freeform 36" id="36"/>
            <p:cNvSpPr/>
            <p:nvPr/>
          </p:nvSpPr>
          <p:spPr>
            <a:xfrm flipH="false" flipV="false" rot="0">
              <a:off x="0" y="0"/>
              <a:ext cx="7151370" cy="3859530"/>
            </a:xfrm>
            <a:custGeom>
              <a:avLst/>
              <a:gdLst/>
              <a:ahLst/>
              <a:cxnLst/>
              <a:rect r="r" b="b" t="t" l="l"/>
              <a:pathLst>
                <a:path h="3859530" w="7151370">
                  <a:moveTo>
                    <a:pt x="0" y="220472"/>
                  </a:moveTo>
                  <a:cubicBezTo>
                    <a:pt x="0" y="98679"/>
                    <a:pt x="98679" y="0"/>
                    <a:pt x="220472" y="0"/>
                  </a:cubicBezTo>
                  <a:lnTo>
                    <a:pt x="6930898" y="0"/>
                  </a:lnTo>
                  <a:cubicBezTo>
                    <a:pt x="7052691" y="0"/>
                    <a:pt x="7151370" y="98679"/>
                    <a:pt x="7151370" y="220472"/>
                  </a:cubicBezTo>
                  <a:lnTo>
                    <a:pt x="7151370" y="3639058"/>
                  </a:lnTo>
                  <a:cubicBezTo>
                    <a:pt x="7151370" y="3760851"/>
                    <a:pt x="7052691" y="3859530"/>
                    <a:pt x="6930898" y="3859530"/>
                  </a:cubicBezTo>
                  <a:lnTo>
                    <a:pt x="220472" y="3859530"/>
                  </a:lnTo>
                  <a:cubicBezTo>
                    <a:pt x="98679" y="3859530"/>
                    <a:pt x="0" y="3760851"/>
                    <a:pt x="0" y="3639058"/>
                  </a:cubicBezTo>
                  <a:close/>
                </a:path>
              </a:pathLst>
            </a:custGeom>
            <a:solidFill>
              <a:srgbClr val="FFFFFF"/>
            </a:solidFill>
            <a:ln w="14288" cap="sq">
              <a:solidFill>
                <a:srgbClr val="000000"/>
              </a:solidFill>
              <a:prstDash val="solid"/>
              <a:miter/>
            </a:ln>
          </p:spPr>
        </p:sp>
      </p:grpSp>
      <p:grpSp>
        <p:nvGrpSpPr>
          <p:cNvPr name="Group 37" id="37"/>
          <p:cNvGrpSpPr/>
          <p:nvPr/>
        </p:nvGrpSpPr>
        <p:grpSpPr>
          <a:xfrm rot="0">
            <a:off x="6439376" y="6302216"/>
            <a:ext cx="5363528" cy="453200"/>
            <a:chOff x="0" y="0"/>
            <a:chExt cx="7151370" cy="604266"/>
          </a:xfrm>
        </p:grpSpPr>
        <p:sp>
          <p:nvSpPr>
            <p:cNvPr name="Freeform 38" id="38"/>
            <p:cNvSpPr/>
            <p:nvPr/>
          </p:nvSpPr>
          <p:spPr>
            <a:xfrm flipH="false" flipV="false" rot="0">
              <a:off x="0" y="0"/>
              <a:ext cx="7151370" cy="604266"/>
            </a:xfrm>
            <a:custGeom>
              <a:avLst/>
              <a:gdLst/>
              <a:ahLst/>
              <a:cxnLst/>
              <a:rect r="r" b="b" t="t" l="l"/>
              <a:pathLst>
                <a:path h="604266" w="7151370">
                  <a:moveTo>
                    <a:pt x="0" y="226568"/>
                  </a:moveTo>
                  <a:cubicBezTo>
                    <a:pt x="0" y="101473"/>
                    <a:pt x="101473" y="0"/>
                    <a:pt x="226568" y="0"/>
                  </a:cubicBezTo>
                  <a:lnTo>
                    <a:pt x="6924802" y="0"/>
                  </a:lnTo>
                  <a:cubicBezTo>
                    <a:pt x="7049897" y="0"/>
                    <a:pt x="7151370" y="101473"/>
                    <a:pt x="7151370" y="226568"/>
                  </a:cubicBezTo>
                  <a:lnTo>
                    <a:pt x="7151370" y="377698"/>
                  </a:lnTo>
                  <a:cubicBezTo>
                    <a:pt x="7151370" y="502793"/>
                    <a:pt x="7049897" y="604266"/>
                    <a:pt x="692480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39" id="39"/>
          <p:cNvGrpSpPr/>
          <p:nvPr/>
        </p:nvGrpSpPr>
        <p:grpSpPr>
          <a:xfrm rot="0">
            <a:off x="6450711" y="6519291"/>
            <a:ext cx="5340858" cy="238506"/>
            <a:chOff x="0" y="0"/>
            <a:chExt cx="7121144" cy="318008"/>
          </a:xfrm>
        </p:grpSpPr>
        <p:sp>
          <p:nvSpPr>
            <p:cNvPr name="Freeform 40" id="40"/>
            <p:cNvSpPr/>
            <p:nvPr/>
          </p:nvSpPr>
          <p:spPr>
            <a:xfrm flipH="false" flipV="false" rot="0">
              <a:off x="0" y="0"/>
              <a:ext cx="7121144" cy="318008"/>
            </a:xfrm>
            <a:custGeom>
              <a:avLst/>
              <a:gdLst/>
              <a:ahLst/>
              <a:cxnLst/>
              <a:rect r="r" b="b" t="t" l="l"/>
              <a:pathLst>
                <a:path h="318008" w="7121144">
                  <a:moveTo>
                    <a:pt x="0" y="0"/>
                  </a:moveTo>
                  <a:lnTo>
                    <a:pt x="7121144" y="0"/>
                  </a:lnTo>
                  <a:lnTo>
                    <a:pt x="7121144" y="318008"/>
                  </a:lnTo>
                  <a:lnTo>
                    <a:pt x="0" y="318008"/>
                  </a:lnTo>
                  <a:close/>
                </a:path>
              </a:pathLst>
            </a:custGeom>
            <a:solidFill>
              <a:srgbClr val="F5582E"/>
            </a:solidFill>
            <a:ln w="19050" cap="sq">
              <a:solidFill>
                <a:srgbClr val="F5582E"/>
              </a:solidFill>
              <a:prstDash val="solid"/>
              <a:miter/>
            </a:ln>
          </p:spPr>
        </p:sp>
      </p:grpSp>
      <p:sp>
        <p:nvSpPr>
          <p:cNvPr name="AutoShape 41" id="41"/>
          <p:cNvSpPr/>
          <p:nvPr/>
        </p:nvSpPr>
        <p:spPr>
          <a:xfrm rot="9180">
            <a:off x="6439367" y="6743510"/>
            <a:ext cx="5363547" cy="0"/>
          </a:xfrm>
          <a:prstGeom prst="line">
            <a:avLst/>
          </a:prstGeom>
          <a:ln cap="rnd" w="9525">
            <a:solidFill>
              <a:srgbClr val="000000"/>
            </a:solidFill>
            <a:prstDash val="solid"/>
            <a:headEnd type="none" len="sm" w="sm"/>
            <a:tailEnd type="none" len="sm" w="sm"/>
          </a:ln>
        </p:spPr>
      </p:sp>
      <p:sp>
        <p:nvSpPr>
          <p:cNvPr name="TextBox 42" id="42"/>
          <p:cNvSpPr txBox="true"/>
          <p:nvPr/>
        </p:nvSpPr>
        <p:spPr>
          <a:xfrm rot="0">
            <a:off x="6789420" y="6995160"/>
            <a:ext cx="46634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Anotasi topik</a:t>
            </a:r>
          </a:p>
        </p:txBody>
      </p:sp>
      <p:sp>
        <p:nvSpPr>
          <p:cNvPr name="TextBox 43" id="43"/>
          <p:cNvSpPr txBox="true"/>
          <p:nvPr/>
        </p:nvSpPr>
        <p:spPr>
          <a:xfrm rot="0">
            <a:off x="6789420" y="7543800"/>
            <a:ext cx="4663440" cy="150876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Dipakai sebagai input; tidak merepresentasikan meme baru tanpa topik.</a:t>
            </a:r>
          </a:p>
        </p:txBody>
      </p:sp>
      <p:grpSp>
        <p:nvGrpSpPr>
          <p:cNvPr name="Group 44" id="44"/>
          <p:cNvGrpSpPr/>
          <p:nvPr/>
        </p:nvGrpSpPr>
        <p:grpSpPr>
          <a:xfrm rot="0">
            <a:off x="12062936" y="6302216"/>
            <a:ext cx="5363528" cy="2894648"/>
            <a:chOff x="0" y="0"/>
            <a:chExt cx="7151370" cy="3859530"/>
          </a:xfrm>
        </p:grpSpPr>
        <p:sp>
          <p:nvSpPr>
            <p:cNvPr name="Freeform 45" id="45"/>
            <p:cNvSpPr/>
            <p:nvPr/>
          </p:nvSpPr>
          <p:spPr>
            <a:xfrm flipH="false" flipV="false" rot="0">
              <a:off x="0" y="0"/>
              <a:ext cx="7151370" cy="3859530"/>
            </a:xfrm>
            <a:custGeom>
              <a:avLst/>
              <a:gdLst/>
              <a:ahLst/>
              <a:cxnLst/>
              <a:rect r="r" b="b" t="t" l="l"/>
              <a:pathLst>
                <a:path h="3859530" w="7151370">
                  <a:moveTo>
                    <a:pt x="0" y="220472"/>
                  </a:moveTo>
                  <a:cubicBezTo>
                    <a:pt x="0" y="98679"/>
                    <a:pt x="98679" y="0"/>
                    <a:pt x="220472" y="0"/>
                  </a:cubicBezTo>
                  <a:lnTo>
                    <a:pt x="6930898" y="0"/>
                  </a:lnTo>
                  <a:cubicBezTo>
                    <a:pt x="7052691" y="0"/>
                    <a:pt x="7151370" y="98679"/>
                    <a:pt x="7151370" y="220472"/>
                  </a:cubicBezTo>
                  <a:lnTo>
                    <a:pt x="7151370" y="3639058"/>
                  </a:lnTo>
                  <a:cubicBezTo>
                    <a:pt x="7151370" y="3760851"/>
                    <a:pt x="7052691" y="3859530"/>
                    <a:pt x="6930898" y="3859530"/>
                  </a:cubicBezTo>
                  <a:lnTo>
                    <a:pt x="220472" y="3859530"/>
                  </a:lnTo>
                  <a:cubicBezTo>
                    <a:pt x="98679" y="3859530"/>
                    <a:pt x="0" y="3760851"/>
                    <a:pt x="0" y="3639058"/>
                  </a:cubicBezTo>
                  <a:close/>
                </a:path>
              </a:pathLst>
            </a:custGeom>
            <a:solidFill>
              <a:srgbClr val="FFFFFF"/>
            </a:solidFill>
            <a:ln w="14288" cap="sq">
              <a:solidFill>
                <a:srgbClr val="000000"/>
              </a:solidFill>
              <a:prstDash val="solid"/>
              <a:miter/>
            </a:ln>
          </p:spPr>
        </p:sp>
      </p:grpSp>
      <p:sp>
        <p:nvSpPr>
          <p:cNvPr name="TextBox 46" id="46"/>
          <p:cNvSpPr txBox="true"/>
          <p:nvPr/>
        </p:nvSpPr>
        <p:spPr>
          <a:xfrm rot="0">
            <a:off x="12412980" y="6995160"/>
            <a:ext cx="4663440" cy="411480"/>
          </a:xfrm>
          <a:prstGeom prst="rect">
            <a:avLst/>
          </a:prstGeom>
        </p:spPr>
        <p:txBody>
          <a:bodyPr anchor="t" rtlCol="false" tIns="0" lIns="0" bIns="0" rIns="0">
            <a:spAutoFit/>
          </a:bodyPr>
          <a:lstStyle/>
          <a:p>
            <a:pPr algn="l">
              <a:lnSpc>
                <a:spcPts val="2520"/>
              </a:lnSpc>
            </a:pPr>
            <a:r>
              <a:rPr lang="en-US" sz="2100" b="true">
                <a:solidFill>
                  <a:srgbClr val="F5582E"/>
                </a:solidFill>
                <a:latin typeface="Helvetica World Bold"/>
                <a:ea typeface="Helvetica World Bold"/>
                <a:cs typeface="Helvetica World Bold"/>
                <a:sym typeface="Helvetica World Bold"/>
              </a:rPr>
              <a:t>Deviasi protokol</a:t>
            </a:r>
          </a:p>
        </p:txBody>
      </p:sp>
      <p:sp>
        <p:nvSpPr>
          <p:cNvPr name="TextBox 47" id="47"/>
          <p:cNvSpPr txBox="true"/>
          <p:nvPr/>
        </p:nvSpPr>
        <p:spPr>
          <a:xfrm rot="0">
            <a:off x="12412980" y="7543800"/>
            <a:ext cx="4663440" cy="1508760"/>
          </a:xfrm>
          <a:prstGeom prst="rect">
            <a:avLst/>
          </a:prstGeom>
        </p:spPr>
        <p:txBody>
          <a:bodyPr anchor="t" rtlCol="false" tIns="0" lIns="0" bIns="0" rIns="0">
            <a:spAutoFit/>
          </a:bodyPr>
          <a:lstStyle/>
          <a:p>
            <a:pPr algn="l">
              <a:lnSpc>
                <a:spcPts val="2340"/>
              </a:lnSpc>
            </a:pPr>
            <a:r>
              <a:rPr lang="en-US" sz="1950">
                <a:solidFill>
                  <a:srgbClr val="000000"/>
                </a:solidFill>
                <a:latin typeface="Helvetica World"/>
                <a:ea typeface="Helvetica World"/>
                <a:cs typeface="Helvetica World"/>
                <a:sym typeface="Helvetica World"/>
              </a:rPr>
              <a:t>Pembentukan validasi, early stopping, revisi model pralatih, pemilihan checkpoint ViT.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6322040" y="9673971"/>
            <a:ext cx="1138428" cy="311277"/>
          </a:xfrm>
          <a:prstGeom prst="rect">
            <a:avLst/>
          </a:prstGeom>
        </p:spPr>
        <p:txBody>
          <a:bodyPr anchor="t" rtlCol="false" tIns="0" lIns="0" bIns="0" rIns="0">
            <a:spAutoFit/>
          </a:bodyPr>
          <a:lstStyle/>
          <a:p>
            <a:pPr algn="r">
              <a:lnSpc>
                <a:spcPts val="1800"/>
              </a:lnSpc>
            </a:pPr>
            <a:r>
              <a:rPr lang="en-US" sz="1500" b="true">
                <a:solidFill>
                  <a:srgbClr val="000000"/>
                </a:solidFill>
                <a:latin typeface="Helvetica World Bold"/>
                <a:ea typeface="Helvetica World Bold"/>
                <a:cs typeface="Helvetica World Bold"/>
                <a:sym typeface="Helvetica World Bold"/>
              </a:rPr>
              <a:t>25</a:t>
            </a:r>
          </a:p>
        </p:txBody>
      </p:sp>
      <p:grpSp>
        <p:nvGrpSpPr>
          <p:cNvPr name="Group 3" id="3"/>
          <p:cNvGrpSpPr/>
          <p:nvPr/>
        </p:nvGrpSpPr>
        <p:grpSpPr>
          <a:xfrm rot="0">
            <a:off x="813435" y="539115"/>
            <a:ext cx="1116330" cy="457962"/>
            <a:chOff x="0" y="0"/>
            <a:chExt cx="1488440" cy="610616"/>
          </a:xfrm>
        </p:grpSpPr>
        <p:sp>
          <p:nvSpPr>
            <p:cNvPr name="Freeform 4" id="4"/>
            <p:cNvSpPr/>
            <p:nvPr/>
          </p:nvSpPr>
          <p:spPr>
            <a:xfrm flipH="false" flipV="false" rot="0">
              <a:off x="0" y="0"/>
              <a:ext cx="1488440" cy="610616"/>
            </a:xfrm>
            <a:custGeom>
              <a:avLst/>
              <a:gdLst/>
              <a:ahLst/>
              <a:cxnLst/>
              <a:rect r="r" b="b" t="t" l="l"/>
              <a:pathLst>
                <a:path h="610616" w="1488440">
                  <a:moveTo>
                    <a:pt x="0" y="305308"/>
                  </a:moveTo>
                  <a:cubicBezTo>
                    <a:pt x="0" y="136652"/>
                    <a:pt x="136652" y="0"/>
                    <a:pt x="305308" y="0"/>
                  </a:cubicBezTo>
                  <a:lnTo>
                    <a:pt x="1183132" y="0"/>
                  </a:lnTo>
                  <a:cubicBezTo>
                    <a:pt x="1351788" y="0"/>
                    <a:pt x="1488440" y="136652"/>
                    <a:pt x="1488440" y="305308"/>
                  </a:cubicBezTo>
                  <a:cubicBezTo>
                    <a:pt x="1488440" y="473964"/>
                    <a:pt x="1351788" y="610616"/>
                    <a:pt x="1183132" y="610616"/>
                  </a:cubicBezTo>
                  <a:lnTo>
                    <a:pt x="305308" y="610616"/>
                  </a:lnTo>
                  <a:cubicBezTo>
                    <a:pt x="136652" y="610616"/>
                    <a:pt x="0" y="473964"/>
                    <a:pt x="0" y="305308"/>
                  </a:cubicBezTo>
                  <a:close/>
                </a:path>
              </a:pathLst>
            </a:custGeom>
            <a:solidFill>
              <a:srgbClr val="F5582E"/>
            </a:solidFill>
            <a:ln w="19050" cap="sq">
              <a:solidFill>
                <a:srgbClr val="F5582E"/>
              </a:solidFill>
              <a:prstDash val="solid"/>
              <a:miter/>
            </a:ln>
          </p:spPr>
        </p:sp>
      </p:grpSp>
      <p:grpSp>
        <p:nvGrpSpPr>
          <p:cNvPr name="Group 5" id="5"/>
          <p:cNvGrpSpPr/>
          <p:nvPr/>
        </p:nvGrpSpPr>
        <p:grpSpPr>
          <a:xfrm rot="0">
            <a:off x="822960" y="548640"/>
            <a:ext cx="1097280" cy="438912"/>
            <a:chOff x="0" y="0"/>
            <a:chExt cx="1463040" cy="585216"/>
          </a:xfrm>
        </p:grpSpPr>
        <p:sp>
          <p:nvSpPr>
            <p:cNvPr name="Freeform 6" id="6"/>
            <p:cNvSpPr/>
            <p:nvPr/>
          </p:nvSpPr>
          <p:spPr>
            <a:xfrm flipH="false" flipV="false" rot="0">
              <a:off x="0" y="0"/>
              <a:ext cx="1463040" cy="585216"/>
            </a:xfrm>
            <a:custGeom>
              <a:avLst/>
              <a:gdLst/>
              <a:ahLst/>
              <a:cxnLst/>
              <a:rect r="r" b="b" t="t" l="l"/>
              <a:pathLst>
                <a:path h="585216" w="1463040">
                  <a:moveTo>
                    <a:pt x="0" y="0"/>
                  </a:moveTo>
                  <a:lnTo>
                    <a:pt x="1463040" y="0"/>
                  </a:lnTo>
                  <a:lnTo>
                    <a:pt x="1463040" y="585216"/>
                  </a:lnTo>
                  <a:lnTo>
                    <a:pt x="0" y="585216"/>
                  </a:lnTo>
                  <a:close/>
                </a:path>
              </a:pathLst>
            </a:custGeom>
            <a:blipFill>
              <a:blip r:embed="rId3">
                <a:alphaModFix amt="0"/>
              </a:blip>
              <a:stretch>
                <a:fillRect l="-1321" t="0" r="-1321" b="0"/>
              </a:stretch>
            </a:blipFill>
          </p:spPr>
        </p:sp>
        <p:sp>
          <p:nvSpPr>
            <p:cNvPr name="TextBox 7" id="7"/>
            <p:cNvSpPr txBox="true"/>
            <p:nvPr/>
          </p:nvSpPr>
          <p:spPr>
            <a:xfrm>
              <a:off x="0" y="0"/>
              <a:ext cx="1463040" cy="585216"/>
            </a:xfrm>
            <a:prstGeom prst="rect">
              <a:avLst/>
            </a:prstGeom>
          </p:spPr>
          <p:txBody>
            <a:bodyPr anchor="ctr" rtlCol="false" tIns="0" lIns="0" bIns="0" rIns="0"/>
            <a:lstStyle/>
            <a:p>
              <a:pPr algn="ctr">
                <a:lnSpc>
                  <a:spcPts val="2160"/>
                </a:lnSpc>
              </a:pPr>
              <a:r>
                <a:rPr lang="en-US" sz="1800" b="true">
                  <a:solidFill>
                    <a:srgbClr val="FFFFFF"/>
                  </a:solidFill>
                  <a:latin typeface="Helvetica World Bold"/>
                  <a:ea typeface="Helvetica World Bold"/>
                  <a:cs typeface="Helvetica World Bold"/>
                  <a:sym typeface="Helvetica World Bold"/>
                </a:rPr>
                <a:t>A12</a:t>
              </a:r>
            </a:p>
          </p:txBody>
        </p:sp>
      </p:grpSp>
      <p:sp>
        <p:nvSpPr>
          <p:cNvPr name="TextBox 8" id="8"/>
          <p:cNvSpPr txBox="true"/>
          <p:nvPr/>
        </p:nvSpPr>
        <p:spPr>
          <a:xfrm rot="0">
            <a:off x="822960" y="1184910"/>
            <a:ext cx="16596360" cy="1417320"/>
          </a:xfrm>
          <a:prstGeom prst="rect">
            <a:avLst/>
          </a:prstGeom>
        </p:spPr>
        <p:txBody>
          <a:bodyPr anchor="t" rtlCol="false" tIns="0" lIns="0" bIns="0" rIns="0">
            <a:spAutoFit/>
          </a:bodyPr>
          <a:lstStyle/>
          <a:p>
            <a:pPr algn="l">
              <a:lnSpc>
                <a:spcPts val="5130"/>
              </a:lnSpc>
            </a:pPr>
            <a:r>
              <a:rPr lang="en-US" sz="4500" b="true">
                <a:solidFill>
                  <a:srgbClr val="F5582E"/>
                </a:solidFill>
                <a:latin typeface="Helvetica World Bold"/>
                <a:ea typeface="Helvetica World Bold"/>
                <a:cs typeface="Helvetica World Bold"/>
                <a:sym typeface="Helvetica World Bold"/>
              </a:rPr>
              <a:t>RANCANGAN EKSPERIMEN</a:t>
            </a:r>
          </a:p>
          <a:p>
            <a:pPr algn="l">
              <a:lnSpc>
                <a:spcPts val="4788"/>
              </a:lnSpc>
            </a:pPr>
            <a:r>
              <a:rPr lang="en-US" sz="4200" i="true">
                <a:solidFill>
                  <a:srgbClr val="000000"/>
                </a:solidFill>
                <a:latin typeface="Noto Serif Italics"/>
                <a:ea typeface="Noto Serif Italics"/>
                <a:cs typeface="Noto Serif Italics"/>
                <a:sym typeface="Noto Serif Italics"/>
              </a:rPr>
              <a:t>Checkpoint 2.</a:t>
            </a:r>
          </a:p>
        </p:txBody>
      </p:sp>
      <p:sp>
        <p:nvSpPr>
          <p:cNvPr name="TextBox 9" id="9"/>
          <p:cNvSpPr txBox="true"/>
          <p:nvPr/>
        </p:nvSpPr>
        <p:spPr>
          <a:xfrm rot="0">
            <a:off x="822960" y="3017520"/>
            <a:ext cx="10972800" cy="411480"/>
          </a:xfrm>
          <a:prstGeom prst="rect">
            <a:avLst/>
          </a:prstGeom>
        </p:spPr>
        <p:txBody>
          <a:bodyPr anchor="t" rtlCol="false" tIns="0" lIns="0" bIns="0" rIns="0">
            <a:spAutoFit/>
          </a:bodyPr>
          <a:lstStyle/>
          <a:p>
            <a:pPr algn="l">
              <a:lnSpc>
                <a:spcPts val="2340"/>
              </a:lnSpc>
            </a:pPr>
            <a:r>
              <a:rPr lang="en-US" sz="1950" b="true">
                <a:solidFill>
                  <a:srgbClr val="F5582E"/>
                </a:solidFill>
                <a:latin typeface="Helvetica World Bold"/>
                <a:ea typeface="Helvetica World Bold"/>
                <a:cs typeface="Helvetica World Bold"/>
                <a:sym typeface="Helvetica World Bold"/>
              </a:rPr>
              <a:t>USULAN · MASA DEPAN · BELUM DIJALANKAN</a:t>
            </a:r>
          </a:p>
        </p:txBody>
      </p:sp>
      <p:grpSp>
        <p:nvGrpSpPr>
          <p:cNvPr name="Group 10" id="10"/>
          <p:cNvGrpSpPr/>
          <p:nvPr/>
        </p:nvGrpSpPr>
        <p:grpSpPr>
          <a:xfrm rot="0">
            <a:off x="815816" y="3696176"/>
            <a:ext cx="3580447" cy="1111568"/>
            <a:chOff x="0" y="0"/>
            <a:chExt cx="4773930" cy="1482090"/>
          </a:xfrm>
        </p:grpSpPr>
        <p:sp>
          <p:nvSpPr>
            <p:cNvPr name="Freeform 11" id="11"/>
            <p:cNvSpPr/>
            <p:nvPr/>
          </p:nvSpPr>
          <p:spPr>
            <a:xfrm flipH="false" flipV="false" rot="0">
              <a:off x="0" y="0"/>
              <a:ext cx="4773803" cy="1481963"/>
            </a:xfrm>
            <a:custGeom>
              <a:avLst/>
              <a:gdLst/>
              <a:ahLst/>
              <a:cxnLst/>
              <a:rect r="r" b="b" t="t" l="l"/>
              <a:pathLst>
                <a:path h="1481963" w="4773803">
                  <a:moveTo>
                    <a:pt x="0" y="222250"/>
                  </a:moveTo>
                  <a:cubicBezTo>
                    <a:pt x="0" y="99568"/>
                    <a:pt x="99568" y="0"/>
                    <a:pt x="222250" y="0"/>
                  </a:cubicBezTo>
                  <a:lnTo>
                    <a:pt x="4551553" y="0"/>
                  </a:lnTo>
                  <a:cubicBezTo>
                    <a:pt x="4674362" y="0"/>
                    <a:pt x="4773803" y="99568"/>
                    <a:pt x="4773803" y="222250"/>
                  </a:cubicBezTo>
                  <a:lnTo>
                    <a:pt x="4773803" y="1259713"/>
                  </a:lnTo>
                  <a:cubicBezTo>
                    <a:pt x="4773803" y="1382522"/>
                    <a:pt x="4674235" y="1481963"/>
                    <a:pt x="4551553" y="1481963"/>
                  </a:cubicBezTo>
                  <a:lnTo>
                    <a:pt x="222250" y="1481963"/>
                  </a:lnTo>
                  <a:cubicBezTo>
                    <a:pt x="99568" y="1482090"/>
                    <a:pt x="0" y="1382522"/>
                    <a:pt x="0" y="1259713"/>
                  </a:cubicBezTo>
                  <a:close/>
                </a:path>
              </a:pathLst>
            </a:custGeom>
            <a:solidFill>
              <a:srgbClr val="FFFFFF"/>
            </a:solidFill>
            <a:ln w="14288" cap="sq">
              <a:solidFill>
                <a:srgbClr val="000000"/>
              </a:solidFill>
              <a:prstDash val="solid"/>
              <a:miter/>
            </a:ln>
          </p:spPr>
        </p:sp>
      </p:grpSp>
      <p:grpSp>
        <p:nvGrpSpPr>
          <p:cNvPr name="Group 12" id="12"/>
          <p:cNvGrpSpPr/>
          <p:nvPr/>
        </p:nvGrpSpPr>
        <p:grpSpPr>
          <a:xfrm rot="0">
            <a:off x="932688" y="3703320"/>
            <a:ext cx="3346704" cy="1097280"/>
            <a:chOff x="0" y="0"/>
            <a:chExt cx="4462272" cy="1463040"/>
          </a:xfrm>
        </p:grpSpPr>
        <p:sp>
          <p:nvSpPr>
            <p:cNvPr name="Freeform 13" id="13"/>
            <p:cNvSpPr/>
            <p:nvPr/>
          </p:nvSpPr>
          <p:spPr>
            <a:xfrm flipH="false" flipV="false" rot="0">
              <a:off x="0" y="0"/>
              <a:ext cx="4462272" cy="1463040"/>
            </a:xfrm>
            <a:custGeom>
              <a:avLst/>
              <a:gdLst/>
              <a:ahLst/>
              <a:cxnLst/>
              <a:rect r="r" b="b" t="t" l="l"/>
              <a:pathLst>
                <a:path h="1463040" w="4462272">
                  <a:moveTo>
                    <a:pt x="0" y="0"/>
                  </a:moveTo>
                  <a:lnTo>
                    <a:pt x="4462272" y="0"/>
                  </a:lnTo>
                  <a:lnTo>
                    <a:pt x="4462272" y="1463040"/>
                  </a:lnTo>
                  <a:lnTo>
                    <a:pt x="0" y="1463040"/>
                  </a:lnTo>
                  <a:close/>
                </a:path>
              </a:pathLst>
            </a:custGeom>
            <a:blipFill>
              <a:blip r:embed="rId3">
                <a:alphaModFix amt="0"/>
              </a:blip>
              <a:stretch>
                <a:fillRect l="0" t="-9429" r="0" b="-9429"/>
              </a:stretch>
            </a:blipFill>
          </p:spPr>
        </p:sp>
        <p:sp>
          <p:nvSpPr>
            <p:cNvPr name="TextBox 14" id="14"/>
            <p:cNvSpPr txBox="true"/>
            <p:nvPr/>
          </p:nvSpPr>
          <p:spPr>
            <a:xfrm>
              <a:off x="0" y="0"/>
              <a:ext cx="4462272" cy="1463040"/>
            </a:xfrm>
            <a:prstGeom prst="rect">
              <a:avLst/>
            </a:prstGeom>
          </p:spPr>
          <p:txBody>
            <a:bodyPr anchor="ctr" rtlCol="false" tIns="0" lIns="0" bIns="0" rIns="0"/>
            <a:lstStyle/>
            <a:p>
              <a:pPr algn="ctr">
                <a:lnSpc>
                  <a:spcPts val="2340"/>
                </a:lnSpc>
              </a:pPr>
              <a:r>
                <a:rPr lang="en-US" sz="1950" b="true">
                  <a:solidFill>
                    <a:srgbClr val="000000"/>
                  </a:solidFill>
                  <a:latin typeface="Helvetica World Bold"/>
                  <a:ea typeface="Helvetica World Bold"/>
                  <a:cs typeface="Helvetica World Bold"/>
                  <a:sym typeface="Helvetica World Bold"/>
                </a:rPr>
                <a:t>Teks → IndoBERTweet</a:t>
              </a:r>
            </a:p>
          </p:txBody>
        </p:sp>
      </p:grpSp>
      <p:grpSp>
        <p:nvGrpSpPr>
          <p:cNvPr name="Group 15" id="15"/>
          <p:cNvGrpSpPr/>
          <p:nvPr/>
        </p:nvGrpSpPr>
        <p:grpSpPr>
          <a:xfrm rot="0">
            <a:off x="815816" y="5067776"/>
            <a:ext cx="3580447" cy="1111568"/>
            <a:chOff x="0" y="0"/>
            <a:chExt cx="4773930" cy="1482090"/>
          </a:xfrm>
        </p:grpSpPr>
        <p:sp>
          <p:nvSpPr>
            <p:cNvPr name="Freeform 16" id="16"/>
            <p:cNvSpPr/>
            <p:nvPr/>
          </p:nvSpPr>
          <p:spPr>
            <a:xfrm flipH="false" flipV="false" rot="0">
              <a:off x="0" y="0"/>
              <a:ext cx="4773803" cy="1481963"/>
            </a:xfrm>
            <a:custGeom>
              <a:avLst/>
              <a:gdLst/>
              <a:ahLst/>
              <a:cxnLst/>
              <a:rect r="r" b="b" t="t" l="l"/>
              <a:pathLst>
                <a:path h="1481963" w="4773803">
                  <a:moveTo>
                    <a:pt x="0" y="222250"/>
                  </a:moveTo>
                  <a:cubicBezTo>
                    <a:pt x="0" y="99568"/>
                    <a:pt x="99568" y="0"/>
                    <a:pt x="222250" y="0"/>
                  </a:cubicBezTo>
                  <a:lnTo>
                    <a:pt x="4551553" y="0"/>
                  </a:lnTo>
                  <a:cubicBezTo>
                    <a:pt x="4674362" y="0"/>
                    <a:pt x="4773803" y="99568"/>
                    <a:pt x="4773803" y="222250"/>
                  </a:cubicBezTo>
                  <a:lnTo>
                    <a:pt x="4773803" y="1259713"/>
                  </a:lnTo>
                  <a:cubicBezTo>
                    <a:pt x="4773803" y="1382522"/>
                    <a:pt x="4674235" y="1481963"/>
                    <a:pt x="4551553" y="1481963"/>
                  </a:cubicBezTo>
                  <a:lnTo>
                    <a:pt x="222250" y="1481963"/>
                  </a:lnTo>
                  <a:cubicBezTo>
                    <a:pt x="99568" y="1482090"/>
                    <a:pt x="0" y="1382522"/>
                    <a:pt x="0" y="1259713"/>
                  </a:cubicBezTo>
                  <a:close/>
                </a:path>
              </a:pathLst>
            </a:custGeom>
            <a:solidFill>
              <a:srgbClr val="FFFFFF"/>
            </a:solidFill>
            <a:ln w="14288" cap="sq">
              <a:solidFill>
                <a:srgbClr val="000000"/>
              </a:solidFill>
              <a:prstDash val="solid"/>
              <a:miter/>
            </a:ln>
          </p:spPr>
        </p:sp>
      </p:grpSp>
      <p:grpSp>
        <p:nvGrpSpPr>
          <p:cNvPr name="Group 17" id="17"/>
          <p:cNvGrpSpPr/>
          <p:nvPr/>
        </p:nvGrpSpPr>
        <p:grpSpPr>
          <a:xfrm rot="0">
            <a:off x="932688" y="5074920"/>
            <a:ext cx="3346704" cy="1097280"/>
            <a:chOff x="0" y="0"/>
            <a:chExt cx="4462272" cy="1463040"/>
          </a:xfrm>
        </p:grpSpPr>
        <p:sp>
          <p:nvSpPr>
            <p:cNvPr name="Freeform 18" id="18"/>
            <p:cNvSpPr/>
            <p:nvPr/>
          </p:nvSpPr>
          <p:spPr>
            <a:xfrm flipH="false" flipV="false" rot="0">
              <a:off x="0" y="0"/>
              <a:ext cx="4462272" cy="1463040"/>
            </a:xfrm>
            <a:custGeom>
              <a:avLst/>
              <a:gdLst/>
              <a:ahLst/>
              <a:cxnLst/>
              <a:rect r="r" b="b" t="t" l="l"/>
              <a:pathLst>
                <a:path h="1463040" w="4462272">
                  <a:moveTo>
                    <a:pt x="0" y="0"/>
                  </a:moveTo>
                  <a:lnTo>
                    <a:pt x="4462272" y="0"/>
                  </a:lnTo>
                  <a:lnTo>
                    <a:pt x="4462272" y="1463040"/>
                  </a:lnTo>
                  <a:lnTo>
                    <a:pt x="0" y="1463040"/>
                  </a:lnTo>
                  <a:close/>
                </a:path>
              </a:pathLst>
            </a:custGeom>
            <a:blipFill>
              <a:blip r:embed="rId3">
                <a:alphaModFix amt="0"/>
              </a:blip>
              <a:stretch>
                <a:fillRect l="0" t="-9429" r="0" b="-9429"/>
              </a:stretch>
            </a:blipFill>
          </p:spPr>
        </p:sp>
        <p:sp>
          <p:nvSpPr>
            <p:cNvPr name="TextBox 19" id="19"/>
            <p:cNvSpPr txBox="true"/>
            <p:nvPr/>
          </p:nvSpPr>
          <p:spPr>
            <a:xfrm>
              <a:off x="0" y="0"/>
              <a:ext cx="4462272" cy="1463040"/>
            </a:xfrm>
            <a:prstGeom prst="rect">
              <a:avLst/>
            </a:prstGeom>
          </p:spPr>
          <p:txBody>
            <a:bodyPr anchor="ctr" rtlCol="false" tIns="0" lIns="0" bIns="0" rIns="0"/>
            <a:lstStyle/>
            <a:p>
              <a:pPr algn="ctr">
                <a:lnSpc>
                  <a:spcPts val="2340"/>
                </a:lnSpc>
              </a:pPr>
              <a:r>
                <a:rPr lang="en-US" sz="1950" b="true">
                  <a:solidFill>
                    <a:srgbClr val="000000"/>
                  </a:solidFill>
                  <a:latin typeface="Helvetica World Bold"/>
                  <a:ea typeface="Helvetica World Bold"/>
                  <a:cs typeface="Helvetica World Bold"/>
                  <a:sym typeface="Helvetica World Bold"/>
                </a:rPr>
                <a:t>Gambar → ViT</a:t>
              </a:r>
            </a:p>
          </p:txBody>
        </p:sp>
      </p:grpSp>
      <p:sp>
        <p:nvSpPr>
          <p:cNvPr name="AutoShape 20" id="20"/>
          <p:cNvSpPr/>
          <p:nvPr/>
        </p:nvSpPr>
        <p:spPr>
          <a:xfrm>
            <a:off x="4370069" y="4232913"/>
            <a:ext cx="629218" cy="509253"/>
          </a:xfrm>
          <a:prstGeom prst="line">
            <a:avLst/>
          </a:prstGeom>
          <a:ln cap="rnd" w="38100">
            <a:solidFill>
              <a:srgbClr val="F5582E"/>
            </a:solidFill>
            <a:prstDash val="solid"/>
            <a:headEnd type="none" len="sm" w="sm"/>
            <a:tailEnd type="triangle" len="med" w="lg"/>
          </a:ln>
        </p:spPr>
      </p:sp>
      <p:grpSp>
        <p:nvGrpSpPr>
          <p:cNvPr name="Group 21" id="21"/>
          <p:cNvGrpSpPr/>
          <p:nvPr/>
        </p:nvGrpSpPr>
        <p:grpSpPr>
          <a:xfrm rot="0">
            <a:off x="5067776" y="4381976"/>
            <a:ext cx="3580447" cy="1248727"/>
            <a:chOff x="0" y="0"/>
            <a:chExt cx="4773930" cy="1664970"/>
          </a:xfrm>
        </p:grpSpPr>
        <p:sp>
          <p:nvSpPr>
            <p:cNvPr name="Freeform 22" id="22"/>
            <p:cNvSpPr/>
            <p:nvPr/>
          </p:nvSpPr>
          <p:spPr>
            <a:xfrm flipH="false" flipV="false" rot="0">
              <a:off x="0" y="0"/>
              <a:ext cx="4773930" cy="1664970"/>
            </a:xfrm>
            <a:custGeom>
              <a:avLst/>
              <a:gdLst/>
              <a:ahLst/>
              <a:cxnLst/>
              <a:rect r="r" b="b" t="t" l="l"/>
              <a:pathLst>
                <a:path h="1664970" w="4773930">
                  <a:moveTo>
                    <a:pt x="0" y="221996"/>
                  </a:moveTo>
                  <a:cubicBezTo>
                    <a:pt x="0" y="99441"/>
                    <a:pt x="99441" y="0"/>
                    <a:pt x="221996" y="0"/>
                  </a:cubicBezTo>
                  <a:lnTo>
                    <a:pt x="4551934" y="0"/>
                  </a:lnTo>
                  <a:cubicBezTo>
                    <a:pt x="4674489" y="0"/>
                    <a:pt x="4773930" y="99441"/>
                    <a:pt x="4773930" y="221996"/>
                  </a:cubicBezTo>
                  <a:lnTo>
                    <a:pt x="4773930" y="1442974"/>
                  </a:lnTo>
                  <a:cubicBezTo>
                    <a:pt x="4773930" y="1565529"/>
                    <a:pt x="4674489" y="1664970"/>
                    <a:pt x="4551934" y="1664970"/>
                  </a:cubicBezTo>
                  <a:lnTo>
                    <a:pt x="221996" y="1664970"/>
                  </a:lnTo>
                  <a:cubicBezTo>
                    <a:pt x="99441" y="1664970"/>
                    <a:pt x="0" y="1565529"/>
                    <a:pt x="0" y="1442974"/>
                  </a:cubicBezTo>
                  <a:close/>
                </a:path>
              </a:pathLst>
            </a:custGeom>
            <a:solidFill>
              <a:srgbClr val="141221"/>
            </a:solidFill>
            <a:ln w="14288" cap="sq">
              <a:solidFill>
                <a:srgbClr val="000000"/>
              </a:solidFill>
              <a:prstDash val="solid"/>
              <a:miter/>
            </a:ln>
          </p:spPr>
        </p:sp>
      </p:grpSp>
      <p:grpSp>
        <p:nvGrpSpPr>
          <p:cNvPr name="Group 23" id="23"/>
          <p:cNvGrpSpPr/>
          <p:nvPr/>
        </p:nvGrpSpPr>
        <p:grpSpPr>
          <a:xfrm rot="0">
            <a:off x="5184648" y="4389120"/>
            <a:ext cx="3346704" cy="1234440"/>
            <a:chOff x="0" y="0"/>
            <a:chExt cx="4462272" cy="1645920"/>
          </a:xfrm>
        </p:grpSpPr>
        <p:sp>
          <p:nvSpPr>
            <p:cNvPr name="Freeform 24" id="24"/>
            <p:cNvSpPr/>
            <p:nvPr/>
          </p:nvSpPr>
          <p:spPr>
            <a:xfrm flipH="false" flipV="false" rot="0">
              <a:off x="0" y="0"/>
              <a:ext cx="4462272" cy="1645920"/>
            </a:xfrm>
            <a:custGeom>
              <a:avLst/>
              <a:gdLst/>
              <a:ahLst/>
              <a:cxnLst/>
              <a:rect r="r" b="b" t="t" l="l"/>
              <a:pathLst>
                <a:path h="1645920" w="4462272">
                  <a:moveTo>
                    <a:pt x="0" y="0"/>
                  </a:moveTo>
                  <a:lnTo>
                    <a:pt x="4462272" y="0"/>
                  </a:lnTo>
                  <a:lnTo>
                    <a:pt x="4462272" y="1645920"/>
                  </a:lnTo>
                  <a:lnTo>
                    <a:pt x="0" y="1645920"/>
                  </a:lnTo>
                  <a:close/>
                </a:path>
              </a:pathLst>
            </a:custGeom>
            <a:blipFill>
              <a:blip r:embed="rId3">
                <a:alphaModFix amt="0"/>
              </a:blip>
              <a:stretch>
                <a:fillRect l="0" t="-2826" r="0" b="-2826"/>
              </a:stretch>
            </a:blipFill>
          </p:spPr>
        </p:sp>
        <p:sp>
          <p:nvSpPr>
            <p:cNvPr name="TextBox 25" id="25"/>
            <p:cNvSpPr txBox="true"/>
            <p:nvPr/>
          </p:nvSpPr>
          <p:spPr>
            <a:xfrm>
              <a:off x="0" y="0"/>
              <a:ext cx="4462272" cy="1645920"/>
            </a:xfrm>
            <a:prstGeom prst="rect">
              <a:avLst/>
            </a:prstGeom>
          </p:spPr>
          <p:txBody>
            <a:bodyPr anchor="ctr" rtlCol="false" tIns="0" lIns="0" bIns="0" rIns="0"/>
            <a:lstStyle/>
            <a:p>
              <a:pPr algn="ctr">
                <a:lnSpc>
                  <a:spcPts val="2340"/>
                </a:lnSpc>
              </a:pPr>
              <a:r>
                <a:rPr lang="en-US" sz="1950" b="true">
                  <a:solidFill>
                    <a:srgbClr val="FFFFFF"/>
                  </a:solidFill>
                  <a:latin typeface="Helvetica World Bold"/>
                  <a:ea typeface="Helvetica World Bold"/>
                  <a:cs typeface="Helvetica World Bold"/>
                  <a:sym typeface="Helvetica World Bold"/>
                </a:rPr>
                <a:t>Cross-Attention Fusion</a:t>
              </a:r>
            </a:p>
          </p:txBody>
        </p:sp>
      </p:grpSp>
      <p:sp>
        <p:nvSpPr>
          <p:cNvPr name="AutoShape 26" id="26"/>
          <p:cNvSpPr/>
          <p:nvPr/>
        </p:nvSpPr>
        <p:spPr>
          <a:xfrm flipV="true">
            <a:off x="8648224" y="5025391"/>
            <a:ext cx="697701" cy="49529"/>
          </a:xfrm>
          <a:prstGeom prst="line">
            <a:avLst/>
          </a:prstGeom>
          <a:ln cap="rnd" w="38100">
            <a:solidFill>
              <a:srgbClr val="F5582E"/>
            </a:solidFill>
            <a:prstDash val="solid"/>
            <a:headEnd type="none" len="sm" w="sm"/>
            <a:tailEnd type="triangle" len="med" w="lg"/>
          </a:ln>
        </p:spPr>
      </p:sp>
      <p:grpSp>
        <p:nvGrpSpPr>
          <p:cNvPr name="Group 27" id="27"/>
          <p:cNvGrpSpPr/>
          <p:nvPr/>
        </p:nvGrpSpPr>
        <p:grpSpPr>
          <a:xfrm rot="0">
            <a:off x="9319736" y="4381976"/>
            <a:ext cx="1660208" cy="1248727"/>
            <a:chOff x="0" y="0"/>
            <a:chExt cx="2213610" cy="1664970"/>
          </a:xfrm>
        </p:grpSpPr>
        <p:sp>
          <p:nvSpPr>
            <p:cNvPr name="Freeform 28" id="28"/>
            <p:cNvSpPr/>
            <p:nvPr/>
          </p:nvSpPr>
          <p:spPr>
            <a:xfrm flipH="false" flipV="false" rot="0">
              <a:off x="0" y="0"/>
              <a:ext cx="2213610" cy="1664970"/>
            </a:xfrm>
            <a:custGeom>
              <a:avLst/>
              <a:gdLst/>
              <a:ahLst/>
              <a:cxnLst/>
              <a:rect r="r" b="b" t="t" l="l"/>
              <a:pathLst>
                <a:path h="1664970" w="2213610">
                  <a:moveTo>
                    <a:pt x="0" y="221996"/>
                  </a:moveTo>
                  <a:cubicBezTo>
                    <a:pt x="0" y="99441"/>
                    <a:pt x="99441" y="0"/>
                    <a:pt x="221996" y="0"/>
                  </a:cubicBezTo>
                  <a:lnTo>
                    <a:pt x="1991614" y="0"/>
                  </a:lnTo>
                  <a:cubicBezTo>
                    <a:pt x="2114169" y="0"/>
                    <a:pt x="2213610" y="99441"/>
                    <a:pt x="2213610" y="221996"/>
                  </a:cubicBezTo>
                  <a:lnTo>
                    <a:pt x="2213610" y="1442974"/>
                  </a:lnTo>
                  <a:cubicBezTo>
                    <a:pt x="2213610" y="1565529"/>
                    <a:pt x="2114169" y="1664970"/>
                    <a:pt x="1991614" y="1664970"/>
                  </a:cubicBezTo>
                  <a:lnTo>
                    <a:pt x="221996" y="1664970"/>
                  </a:lnTo>
                  <a:cubicBezTo>
                    <a:pt x="99441" y="1664970"/>
                    <a:pt x="0" y="1565529"/>
                    <a:pt x="0" y="1442974"/>
                  </a:cubicBezTo>
                  <a:close/>
                </a:path>
              </a:pathLst>
            </a:custGeom>
            <a:solidFill>
              <a:srgbClr val="FFFFFF"/>
            </a:solidFill>
            <a:ln w="14288" cap="sq">
              <a:solidFill>
                <a:srgbClr val="000000"/>
              </a:solidFill>
              <a:prstDash val="solid"/>
              <a:miter/>
            </a:ln>
          </p:spPr>
        </p:sp>
      </p:grpSp>
      <p:grpSp>
        <p:nvGrpSpPr>
          <p:cNvPr name="Group 29" id="29"/>
          <p:cNvGrpSpPr/>
          <p:nvPr/>
        </p:nvGrpSpPr>
        <p:grpSpPr>
          <a:xfrm rot="0">
            <a:off x="9436608" y="4389120"/>
            <a:ext cx="1426464" cy="1234440"/>
            <a:chOff x="0" y="0"/>
            <a:chExt cx="1901952" cy="1645920"/>
          </a:xfrm>
        </p:grpSpPr>
        <p:sp>
          <p:nvSpPr>
            <p:cNvPr name="Freeform 30" id="30"/>
            <p:cNvSpPr/>
            <p:nvPr/>
          </p:nvSpPr>
          <p:spPr>
            <a:xfrm flipH="false" flipV="false" rot="0">
              <a:off x="0" y="0"/>
              <a:ext cx="1901952" cy="1645920"/>
            </a:xfrm>
            <a:custGeom>
              <a:avLst/>
              <a:gdLst/>
              <a:ahLst/>
              <a:cxnLst/>
              <a:rect r="r" b="b" t="t" l="l"/>
              <a:pathLst>
                <a:path h="1645920" w="1901952">
                  <a:moveTo>
                    <a:pt x="0" y="0"/>
                  </a:moveTo>
                  <a:lnTo>
                    <a:pt x="1901952" y="0"/>
                  </a:lnTo>
                  <a:lnTo>
                    <a:pt x="1901952" y="1645920"/>
                  </a:lnTo>
                  <a:lnTo>
                    <a:pt x="0" y="1645920"/>
                  </a:lnTo>
                  <a:close/>
                </a:path>
              </a:pathLst>
            </a:custGeom>
            <a:blipFill>
              <a:blip r:embed="rId3">
                <a:alphaModFix amt="0"/>
              </a:blip>
              <a:stretch>
                <a:fillRect l="-61031" t="0" r="-61031" b="0"/>
              </a:stretch>
            </a:blipFill>
          </p:spPr>
        </p:sp>
        <p:sp>
          <p:nvSpPr>
            <p:cNvPr name="TextBox 31" id="31"/>
            <p:cNvSpPr txBox="true"/>
            <p:nvPr/>
          </p:nvSpPr>
          <p:spPr>
            <a:xfrm>
              <a:off x="0" y="0"/>
              <a:ext cx="1901952" cy="1645920"/>
            </a:xfrm>
            <a:prstGeom prst="rect">
              <a:avLst/>
            </a:prstGeom>
          </p:spPr>
          <p:txBody>
            <a:bodyPr anchor="ctr" rtlCol="false" tIns="0" lIns="0" bIns="0" rIns="0"/>
            <a:lstStyle/>
            <a:p>
              <a:pPr algn="ctr">
                <a:lnSpc>
                  <a:spcPts val="2340"/>
                </a:lnSpc>
              </a:pPr>
              <a:r>
                <a:rPr lang="en-US" sz="1950" b="true">
                  <a:solidFill>
                    <a:srgbClr val="000000"/>
                  </a:solidFill>
                  <a:latin typeface="Helvetica World Bold"/>
                  <a:ea typeface="Helvetica World Bold"/>
                  <a:cs typeface="Helvetica World Bold"/>
                  <a:sym typeface="Helvetica World Bold"/>
                </a:rPr>
                <a:t>Head</a:t>
              </a:r>
            </a:p>
          </p:txBody>
        </p:sp>
      </p:grpSp>
      <p:grpSp>
        <p:nvGrpSpPr>
          <p:cNvPr name="Group 32" id="32"/>
          <p:cNvGrpSpPr/>
          <p:nvPr/>
        </p:nvGrpSpPr>
        <p:grpSpPr>
          <a:xfrm rot="0">
            <a:off x="815816" y="6713696"/>
            <a:ext cx="10164128" cy="2483167"/>
            <a:chOff x="0" y="0"/>
            <a:chExt cx="13552170" cy="3310890"/>
          </a:xfrm>
        </p:grpSpPr>
        <p:sp>
          <p:nvSpPr>
            <p:cNvPr name="Freeform 33" id="33"/>
            <p:cNvSpPr/>
            <p:nvPr/>
          </p:nvSpPr>
          <p:spPr>
            <a:xfrm flipH="false" flipV="false" rot="0">
              <a:off x="0" y="0"/>
              <a:ext cx="13552170" cy="3310890"/>
            </a:xfrm>
            <a:custGeom>
              <a:avLst/>
              <a:gdLst/>
              <a:ahLst/>
              <a:cxnLst/>
              <a:rect r="r" b="b" t="t" l="l"/>
              <a:pathLst>
                <a:path h="3310890" w="13552170">
                  <a:moveTo>
                    <a:pt x="0" y="220726"/>
                  </a:moveTo>
                  <a:cubicBezTo>
                    <a:pt x="0" y="98806"/>
                    <a:pt x="98806" y="0"/>
                    <a:pt x="220726" y="0"/>
                  </a:cubicBezTo>
                  <a:lnTo>
                    <a:pt x="13331444" y="0"/>
                  </a:lnTo>
                  <a:cubicBezTo>
                    <a:pt x="13453363" y="0"/>
                    <a:pt x="13552170" y="98806"/>
                    <a:pt x="13552170" y="220726"/>
                  </a:cubicBezTo>
                  <a:lnTo>
                    <a:pt x="13552170" y="3090164"/>
                  </a:lnTo>
                  <a:cubicBezTo>
                    <a:pt x="13552170" y="3212084"/>
                    <a:pt x="13453363" y="3310890"/>
                    <a:pt x="13331444" y="3310890"/>
                  </a:cubicBezTo>
                  <a:lnTo>
                    <a:pt x="220726" y="3310890"/>
                  </a:lnTo>
                  <a:cubicBezTo>
                    <a:pt x="98806" y="3310890"/>
                    <a:pt x="0" y="3212084"/>
                    <a:pt x="0" y="3090164"/>
                  </a:cubicBezTo>
                  <a:close/>
                </a:path>
              </a:pathLst>
            </a:custGeom>
            <a:solidFill>
              <a:srgbClr val="FFFFFF"/>
            </a:solidFill>
            <a:ln w="14288" cap="sq">
              <a:solidFill>
                <a:srgbClr val="000000"/>
              </a:solidFill>
              <a:prstDash val="solid"/>
              <a:miter/>
            </a:ln>
          </p:spPr>
        </p:sp>
      </p:grpSp>
      <p:grpSp>
        <p:nvGrpSpPr>
          <p:cNvPr name="Group 34" id="34"/>
          <p:cNvGrpSpPr/>
          <p:nvPr/>
        </p:nvGrpSpPr>
        <p:grpSpPr>
          <a:xfrm rot="0">
            <a:off x="1165860" y="6858000"/>
            <a:ext cx="9464040" cy="2194560"/>
            <a:chOff x="0" y="0"/>
            <a:chExt cx="12618720" cy="2926080"/>
          </a:xfrm>
        </p:grpSpPr>
        <p:sp>
          <p:nvSpPr>
            <p:cNvPr name="Freeform 35" id="35"/>
            <p:cNvSpPr/>
            <p:nvPr/>
          </p:nvSpPr>
          <p:spPr>
            <a:xfrm flipH="false" flipV="false" rot="0">
              <a:off x="0" y="0"/>
              <a:ext cx="12618720" cy="2926080"/>
            </a:xfrm>
            <a:custGeom>
              <a:avLst/>
              <a:gdLst/>
              <a:ahLst/>
              <a:cxnLst/>
              <a:rect r="r" b="b" t="t" l="l"/>
              <a:pathLst>
                <a:path h="2926080" w="12618720">
                  <a:moveTo>
                    <a:pt x="0" y="0"/>
                  </a:moveTo>
                  <a:lnTo>
                    <a:pt x="12618720" y="0"/>
                  </a:lnTo>
                  <a:lnTo>
                    <a:pt x="12618720" y="2926080"/>
                  </a:lnTo>
                  <a:lnTo>
                    <a:pt x="0" y="2926080"/>
                  </a:lnTo>
                  <a:close/>
                </a:path>
              </a:pathLst>
            </a:custGeom>
            <a:blipFill>
              <a:blip r:embed="rId3">
                <a:alphaModFix amt="0"/>
              </a:blip>
              <a:stretch>
                <a:fillRect l="0" t="-34029" r="0" b="-34029"/>
              </a:stretch>
            </a:blipFill>
          </p:spPr>
        </p:sp>
        <p:sp>
          <p:nvSpPr>
            <p:cNvPr name="TextBox 36" id="36"/>
            <p:cNvSpPr txBox="true"/>
            <p:nvPr/>
          </p:nvSpPr>
          <p:spPr>
            <a:xfrm>
              <a:off x="0" y="0"/>
              <a:ext cx="12618720" cy="2926080"/>
            </a:xfrm>
            <a:prstGeom prst="rect">
              <a:avLst/>
            </a:prstGeom>
          </p:spPr>
          <p:txBody>
            <a:bodyPr anchor="ctr" rtlCol="false" tIns="0" lIns="0" bIns="0" rIns="0"/>
            <a:lstStyle/>
            <a:p>
              <a:pPr algn="l">
                <a:lnSpc>
                  <a:spcPts val="2520"/>
                </a:lnSpc>
              </a:pPr>
              <a:r>
                <a:rPr lang="en-US" sz="2100">
                  <a:solidFill>
                    <a:srgbClr val="000000"/>
                  </a:solidFill>
                  <a:latin typeface="Helvetica World"/>
                  <a:ea typeface="Helvetica World"/>
                  <a:cs typeface="Helvetica World"/>
                  <a:sym typeface="Helvetica World"/>
                </a:rPr>
                <a:t>Pembanding terkontrol: cross-attention vs feature concatenation (E059/E060) pada protokol, data, dan metrik yang sama.</a:t>
              </a:r>
            </a:p>
          </p:txBody>
        </p:sp>
      </p:grpSp>
      <p:grpSp>
        <p:nvGrpSpPr>
          <p:cNvPr name="Group 37" id="37"/>
          <p:cNvGrpSpPr/>
          <p:nvPr/>
        </p:nvGrpSpPr>
        <p:grpSpPr>
          <a:xfrm rot="0">
            <a:off x="11514296" y="3010376"/>
            <a:ext cx="5912168" cy="3031808"/>
            <a:chOff x="0" y="0"/>
            <a:chExt cx="7882890" cy="4042410"/>
          </a:xfrm>
        </p:grpSpPr>
        <p:sp>
          <p:nvSpPr>
            <p:cNvPr name="Freeform 38" id="38"/>
            <p:cNvSpPr/>
            <p:nvPr/>
          </p:nvSpPr>
          <p:spPr>
            <a:xfrm flipH="false" flipV="false" rot="0">
              <a:off x="0" y="0"/>
              <a:ext cx="7882890" cy="4042410"/>
            </a:xfrm>
            <a:custGeom>
              <a:avLst/>
              <a:gdLst/>
              <a:ahLst/>
              <a:cxnLst/>
              <a:rect r="r" b="b" t="t" l="l"/>
              <a:pathLst>
                <a:path h="4042410" w="7882890">
                  <a:moveTo>
                    <a:pt x="0" y="220472"/>
                  </a:moveTo>
                  <a:cubicBezTo>
                    <a:pt x="0" y="98679"/>
                    <a:pt x="98679" y="0"/>
                    <a:pt x="220472" y="0"/>
                  </a:cubicBezTo>
                  <a:lnTo>
                    <a:pt x="7662418" y="0"/>
                  </a:lnTo>
                  <a:cubicBezTo>
                    <a:pt x="7784212" y="0"/>
                    <a:pt x="7882890" y="98679"/>
                    <a:pt x="7882890" y="220472"/>
                  </a:cubicBezTo>
                  <a:lnTo>
                    <a:pt x="7882890" y="3821938"/>
                  </a:lnTo>
                  <a:cubicBezTo>
                    <a:pt x="7882890" y="3943731"/>
                    <a:pt x="7784212" y="4042410"/>
                    <a:pt x="7662418" y="4042410"/>
                  </a:cubicBezTo>
                  <a:lnTo>
                    <a:pt x="220472" y="4042410"/>
                  </a:lnTo>
                  <a:cubicBezTo>
                    <a:pt x="98679" y="4042410"/>
                    <a:pt x="0" y="3943731"/>
                    <a:pt x="0" y="3821938"/>
                  </a:cubicBezTo>
                  <a:close/>
                </a:path>
              </a:pathLst>
            </a:custGeom>
            <a:solidFill>
              <a:srgbClr val="FFFFFF"/>
            </a:solidFill>
            <a:ln w="14288" cap="sq">
              <a:solidFill>
                <a:srgbClr val="000000"/>
              </a:solidFill>
              <a:prstDash val="solid"/>
              <a:miter/>
            </a:ln>
          </p:spPr>
        </p:sp>
      </p:grpSp>
      <p:grpSp>
        <p:nvGrpSpPr>
          <p:cNvPr name="Group 39" id="39"/>
          <p:cNvGrpSpPr/>
          <p:nvPr/>
        </p:nvGrpSpPr>
        <p:grpSpPr>
          <a:xfrm rot="0">
            <a:off x="11514296" y="3010376"/>
            <a:ext cx="5912168" cy="453200"/>
            <a:chOff x="0" y="0"/>
            <a:chExt cx="7882890" cy="604266"/>
          </a:xfrm>
        </p:grpSpPr>
        <p:sp>
          <p:nvSpPr>
            <p:cNvPr name="Freeform 40" id="40"/>
            <p:cNvSpPr/>
            <p:nvPr/>
          </p:nvSpPr>
          <p:spPr>
            <a:xfrm flipH="false" flipV="false" rot="0">
              <a:off x="0" y="0"/>
              <a:ext cx="7882890" cy="604266"/>
            </a:xfrm>
            <a:custGeom>
              <a:avLst/>
              <a:gdLst/>
              <a:ahLst/>
              <a:cxnLst/>
              <a:rect r="r" b="b" t="t" l="l"/>
              <a:pathLst>
                <a:path h="604266" w="7882890">
                  <a:moveTo>
                    <a:pt x="0" y="226568"/>
                  </a:moveTo>
                  <a:cubicBezTo>
                    <a:pt x="0" y="101473"/>
                    <a:pt x="101473" y="0"/>
                    <a:pt x="226568" y="0"/>
                  </a:cubicBezTo>
                  <a:lnTo>
                    <a:pt x="7656322" y="0"/>
                  </a:lnTo>
                  <a:cubicBezTo>
                    <a:pt x="7781417" y="0"/>
                    <a:pt x="7882890" y="101473"/>
                    <a:pt x="7882890" y="226568"/>
                  </a:cubicBezTo>
                  <a:lnTo>
                    <a:pt x="7882890" y="377698"/>
                  </a:lnTo>
                  <a:cubicBezTo>
                    <a:pt x="7882890" y="502793"/>
                    <a:pt x="7781417" y="604266"/>
                    <a:pt x="7656322" y="604266"/>
                  </a:cubicBezTo>
                  <a:lnTo>
                    <a:pt x="226568" y="604266"/>
                  </a:lnTo>
                  <a:cubicBezTo>
                    <a:pt x="101473" y="604266"/>
                    <a:pt x="0" y="502793"/>
                    <a:pt x="0" y="377698"/>
                  </a:cubicBezTo>
                  <a:close/>
                </a:path>
              </a:pathLst>
            </a:custGeom>
            <a:solidFill>
              <a:srgbClr val="F5582E"/>
            </a:solidFill>
            <a:ln w="14288" cap="sq">
              <a:solidFill>
                <a:srgbClr val="000000"/>
              </a:solidFill>
              <a:prstDash val="solid"/>
              <a:miter/>
            </a:ln>
          </p:spPr>
        </p:sp>
      </p:grpSp>
      <p:grpSp>
        <p:nvGrpSpPr>
          <p:cNvPr name="Group 41" id="41"/>
          <p:cNvGrpSpPr/>
          <p:nvPr/>
        </p:nvGrpSpPr>
        <p:grpSpPr>
          <a:xfrm rot="0">
            <a:off x="11525631" y="3227451"/>
            <a:ext cx="5889498" cy="238506"/>
            <a:chOff x="0" y="0"/>
            <a:chExt cx="7852664" cy="318008"/>
          </a:xfrm>
        </p:grpSpPr>
        <p:sp>
          <p:nvSpPr>
            <p:cNvPr name="Freeform 42" id="42"/>
            <p:cNvSpPr/>
            <p:nvPr/>
          </p:nvSpPr>
          <p:spPr>
            <a:xfrm flipH="false" flipV="false" rot="0">
              <a:off x="0" y="0"/>
              <a:ext cx="7852664" cy="318008"/>
            </a:xfrm>
            <a:custGeom>
              <a:avLst/>
              <a:gdLst/>
              <a:ahLst/>
              <a:cxnLst/>
              <a:rect r="r" b="b" t="t" l="l"/>
              <a:pathLst>
                <a:path h="318008" w="7852664">
                  <a:moveTo>
                    <a:pt x="0" y="0"/>
                  </a:moveTo>
                  <a:lnTo>
                    <a:pt x="7852664" y="0"/>
                  </a:lnTo>
                  <a:lnTo>
                    <a:pt x="7852664" y="318008"/>
                  </a:lnTo>
                  <a:lnTo>
                    <a:pt x="0" y="318008"/>
                  </a:lnTo>
                  <a:close/>
                </a:path>
              </a:pathLst>
            </a:custGeom>
            <a:solidFill>
              <a:srgbClr val="F5582E"/>
            </a:solidFill>
            <a:ln w="19050" cap="sq">
              <a:solidFill>
                <a:srgbClr val="F5582E"/>
              </a:solidFill>
              <a:prstDash val="solid"/>
              <a:miter/>
            </a:ln>
          </p:spPr>
        </p:sp>
      </p:grpSp>
      <p:sp>
        <p:nvSpPr>
          <p:cNvPr name="AutoShape 43" id="43"/>
          <p:cNvSpPr/>
          <p:nvPr/>
        </p:nvSpPr>
        <p:spPr>
          <a:xfrm rot="8280">
            <a:off x="11514287" y="3451669"/>
            <a:ext cx="5912187" cy="0"/>
          </a:xfrm>
          <a:prstGeom prst="line">
            <a:avLst/>
          </a:prstGeom>
          <a:ln cap="rnd" w="9525">
            <a:solidFill>
              <a:srgbClr val="000000"/>
            </a:solidFill>
            <a:prstDash val="solid"/>
            <a:headEnd type="none" len="sm" w="sm"/>
            <a:tailEnd type="none" len="sm" w="sm"/>
          </a:ln>
        </p:spPr>
      </p:sp>
      <p:sp>
        <p:nvSpPr>
          <p:cNvPr name="TextBox 44" id="44"/>
          <p:cNvSpPr txBox="true"/>
          <p:nvPr/>
        </p:nvSpPr>
        <p:spPr>
          <a:xfrm rot="0">
            <a:off x="11795760" y="3634740"/>
            <a:ext cx="5349240" cy="411480"/>
          </a:xfrm>
          <a:prstGeom prst="rect">
            <a:avLst/>
          </a:prstGeom>
        </p:spPr>
        <p:txBody>
          <a:bodyPr anchor="t" rtlCol="false" tIns="0" lIns="0" bIns="0" rIns="0">
            <a:spAutoFit/>
          </a:bodyPr>
          <a:lstStyle/>
          <a:p>
            <a:pPr algn="l">
              <a:lnSpc>
                <a:spcPts val="2340"/>
              </a:lnSpc>
            </a:pPr>
            <a:r>
              <a:rPr lang="en-US" sz="1950" b="true">
                <a:solidFill>
                  <a:srgbClr val="F5582E"/>
                </a:solidFill>
                <a:latin typeface="Helvetica World Bold"/>
                <a:ea typeface="Helvetica World Bold"/>
                <a:cs typeface="Helvetica World Bold"/>
                <a:sym typeface="Helvetica World Bold"/>
              </a:rPr>
              <a:t>Rencana ablasi</a:t>
            </a:r>
          </a:p>
        </p:txBody>
      </p:sp>
      <p:sp>
        <p:nvSpPr>
          <p:cNvPr name="TextBox 45" id="45"/>
          <p:cNvSpPr txBox="true"/>
          <p:nvPr/>
        </p:nvSpPr>
        <p:spPr>
          <a:xfrm rot="0">
            <a:off x="11795760" y="4183380"/>
            <a:ext cx="5349240" cy="1645920"/>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Tanpa anotasi topik</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Variasi komponen input teks</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Beberapa random seed</a:t>
            </a:r>
          </a:p>
        </p:txBody>
      </p:sp>
      <p:grpSp>
        <p:nvGrpSpPr>
          <p:cNvPr name="Group 46" id="46"/>
          <p:cNvGrpSpPr/>
          <p:nvPr/>
        </p:nvGrpSpPr>
        <p:grpSpPr>
          <a:xfrm rot="0">
            <a:off x="11514296" y="6439376"/>
            <a:ext cx="5912168" cy="2757488"/>
            <a:chOff x="0" y="0"/>
            <a:chExt cx="7882890" cy="3676650"/>
          </a:xfrm>
        </p:grpSpPr>
        <p:sp>
          <p:nvSpPr>
            <p:cNvPr name="Freeform 47" id="47"/>
            <p:cNvSpPr/>
            <p:nvPr/>
          </p:nvSpPr>
          <p:spPr>
            <a:xfrm flipH="false" flipV="false" rot="0">
              <a:off x="0" y="0"/>
              <a:ext cx="7882890" cy="3676650"/>
            </a:xfrm>
            <a:custGeom>
              <a:avLst/>
              <a:gdLst/>
              <a:ahLst/>
              <a:cxnLst/>
              <a:rect r="r" b="b" t="t" l="l"/>
              <a:pathLst>
                <a:path h="3676650" w="7882890">
                  <a:moveTo>
                    <a:pt x="0" y="220599"/>
                  </a:moveTo>
                  <a:cubicBezTo>
                    <a:pt x="0" y="98806"/>
                    <a:pt x="98806" y="0"/>
                    <a:pt x="220599" y="0"/>
                  </a:cubicBezTo>
                  <a:lnTo>
                    <a:pt x="7662291" y="0"/>
                  </a:lnTo>
                  <a:cubicBezTo>
                    <a:pt x="7784085" y="0"/>
                    <a:pt x="7882890" y="98806"/>
                    <a:pt x="7882890" y="220599"/>
                  </a:cubicBezTo>
                  <a:lnTo>
                    <a:pt x="7882890" y="3456051"/>
                  </a:lnTo>
                  <a:cubicBezTo>
                    <a:pt x="7882890" y="3577844"/>
                    <a:pt x="7784085" y="3676650"/>
                    <a:pt x="7662291" y="3676650"/>
                  </a:cubicBezTo>
                  <a:lnTo>
                    <a:pt x="220599" y="3676650"/>
                  </a:lnTo>
                  <a:cubicBezTo>
                    <a:pt x="98806" y="3676650"/>
                    <a:pt x="0" y="3577844"/>
                    <a:pt x="0" y="3456051"/>
                  </a:cubicBezTo>
                  <a:close/>
                </a:path>
              </a:pathLst>
            </a:custGeom>
            <a:solidFill>
              <a:srgbClr val="FFFFFF"/>
            </a:solidFill>
            <a:ln w="14288" cap="sq">
              <a:solidFill>
                <a:srgbClr val="000000"/>
              </a:solidFill>
              <a:prstDash val="solid"/>
              <a:miter/>
            </a:ln>
          </p:spPr>
        </p:sp>
      </p:grpSp>
      <p:grpSp>
        <p:nvGrpSpPr>
          <p:cNvPr name="Group 48" id="48"/>
          <p:cNvGrpSpPr/>
          <p:nvPr/>
        </p:nvGrpSpPr>
        <p:grpSpPr>
          <a:xfrm rot="0">
            <a:off x="11514296" y="6439376"/>
            <a:ext cx="5912168" cy="453200"/>
            <a:chOff x="0" y="0"/>
            <a:chExt cx="7882890" cy="604266"/>
          </a:xfrm>
        </p:grpSpPr>
        <p:sp>
          <p:nvSpPr>
            <p:cNvPr name="Freeform 49" id="49"/>
            <p:cNvSpPr/>
            <p:nvPr/>
          </p:nvSpPr>
          <p:spPr>
            <a:xfrm flipH="false" flipV="false" rot="0">
              <a:off x="0" y="0"/>
              <a:ext cx="7882890" cy="604266"/>
            </a:xfrm>
            <a:custGeom>
              <a:avLst/>
              <a:gdLst/>
              <a:ahLst/>
              <a:cxnLst/>
              <a:rect r="r" b="b" t="t" l="l"/>
              <a:pathLst>
                <a:path h="604266" w="7882890">
                  <a:moveTo>
                    <a:pt x="0" y="226568"/>
                  </a:moveTo>
                  <a:cubicBezTo>
                    <a:pt x="0" y="101473"/>
                    <a:pt x="101473" y="0"/>
                    <a:pt x="226568" y="0"/>
                  </a:cubicBezTo>
                  <a:lnTo>
                    <a:pt x="7656322" y="0"/>
                  </a:lnTo>
                  <a:cubicBezTo>
                    <a:pt x="7781417" y="0"/>
                    <a:pt x="7882890" y="101473"/>
                    <a:pt x="7882890" y="226568"/>
                  </a:cubicBezTo>
                  <a:lnTo>
                    <a:pt x="7882890" y="377698"/>
                  </a:lnTo>
                  <a:cubicBezTo>
                    <a:pt x="7882890" y="502793"/>
                    <a:pt x="7781417" y="604266"/>
                    <a:pt x="7656322" y="604266"/>
                  </a:cubicBezTo>
                  <a:lnTo>
                    <a:pt x="226568" y="604266"/>
                  </a:lnTo>
                  <a:cubicBezTo>
                    <a:pt x="101473" y="604266"/>
                    <a:pt x="0" y="502793"/>
                    <a:pt x="0" y="377698"/>
                  </a:cubicBezTo>
                  <a:close/>
                </a:path>
              </a:pathLst>
            </a:custGeom>
            <a:solidFill>
              <a:srgbClr val="141221"/>
            </a:solidFill>
            <a:ln w="14288" cap="sq">
              <a:solidFill>
                <a:srgbClr val="000000"/>
              </a:solidFill>
              <a:prstDash val="solid"/>
              <a:miter/>
            </a:ln>
          </p:spPr>
        </p:sp>
      </p:grpSp>
      <p:grpSp>
        <p:nvGrpSpPr>
          <p:cNvPr name="Group 50" id="50"/>
          <p:cNvGrpSpPr/>
          <p:nvPr/>
        </p:nvGrpSpPr>
        <p:grpSpPr>
          <a:xfrm rot="0">
            <a:off x="11525631" y="6656451"/>
            <a:ext cx="5889498" cy="238506"/>
            <a:chOff x="0" y="0"/>
            <a:chExt cx="7852664" cy="318008"/>
          </a:xfrm>
        </p:grpSpPr>
        <p:sp>
          <p:nvSpPr>
            <p:cNvPr name="Freeform 51" id="51"/>
            <p:cNvSpPr/>
            <p:nvPr/>
          </p:nvSpPr>
          <p:spPr>
            <a:xfrm flipH="false" flipV="false" rot="0">
              <a:off x="0" y="0"/>
              <a:ext cx="7852664" cy="318008"/>
            </a:xfrm>
            <a:custGeom>
              <a:avLst/>
              <a:gdLst/>
              <a:ahLst/>
              <a:cxnLst/>
              <a:rect r="r" b="b" t="t" l="l"/>
              <a:pathLst>
                <a:path h="318008" w="7852664">
                  <a:moveTo>
                    <a:pt x="0" y="0"/>
                  </a:moveTo>
                  <a:lnTo>
                    <a:pt x="7852664" y="0"/>
                  </a:lnTo>
                  <a:lnTo>
                    <a:pt x="7852664" y="318008"/>
                  </a:lnTo>
                  <a:lnTo>
                    <a:pt x="0" y="318008"/>
                  </a:lnTo>
                  <a:close/>
                </a:path>
              </a:pathLst>
            </a:custGeom>
            <a:solidFill>
              <a:srgbClr val="141221"/>
            </a:solidFill>
            <a:ln w="19050" cap="sq">
              <a:solidFill>
                <a:srgbClr val="141221"/>
              </a:solidFill>
              <a:prstDash val="solid"/>
              <a:miter/>
            </a:ln>
          </p:spPr>
        </p:sp>
      </p:grpSp>
      <p:sp>
        <p:nvSpPr>
          <p:cNvPr name="AutoShape 52" id="52"/>
          <p:cNvSpPr/>
          <p:nvPr/>
        </p:nvSpPr>
        <p:spPr>
          <a:xfrm rot="8280">
            <a:off x="11514287" y="6880670"/>
            <a:ext cx="5912187" cy="0"/>
          </a:xfrm>
          <a:prstGeom prst="line">
            <a:avLst/>
          </a:prstGeom>
          <a:ln cap="rnd" w="9525">
            <a:solidFill>
              <a:srgbClr val="000000"/>
            </a:solidFill>
            <a:prstDash val="solid"/>
            <a:headEnd type="none" len="sm" w="sm"/>
            <a:tailEnd type="none" len="sm" w="sm"/>
          </a:ln>
        </p:spPr>
      </p:sp>
      <p:sp>
        <p:nvSpPr>
          <p:cNvPr name="TextBox 53" id="53"/>
          <p:cNvSpPr txBox="true"/>
          <p:nvPr/>
        </p:nvSpPr>
        <p:spPr>
          <a:xfrm rot="0">
            <a:off x="11795760" y="7063740"/>
            <a:ext cx="5349240" cy="411480"/>
          </a:xfrm>
          <a:prstGeom prst="rect">
            <a:avLst/>
          </a:prstGeom>
        </p:spPr>
        <p:txBody>
          <a:bodyPr anchor="t" rtlCol="false" tIns="0" lIns="0" bIns="0" rIns="0">
            <a:spAutoFit/>
          </a:bodyPr>
          <a:lstStyle/>
          <a:p>
            <a:pPr algn="l">
              <a:lnSpc>
                <a:spcPts val="2340"/>
              </a:lnSpc>
            </a:pPr>
            <a:r>
              <a:rPr lang="en-US" sz="1950" b="true">
                <a:solidFill>
                  <a:srgbClr val="141221"/>
                </a:solidFill>
                <a:latin typeface="Helvetica World Bold"/>
                <a:ea typeface="Helvetica World Bold"/>
                <a:cs typeface="Helvetica World Bold"/>
                <a:sym typeface="Helvetica World Bold"/>
              </a:rPr>
              <a:t>Rencana evaluasi</a:t>
            </a:r>
          </a:p>
        </p:txBody>
      </p:sp>
      <p:sp>
        <p:nvSpPr>
          <p:cNvPr name="TextBox 54" id="54"/>
          <p:cNvSpPr txBox="true"/>
          <p:nvPr/>
        </p:nvSpPr>
        <p:spPr>
          <a:xfrm rot="0">
            <a:off x="11795760" y="7612380"/>
            <a:ext cx="5349240" cy="1508760"/>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Macro-F1</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Analisis kesalahan</a:t>
            </a:r>
          </a:p>
          <a:p>
            <a:pPr algn="l" marL="352901" indent="-176451" lvl="1">
              <a:lnSpc>
                <a:spcPts val="2340"/>
              </a:lnSpc>
              <a:buFont typeface="Arial"/>
              <a:buChar char="•"/>
            </a:pPr>
            <a:r>
              <a:rPr lang="en-US" sz="1950">
                <a:solidFill>
                  <a:srgbClr val="000000"/>
                </a:solidFill>
                <a:latin typeface="Helvetica World"/>
                <a:ea typeface="Helvetica World"/>
                <a:cs typeface="Helvetica World"/>
                <a:sym typeface="Helvetica World"/>
              </a:rPr>
              <a:t>Kestabilan antar seed</a:t>
            </a:r>
          </a:p>
        </p:txBody>
      </p:sp>
      <p:sp>
        <p:nvSpPr>
          <p:cNvPr name="AutoShape 55" id="55"/>
          <p:cNvSpPr/>
          <p:nvPr/>
        </p:nvSpPr>
        <p:spPr>
          <a:xfrm flipV="true">
            <a:off x="4396169" y="5201996"/>
            <a:ext cx="598971" cy="421564"/>
          </a:xfrm>
          <a:prstGeom prst="line">
            <a:avLst/>
          </a:prstGeom>
          <a:ln cap="rnd" w="38100">
            <a:solidFill>
              <a:srgbClr val="F5582E"/>
            </a:solidFill>
            <a:prstDash val="solid"/>
            <a:headEnd type="none" len="sm" w="sm"/>
            <a:tailEnd type="triangle" len="med" w="lg"/>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DAHZeuCqri4</dc:identifier>
  <dcterms:modified xsi:type="dcterms:W3CDTF">2011-08-01T06:04:30Z</dcterms:modified>
  <cp:revision>1</cp:revision>
  <dc:title>INDOMEME_Checkpoint1_PitchDeck</dc:title>
</cp:coreProperties>
</file>